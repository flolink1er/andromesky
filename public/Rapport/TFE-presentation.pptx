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8288000" cy="10287000"/>
  <p:notesSz cx="6858000" cy="9144000"/>
  <p:embeddedFontLst>
    <p:embeddedFont>
      <p:font typeface="DM Sans" pitchFamily="2" charset="0"/>
      <p:regular r:id="rId14"/>
    </p:embeddedFont>
    <p:embeddedFont>
      <p:font typeface="DM Sans Bold" panose="020B0604020202020204" charset="0"/>
      <p:regular r:id="rId15"/>
    </p:embeddedFont>
    <p:embeddedFont>
      <p:font typeface="Sinar Grotesk Bold" panose="020B0604020202020204" charset="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103" d="100"/>
          <a:sy n="103" d="100"/>
        </p:scale>
        <p:origin x="534"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7979C8-9E29-4E10-9586-D2F410C38828}" type="datetimeFigureOut">
              <a:rPr lang="en-US" smtClean="0"/>
              <a:t>9/3/2026</a:t>
            </a:fld>
            <a:endParaRPr lang="en-US"/>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766790-E89B-407F-B32A-723790B532B2}" type="slidenum">
              <a:rPr lang="en-US" smtClean="0"/>
              <a:t>‹N°›</a:t>
            </a:fld>
            <a:endParaRPr lang="en-US"/>
          </a:p>
        </p:txBody>
      </p:sp>
    </p:spTree>
    <p:extLst>
      <p:ext uri="{BB962C8B-B14F-4D97-AF65-F5344CB8AC3E}">
        <p14:creationId xmlns:p14="http://schemas.microsoft.com/office/powerpoint/2010/main" val="20574870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BE" sz="1200" b="0" i="0" kern="1200" dirty="0">
                <a:solidFill>
                  <a:schemeClr val="tx1"/>
                </a:solidFill>
                <a:effectLst/>
                <a:latin typeface="+mn-lt"/>
                <a:ea typeface="+mn-ea"/>
                <a:cs typeface="+mn-cs"/>
              </a:rPr>
              <a:t>Bonjour, je suis Florian Marchal et je vais vous présenter AndromeSky, mon travail de fin d’études en développement web </a:t>
            </a:r>
            <a:r>
              <a:rPr lang="fr-BE" sz="1200" b="0" i="0" kern="1200" dirty="0" err="1">
                <a:solidFill>
                  <a:schemeClr val="tx1"/>
                </a:solidFill>
                <a:effectLst/>
                <a:latin typeface="+mn-lt"/>
                <a:ea typeface="+mn-ea"/>
                <a:cs typeface="+mn-cs"/>
              </a:rPr>
              <a:t>front-end</a:t>
            </a:r>
            <a:r>
              <a:rPr lang="fr-BE" sz="1200" b="0" i="0" kern="1200" dirty="0">
                <a:solidFill>
                  <a:schemeClr val="tx1"/>
                </a:solidFill>
                <a:effectLst/>
                <a:latin typeface="+mn-lt"/>
                <a:ea typeface="+mn-ea"/>
                <a:cs typeface="+mn-cs"/>
              </a:rPr>
              <a:t>.</a:t>
            </a:r>
          </a:p>
          <a:p>
            <a:endParaRPr lang="fr-BE" sz="1200" b="0" i="0" kern="1200" dirty="0">
              <a:solidFill>
                <a:schemeClr val="tx1"/>
              </a:solidFill>
              <a:effectLst/>
              <a:latin typeface="+mn-lt"/>
              <a:ea typeface="+mn-ea"/>
              <a:cs typeface="+mn-cs"/>
            </a:endParaRPr>
          </a:p>
          <a:p>
            <a:r>
              <a:rPr lang="fr-BE" sz="1200" b="0" i="0" kern="1200" dirty="0">
                <a:solidFill>
                  <a:schemeClr val="tx1"/>
                </a:solidFill>
                <a:effectLst/>
                <a:latin typeface="+mn-lt"/>
                <a:ea typeface="+mn-ea"/>
                <a:cs typeface="+mn-cs"/>
              </a:rPr>
              <a:t>AndromeSky est une application web qui combine une carte du ciel interactive, des informations contextualisées sur les objets astronomiques et deux modes de quiz. L’idée n’est pas de simplifier artificiellement l’astronomie, qui reste un domaine technique, mais de proposer une expérience plus visuelle et progressive : on explore le ciel, on comprend ce que l’on observe, puis on met ses repères en pratique.</a:t>
            </a:r>
          </a:p>
          <a:p>
            <a:endParaRPr lang="fr-BE" sz="1200" b="0" i="0" kern="1200" dirty="0">
              <a:solidFill>
                <a:schemeClr val="tx1"/>
              </a:solidFill>
              <a:effectLst/>
              <a:latin typeface="+mn-lt"/>
              <a:ea typeface="+mn-ea"/>
              <a:cs typeface="+mn-cs"/>
            </a:endParaRPr>
          </a:p>
          <a:p>
            <a:r>
              <a:rPr lang="fr-BE" sz="1200" b="0" i="0" kern="1200" dirty="0">
                <a:solidFill>
                  <a:schemeClr val="tx1"/>
                </a:solidFill>
                <a:effectLst/>
                <a:latin typeface="+mn-lt"/>
                <a:ea typeface="+mn-ea"/>
                <a:cs typeface="+mn-cs"/>
              </a:rPr>
              <a:t>Je vais commencer par l’origine du projet, ensuite présenter le produit et ses choix techniques, puis revenir sur les difficultés rencontrées, les perspectives d’évolution et une courte démonstration.</a:t>
            </a:r>
          </a:p>
          <a:p>
            <a:endParaRPr lang="en-US" dirty="0"/>
          </a:p>
        </p:txBody>
      </p:sp>
      <p:sp>
        <p:nvSpPr>
          <p:cNvPr id="4" name="Espace réservé du numéro de diapositive 3"/>
          <p:cNvSpPr>
            <a:spLocks noGrp="1"/>
          </p:cNvSpPr>
          <p:nvPr>
            <p:ph type="sldNum" sz="quarter" idx="5"/>
          </p:nvPr>
        </p:nvSpPr>
        <p:spPr/>
        <p:txBody>
          <a:bodyPr/>
          <a:lstStyle/>
          <a:p>
            <a:fld id="{8C766790-E89B-407F-B32A-723790B532B2}" type="slidenum">
              <a:rPr lang="en-US" smtClean="0"/>
              <a:t>1</a:t>
            </a:fld>
            <a:endParaRPr lang="en-US"/>
          </a:p>
        </p:txBody>
      </p:sp>
    </p:spTree>
    <p:extLst>
      <p:ext uri="{BB962C8B-B14F-4D97-AF65-F5344CB8AC3E}">
        <p14:creationId xmlns:p14="http://schemas.microsoft.com/office/powerpoint/2010/main" val="7407343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BE" sz="1200" b="0" i="0" kern="1200" dirty="0">
                <a:solidFill>
                  <a:schemeClr val="tx1"/>
                </a:solidFill>
                <a:effectLst/>
                <a:latin typeface="+mn-lt"/>
                <a:ea typeface="+mn-ea"/>
                <a:cs typeface="+mn-cs"/>
              </a:rPr>
              <a:t>Ce projet est né du croisement de deux centres d’intérêt personnels : l’astronomie et le développement d’interfaces interactives.</a:t>
            </a:r>
          </a:p>
          <a:p>
            <a:endParaRPr lang="fr-BE" sz="1200" b="0" i="0" kern="1200" dirty="0">
              <a:solidFill>
                <a:schemeClr val="tx1"/>
              </a:solidFill>
              <a:effectLst/>
              <a:latin typeface="+mn-lt"/>
              <a:ea typeface="+mn-ea"/>
              <a:cs typeface="+mn-cs"/>
            </a:endParaRPr>
          </a:p>
          <a:p>
            <a:r>
              <a:rPr lang="fr-BE" sz="1200" b="0" i="0" kern="1200" dirty="0">
                <a:solidFill>
                  <a:schemeClr val="tx1"/>
                </a:solidFill>
                <a:effectLst/>
                <a:latin typeface="+mn-lt"/>
                <a:ea typeface="+mn-ea"/>
                <a:cs typeface="+mn-cs"/>
              </a:rPr>
              <a:t>J’ai constaté que beaucoup d’outils de cartographie astronomique sont très riches, mais présentent énormément d’informations en même temps. Ce n’est pas une critique de leur qualité scientifique : ils répondent à des besoins avancés. En revanche, cela laissait une opportunité de travailler une interface plus lisible, orientée vers la découverte.</a:t>
            </a:r>
          </a:p>
          <a:p>
            <a:r>
              <a:rPr lang="fr-BE" sz="1200" b="0" i="0" kern="1200" dirty="0">
                <a:solidFill>
                  <a:schemeClr val="tx1"/>
                </a:solidFill>
                <a:effectLst/>
                <a:latin typeface="+mn-lt"/>
                <a:ea typeface="+mn-ea"/>
                <a:cs typeface="+mn-cs"/>
              </a:rPr>
              <a:t>L’objectif était donc de créer un produit où l’astronomie fournit le contenu et où le développement </a:t>
            </a:r>
            <a:r>
              <a:rPr lang="fr-BE" sz="1200" b="0" i="0" kern="1200" dirty="0" err="1">
                <a:solidFill>
                  <a:schemeClr val="tx1"/>
                </a:solidFill>
                <a:effectLst/>
                <a:latin typeface="+mn-lt"/>
                <a:ea typeface="+mn-ea"/>
                <a:cs typeface="+mn-cs"/>
              </a:rPr>
              <a:t>front-end</a:t>
            </a:r>
            <a:r>
              <a:rPr lang="fr-BE" sz="1200" b="0" i="0" kern="1200" dirty="0">
                <a:solidFill>
                  <a:schemeClr val="tx1"/>
                </a:solidFill>
                <a:effectLst/>
                <a:latin typeface="+mn-lt"/>
                <a:ea typeface="+mn-ea"/>
                <a:cs typeface="+mn-cs"/>
              </a:rPr>
              <a:t> apporte une expérience fluide : navigation, recherche, interactions visuelles et apprentissage par le quiz.</a:t>
            </a:r>
          </a:p>
          <a:p>
            <a:endParaRPr lang="en-US" dirty="0"/>
          </a:p>
        </p:txBody>
      </p:sp>
      <p:sp>
        <p:nvSpPr>
          <p:cNvPr id="4" name="Espace réservé du numéro de diapositive 3"/>
          <p:cNvSpPr>
            <a:spLocks noGrp="1"/>
          </p:cNvSpPr>
          <p:nvPr>
            <p:ph type="sldNum" sz="quarter" idx="5"/>
          </p:nvPr>
        </p:nvSpPr>
        <p:spPr/>
        <p:txBody>
          <a:bodyPr/>
          <a:lstStyle/>
          <a:p>
            <a:fld id="{8C766790-E89B-407F-B32A-723790B532B2}" type="slidenum">
              <a:rPr lang="en-US" smtClean="0"/>
              <a:t>2</a:t>
            </a:fld>
            <a:endParaRPr lang="en-US"/>
          </a:p>
        </p:txBody>
      </p:sp>
    </p:spTree>
    <p:extLst>
      <p:ext uri="{BB962C8B-B14F-4D97-AF65-F5344CB8AC3E}">
        <p14:creationId xmlns:p14="http://schemas.microsoft.com/office/powerpoint/2010/main" val="41103983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BE" sz="1200" b="0" i="0" kern="1200" dirty="0">
                <a:solidFill>
                  <a:schemeClr val="tx1"/>
                </a:solidFill>
                <a:effectLst/>
                <a:latin typeface="+mn-lt"/>
                <a:ea typeface="+mn-ea"/>
                <a:cs typeface="+mn-cs"/>
              </a:rPr>
              <a:t>Trois objectifs ont guidé mes choix.</a:t>
            </a:r>
          </a:p>
          <a:p>
            <a:endParaRPr lang="fr-BE" sz="1200" b="0" i="0" kern="1200" dirty="0">
              <a:solidFill>
                <a:schemeClr val="tx1"/>
              </a:solidFill>
              <a:effectLst/>
              <a:latin typeface="+mn-lt"/>
              <a:ea typeface="+mn-ea"/>
              <a:cs typeface="+mn-cs"/>
            </a:endParaRPr>
          </a:p>
          <a:p>
            <a:r>
              <a:rPr lang="fr-BE" sz="1200" b="0" i="0" kern="1200" dirty="0">
                <a:solidFill>
                  <a:schemeClr val="tx1"/>
                </a:solidFill>
                <a:effectLst/>
                <a:latin typeface="+mn-lt"/>
                <a:ea typeface="+mn-ea"/>
                <a:cs typeface="+mn-cs"/>
              </a:rPr>
              <a:t>Le premier est de visualiser : l’utilisateur doit pouvoir manipuler une vraie carte du ciel, se déplacer, zoomer et rechercher un objet.</a:t>
            </a:r>
          </a:p>
          <a:p>
            <a:r>
              <a:rPr lang="fr-BE" sz="1200" b="0" i="0" kern="1200" dirty="0">
                <a:solidFill>
                  <a:schemeClr val="tx1"/>
                </a:solidFill>
                <a:effectLst/>
                <a:latin typeface="+mn-lt"/>
                <a:ea typeface="+mn-ea"/>
                <a:cs typeface="+mn-cs"/>
              </a:rPr>
              <a:t>Le deuxième est d’expliquer : un clic sur un objet doit donner du contexte grâce aux données du catalogue, à Wikipédia et, lorsque c’est pertinent, à une image NASA.</a:t>
            </a:r>
          </a:p>
          <a:p>
            <a:r>
              <a:rPr lang="fr-BE" sz="1200" b="0" i="0" kern="1200" dirty="0">
                <a:solidFill>
                  <a:schemeClr val="tx1"/>
                </a:solidFill>
                <a:effectLst/>
                <a:latin typeface="+mn-lt"/>
                <a:ea typeface="+mn-ea"/>
                <a:cs typeface="+mn-cs"/>
              </a:rPr>
              <a:t>Enfin, le troisième est d’apprendre : les quiz permettent de passer d’une exploration passive à une mise en pratique. Cette boucle — découvrir, comprendre, se tester — m’a servi de critère de priorisation pendant tout le projet.</a:t>
            </a:r>
          </a:p>
          <a:p>
            <a:endParaRPr lang="en-US" dirty="0"/>
          </a:p>
        </p:txBody>
      </p:sp>
      <p:sp>
        <p:nvSpPr>
          <p:cNvPr id="4" name="Espace réservé du numéro de diapositive 3"/>
          <p:cNvSpPr>
            <a:spLocks noGrp="1"/>
          </p:cNvSpPr>
          <p:nvPr>
            <p:ph type="sldNum" sz="quarter" idx="5"/>
          </p:nvPr>
        </p:nvSpPr>
        <p:spPr/>
        <p:txBody>
          <a:bodyPr/>
          <a:lstStyle/>
          <a:p>
            <a:fld id="{8C766790-E89B-407F-B32A-723790B532B2}" type="slidenum">
              <a:rPr lang="en-US" smtClean="0"/>
              <a:t>3</a:t>
            </a:fld>
            <a:endParaRPr lang="en-US"/>
          </a:p>
        </p:txBody>
      </p:sp>
    </p:spTree>
    <p:extLst>
      <p:ext uri="{BB962C8B-B14F-4D97-AF65-F5344CB8AC3E}">
        <p14:creationId xmlns:p14="http://schemas.microsoft.com/office/powerpoint/2010/main" val="21332494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BE" sz="1200" b="0" i="0" kern="1200" dirty="0">
                <a:solidFill>
                  <a:schemeClr val="tx1"/>
                </a:solidFill>
                <a:effectLst/>
                <a:latin typeface="+mn-lt"/>
                <a:ea typeface="+mn-ea"/>
                <a:cs typeface="+mn-cs"/>
              </a:rPr>
              <a:t>Voici l’interface principale. La carte est au centre de l’expérience. Elle peut être déplacée et zoomée, ce qui donne une véritable sensation d’exploration plutôt qu’une simple consultation de fiches.</a:t>
            </a:r>
          </a:p>
          <a:p>
            <a:endParaRPr lang="fr-BE" sz="1200" b="0" i="0" kern="1200" dirty="0">
              <a:solidFill>
                <a:schemeClr val="tx1"/>
              </a:solidFill>
              <a:effectLst/>
              <a:latin typeface="+mn-lt"/>
              <a:ea typeface="+mn-ea"/>
              <a:cs typeface="+mn-cs"/>
            </a:endParaRPr>
          </a:p>
          <a:p>
            <a:r>
              <a:rPr lang="fr-BE" sz="1200" b="0" i="0" kern="1200" dirty="0">
                <a:solidFill>
                  <a:schemeClr val="tx1"/>
                </a:solidFill>
                <a:effectLst/>
                <a:latin typeface="+mn-lt"/>
                <a:ea typeface="+mn-ea"/>
                <a:cs typeface="+mn-cs"/>
              </a:rPr>
              <a:t>La recherche permet de centrer la carte sur un objet précis. Le panneau d’information donne ensuite accès à sa description, à son type et aux ressources associées. </a:t>
            </a:r>
          </a:p>
          <a:p>
            <a:r>
              <a:rPr lang="fr-BE" sz="1200" b="0" i="0" kern="1200" dirty="0">
                <a:solidFill>
                  <a:schemeClr val="tx1"/>
                </a:solidFill>
                <a:effectLst/>
                <a:latin typeface="+mn-lt"/>
                <a:ea typeface="+mn-ea"/>
                <a:cs typeface="+mn-cs"/>
              </a:rPr>
              <a:t>Lorsqu’un objet est lié à une constellation, son tracé peut être affiché : cela permet de donner un repère visuel plutôt que de laisser une information isolée.</a:t>
            </a:r>
          </a:p>
          <a:p>
            <a:r>
              <a:rPr lang="fr-BE" sz="1200" b="0" i="0" kern="1200" dirty="0">
                <a:solidFill>
                  <a:schemeClr val="tx1"/>
                </a:solidFill>
                <a:effectLst/>
                <a:latin typeface="+mn-lt"/>
                <a:ea typeface="+mn-ea"/>
                <a:cs typeface="+mn-cs"/>
              </a:rPr>
              <a:t>Une attention particulière a aussi été portée à la responsivité : les panneaux, la navigation et les interactions ont été adaptés aux petits écrans, sans enlever la </a:t>
            </a:r>
            <a:r>
              <a:rPr lang="fr-BE" sz="1200" b="0" i="0" kern="1200" dirty="0" err="1">
                <a:solidFill>
                  <a:schemeClr val="tx1"/>
                </a:solidFill>
                <a:effectLst/>
                <a:latin typeface="+mn-lt"/>
                <a:ea typeface="+mn-ea"/>
                <a:cs typeface="+mn-cs"/>
              </a:rPr>
              <a:t>SkyMap</a:t>
            </a:r>
            <a:r>
              <a:rPr lang="fr-BE" sz="1200" b="0" i="0" kern="1200" dirty="0">
                <a:solidFill>
                  <a:schemeClr val="tx1"/>
                </a:solidFill>
                <a:effectLst/>
                <a:latin typeface="+mn-lt"/>
                <a:ea typeface="+mn-ea"/>
                <a:cs typeface="+mn-cs"/>
              </a:rPr>
              <a:t> de la vue pendant le quiz.</a:t>
            </a:r>
          </a:p>
          <a:p>
            <a:endParaRPr lang="en-US" dirty="0"/>
          </a:p>
        </p:txBody>
      </p:sp>
      <p:sp>
        <p:nvSpPr>
          <p:cNvPr id="4" name="Espace réservé du numéro de diapositive 3"/>
          <p:cNvSpPr>
            <a:spLocks noGrp="1"/>
          </p:cNvSpPr>
          <p:nvPr>
            <p:ph type="sldNum" sz="quarter" idx="5"/>
          </p:nvPr>
        </p:nvSpPr>
        <p:spPr/>
        <p:txBody>
          <a:bodyPr/>
          <a:lstStyle/>
          <a:p>
            <a:fld id="{8C766790-E89B-407F-B32A-723790B532B2}" type="slidenum">
              <a:rPr lang="en-US" smtClean="0"/>
              <a:t>4</a:t>
            </a:fld>
            <a:endParaRPr lang="en-US"/>
          </a:p>
        </p:txBody>
      </p:sp>
    </p:spTree>
    <p:extLst>
      <p:ext uri="{BB962C8B-B14F-4D97-AF65-F5344CB8AC3E}">
        <p14:creationId xmlns:p14="http://schemas.microsoft.com/office/powerpoint/2010/main" val="20488960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BE" sz="1200" b="0" i="0" kern="1200" dirty="0">
                <a:solidFill>
                  <a:schemeClr val="tx1"/>
                </a:solidFill>
                <a:effectLst/>
                <a:latin typeface="+mn-lt"/>
                <a:ea typeface="+mn-ea"/>
                <a:cs typeface="+mn-cs"/>
              </a:rPr>
              <a:t>L’application repose sur une séparation entre données locales et sources externes.</a:t>
            </a:r>
          </a:p>
          <a:p>
            <a:endParaRPr lang="fr-BE" sz="1200" b="0" i="0" kern="1200" dirty="0">
              <a:solidFill>
                <a:schemeClr val="tx1"/>
              </a:solidFill>
              <a:effectLst/>
              <a:latin typeface="+mn-lt"/>
              <a:ea typeface="+mn-ea"/>
              <a:cs typeface="+mn-cs"/>
            </a:endParaRPr>
          </a:p>
          <a:p>
            <a:r>
              <a:rPr lang="fr-BE" sz="1200" b="0" i="0" kern="1200" dirty="0">
                <a:solidFill>
                  <a:schemeClr val="tx1"/>
                </a:solidFill>
                <a:effectLst/>
                <a:latin typeface="+mn-lt"/>
                <a:ea typeface="+mn-ea"/>
                <a:cs typeface="+mn-cs"/>
              </a:rPr>
              <a:t>Les données locales sont stockées dans des fichiers JSON. Elles contiennent les coordonnées, les types, les alias et les constellations. C’est important car la navigation sur la carte ne dépend pas d’un appel externe à chaque interaction.</a:t>
            </a:r>
          </a:p>
          <a:p>
            <a:endParaRPr lang="fr-BE" sz="1200" b="0" i="0" kern="1200" dirty="0">
              <a:solidFill>
                <a:schemeClr val="tx1"/>
              </a:solidFill>
              <a:effectLst/>
              <a:latin typeface="+mn-lt"/>
              <a:ea typeface="+mn-ea"/>
              <a:cs typeface="+mn-cs"/>
            </a:endParaRPr>
          </a:p>
          <a:p>
            <a:r>
              <a:rPr lang="fr-BE" sz="1200" b="0" i="0" kern="1200" dirty="0">
                <a:solidFill>
                  <a:schemeClr val="tx1"/>
                </a:solidFill>
                <a:effectLst/>
                <a:latin typeface="+mn-lt"/>
                <a:ea typeface="+mn-ea"/>
                <a:cs typeface="+mn-cs"/>
              </a:rPr>
              <a:t>Les APIs enrichissent ensuite l’expérience. Wikipédia sert à obtenir un résumé ; la NASA Image Library peut fournir une illustration. </a:t>
            </a:r>
          </a:p>
          <a:p>
            <a:r>
              <a:rPr lang="fr-BE" sz="1200" b="0" i="0" kern="1200" dirty="0">
                <a:solidFill>
                  <a:schemeClr val="tx1"/>
                </a:solidFill>
                <a:effectLst/>
                <a:latin typeface="+mn-lt"/>
                <a:ea typeface="+mn-ea"/>
                <a:cs typeface="+mn-cs"/>
              </a:rPr>
              <a:t>La difficulté est qu’un nom astronomique peut être ambigu. Pour y répondre, la recherche tente plusieurs alias et classe les résultats selon leur pertinence.</a:t>
            </a:r>
          </a:p>
          <a:p>
            <a:r>
              <a:rPr lang="fr-BE" sz="1200" b="0" i="0" kern="1200" dirty="0">
                <a:solidFill>
                  <a:schemeClr val="tx1"/>
                </a:solidFill>
                <a:effectLst/>
                <a:latin typeface="+mn-lt"/>
                <a:ea typeface="+mn-ea"/>
                <a:cs typeface="+mn-cs"/>
              </a:rPr>
              <a:t>Le catalogue a été enrichi, notamment avec les 110 objets de Messier. Malgré cela, j’assume une limite : certains objets restent identifiés par une désignation de catalogue, comme M41 ou HR, lorsqu’aucun nom usuel pertinent n’est disponible.</a:t>
            </a:r>
          </a:p>
          <a:p>
            <a:endParaRPr lang="en-US" dirty="0"/>
          </a:p>
        </p:txBody>
      </p:sp>
      <p:sp>
        <p:nvSpPr>
          <p:cNvPr id="4" name="Espace réservé du numéro de diapositive 3"/>
          <p:cNvSpPr>
            <a:spLocks noGrp="1"/>
          </p:cNvSpPr>
          <p:nvPr>
            <p:ph type="sldNum" sz="quarter" idx="5"/>
          </p:nvPr>
        </p:nvSpPr>
        <p:spPr/>
        <p:txBody>
          <a:bodyPr/>
          <a:lstStyle/>
          <a:p>
            <a:fld id="{8C766790-E89B-407F-B32A-723790B532B2}" type="slidenum">
              <a:rPr lang="en-US" smtClean="0"/>
              <a:t>5</a:t>
            </a:fld>
            <a:endParaRPr lang="en-US"/>
          </a:p>
        </p:txBody>
      </p:sp>
    </p:spTree>
    <p:extLst>
      <p:ext uri="{BB962C8B-B14F-4D97-AF65-F5344CB8AC3E}">
        <p14:creationId xmlns:p14="http://schemas.microsoft.com/office/powerpoint/2010/main" val="425351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BE" sz="1200" b="0" i="0" kern="1200" dirty="0">
                <a:solidFill>
                  <a:schemeClr val="tx1"/>
                </a:solidFill>
                <a:effectLst/>
                <a:latin typeface="+mn-lt"/>
                <a:ea typeface="+mn-ea"/>
                <a:cs typeface="+mn-cs"/>
              </a:rPr>
              <a:t>Techniquement, j’ai choisi Angular et </a:t>
            </a:r>
            <a:r>
              <a:rPr lang="fr-BE" sz="1200" b="0" i="0" kern="1200" dirty="0" err="1">
                <a:solidFill>
                  <a:schemeClr val="tx1"/>
                </a:solidFill>
                <a:effectLst/>
                <a:latin typeface="+mn-lt"/>
                <a:ea typeface="+mn-ea"/>
                <a:cs typeface="+mn-cs"/>
              </a:rPr>
              <a:t>TypeScript</a:t>
            </a:r>
            <a:r>
              <a:rPr lang="fr-BE" sz="1200" b="0" i="0" kern="1200" dirty="0">
                <a:solidFill>
                  <a:schemeClr val="tx1"/>
                </a:solidFill>
                <a:effectLst/>
                <a:latin typeface="+mn-lt"/>
                <a:ea typeface="+mn-ea"/>
                <a:cs typeface="+mn-cs"/>
              </a:rPr>
              <a:t> pour construire une SPA structurée.</a:t>
            </a:r>
          </a:p>
          <a:p>
            <a:r>
              <a:rPr lang="fr-BE" sz="1200" b="0" i="0" kern="1200" dirty="0">
                <a:solidFill>
                  <a:schemeClr val="tx1"/>
                </a:solidFill>
                <a:effectLst/>
                <a:latin typeface="+mn-lt"/>
                <a:ea typeface="+mn-ea"/>
                <a:cs typeface="+mn-cs"/>
              </a:rPr>
              <a:t>Les composants gèrent l’affichage : la </a:t>
            </a:r>
            <a:r>
              <a:rPr lang="fr-BE" sz="1200" b="0" i="0" kern="1200" dirty="0" err="1">
                <a:solidFill>
                  <a:schemeClr val="tx1"/>
                </a:solidFill>
                <a:effectLst/>
                <a:latin typeface="+mn-lt"/>
                <a:ea typeface="+mn-ea"/>
                <a:cs typeface="+mn-cs"/>
              </a:rPr>
              <a:t>SkyMap</a:t>
            </a:r>
            <a:r>
              <a:rPr lang="fr-BE" sz="1200" b="0" i="0" kern="1200" dirty="0">
                <a:solidFill>
                  <a:schemeClr val="tx1"/>
                </a:solidFill>
                <a:effectLst/>
                <a:latin typeface="+mn-lt"/>
                <a:ea typeface="+mn-ea"/>
                <a:cs typeface="+mn-cs"/>
              </a:rPr>
              <a:t>, le panneau d’information, la navigation et les écrans de quiz. </a:t>
            </a:r>
          </a:p>
          <a:p>
            <a:r>
              <a:rPr lang="fr-BE" sz="1200" b="0" i="0" kern="1200" dirty="0">
                <a:solidFill>
                  <a:schemeClr val="tx1"/>
                </a:solidFill>
                <a:effectLst/>
                <a:latin typeface="+mn-lt"/>
                <a:ea typeface="+mn-ea"/>
                <a:cs typeface="+mn-cs"/>
              </a:rPr>
              <a:t>Les services centralisent la logique métier : chargement des catalogues, sélection d’objets, calcul du score, historique local et appels aux APIs. </a:t>
            </a:r>
          </a:p>
          <a:p>
            <a:r>
              <a:rPr lang="fr-BE" sz="1200" b="0" i="0" kern="1200" dirty="0">
                <a:solidFill>
                  <a:schemeClr val="tx1"/>
                </a:solidFill>
                <a:effectLst/>
                <a:latin typeface="+mn-lt"/>
                <a:ea typeface="+mn-ea"/>
                <a:cs typeface="+mn-cs"/>
              </a:rPr>
              <a:t>Enfin, les modèles </a:t>
            </a:r>
            <a:r>
              <a:rPr lang="fr-BE" sz="1200" b="0" i="0" kern="1200" dirty="0" err="1">
                <a:solidFill>
                  <a:schemeClr val="tx1"/>
                </a:solidFill>
                <a:effectLst/>
                <a:latin typeface="+mn-lt"/>
                <a:ea typeface="+mn-ea"/>
                <a:cs typeface="+mn-cs"/>
              </a:rPr>
              <a:t>TypeScript</a:t>
            </a:r>
            <a:r>
              <a:rPr lang="fr-BE" sz="1200" b="0" i="0" kern="1200" dirty="0">
                <a:solidFill>
                  <a:schemeClr val="tx1"/>
                </a:solidFill>
                <a:effectLst/>
                <a:latin typeface="+mn-lt"/>
                <a:ea typeface="+mn-ea"/>
                <a:cs typeface="+mn-cs"/>
              </a:rPr>
              <a:t> donnent un cadre stable aux objets manipulés.</a:t>
            </a:r>
          </a:p>
          <a:p>
            <a:r>
              <a:rPr lang="fr-BE" sz="1200" b="0" i="0" kern="1200" dirty="0">
                <a:solidFill>
                  <a:schemeClr val="tx1"/>
                </a:solidFill>
                <a:effectLst/>
                <a:latin typeface="+mn-lt"/>
                <a:ea typeface="+mn-ea"/>
                <a:cs typeface="+mn-cs"/>
              </a:rPr>
              <a:t>Pour l’affichage astronomique, j’utilise Aladin Lite. Réimplémenter un moteur de cartographie aurait été hors périmètre et peu pertinent dans le temps d’un TFE. L’enjeu était donc de bien intégrer cet outil, de le rendre fiable et de construire une expérience cohérente autour de lui.</a:t>
            </a:r>
          </a:p>
          <a:p>
            <a:endParaRPr lang="en-US" dirty="0"/>
          </a:p>
        </p:txBody>
      </p:sp>
      <p:sp>
        <p:nvSpPr>
          <p:cNvPr id="4" name="Espace réservé du numéro de diapositive 3"/>
          <p:cNvSpPr>
            <a:spLocks noGrp="1"/>
          </p:cNvSpPr>
          <p:nvPr>
            <p:ph type="sldNum" sz="quarter" idx="5"/>
          </p:nvPr>
        </p:nvSpPr>
        <p:spPr/>
        <p:txBody>
          <a:bodyPr/>
          <a:lstStyle/>
          <a:p>
            <a:fld id="{8C766790-E89B-407F-B32A-723790B532B2}" type="slidenum">
              <a:rPr lang="en-US" smtClean="0"/>
              <a:t>6</a:t>
            </a:fld>
            <a:endParaRPr lang="en-US"/>
          </a:p>
        </p:txBody>
      </p:sp>
    </p:spTree>
    <p:extLst>
      <p:ext uri="{BB962C8B-B14F-4D97-AF65-F5344CB8AC3E}">
        <p14:creationId xmlns:p14="http://schemas.microsoft.com/office/powerpoint/2010/main" val="4475175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BE" sz="1200" b="0" i="0" kern="1200" dirty="0">
                <a:solidFill>
                  <a:schemeClr val="tx1"/>
                </a:solidFill>
                <a:effectLst/>
                <a:latin typeface="+mn-lt"/>
                <a:ea typeface="+mn-ea"/>
                <a:cs typeface="+mn-cs"/>
              </a:rPr>
              <a:t>Le quiz est la fonctionnalité qui transforme l’exploration en apprentissage actif.</a:t>
            </a:r>
          </a:p>
          <a:p>
            <a:endParaRPr lang="fr-BE" sz="1200" b="0" i="0" kern="1200" dirty="0">
              <a:solidFill>
                <a:schemeClr val="tx1"/>
              </a:solidFill>
              <a:effectLst/>
              <a:latin typeface="+mn-lt"/>
              <a:ea typeface="+mn-ea"/>
              <a:cs typeface="+mn-cs"/>
            </a:endParaRPr>
          </a:p>
          <a:p>
            <a:r>
              <a:rPr lang="fr-BE" sz="1200" b="0" i="0" kern="1200" dirty="0">
                <a:solidFill>
                  <a:schemeClr val="tx1"/>
                </a:solidFill>
                <a:effectLst/>
                <a:latin typeface="+mn-lt"/>
                <a:ea typeface="+mn-ea"/>
                <a:cs typeface="+mn-cs"/>
              </a:rPr>
              <a:t>Dans le premier mode, l’utilisateur doit deviner le nom de l’objet affiché parmi plusieurs propositions. Un indice retire une proposition, mais réduit les points potentiels de moitié.</a:t>
            </a:r>
          </a:p>
          <a:p>
            <a:r>
              <a:rPr lang="fr-BE" sz="1200" b="0" i="0" kern="1200" dirty="0">
                <a:solidFill>
                  <a:schemeClr val="tx1"/>
                </a:solidFill>
                <a:effectLst/>
                <a:latin typeface="+mn-lt"/>
                <a:ea typeface="+mn-ea"/>
                <a:cs typeface="+mn-cs"/>
              </a:rPr>
              <a:t>Dans le mode de localisation, l’utilisateur doit repérer un objet sur la carte. Après validation, il obtient un retour visuel avec la bonne position, la distance entre son choix et la réponse attendue, ainsi qu’un score adapté. L’indice affiche une zone approximative plutôt que la réponse exacte.</a:t>
            </a:r>
          </a:p>
          <a:p>
            <a:r>
              <a:rPr lang="fr-BE" sz="1200" b="0" i="0" kern="1200" dirty="0">
                <a:solidFill>
                  <a:schemeClr val="tx1"/>
                </a:solidFill>
                <a:effectLst/>
                <a:latin typeface="+mn-lt"/>
                <a:ea typeface="+mn-ea"/>
                <a:cs typeface="+mn-cs"/>
              </a:rPr>
              <a:t>Les scores et l’historique sont conservés dans le navigateur grâce au </a:t>
            </a:r>
            <a:r>
              <a:rPr lang="fr-BE" sz="1200" b="0" i="0" kern="1200" dirty="0" err="1">
                <a:solidFill>
                  <a:schemeClr val="tx1"/>
                </a:solidFill>
                <a:effectLst/>
                <a:latin typeface="+mn-lt"/>
                <a:ea typeface="+mn-ea"/>
                <a:cs typeface="+mn-cs"/>
              </a:rPr>
              <a:t>localStorage</a:t>
            </a:r>
            <a:r>
              <a:rPr lang="fr-BE" sz="1200" b="0" i="0" kern="1200" dirty="0">
                <a:solidFill>
                  <a:schemeClr val="tx1"/>
                </a:solidFill>
                <a:effectLst/>
                <a:latin typeface="+mn-lt"/>
                <a:ea typeface="+mn-ea"/>
                <a:cs typeface="+mn-cs"/>
              </a:rPr>
              <a:t>. C’est un choix adapté au MVP : il ne nécessite ni compte ni serveur, tout en donnant un premier suivi de progression.</a:t>
            </a:r>
          </a:p>
          <a:p>
            <a:endParaRPr lang="en-US" dirty="0"/>
          </a:p>
        </p:txBody>
      </p:sp>
      <p:sp>
        <p:nvSpPr>
          <p:cNvPr id="4" name="Espace réservé du numéro de diapositive 3"/>
          <p:cNvSpPr>
            <a:spLocks noGrp="1"/>
          </p:cNvSpPr>
          <p:nvPr>
            <p:ph type="sldNum" sz="quarter" idx="5"/>
          </p:nvPr>
        </p:nvSpPr>
        <p:spPr/>
        <p:txBody>
          <a:bodyPr/>
          <a:lstStyle/>
          <a:p>
            <a:fld id="{8C766790-E89B-407F-B32A-723790B532B2}" type="slidenum">
              <a:rPr lang="en-US" smtClean="0"/>
              <a:t>7</a:t>
            </a:fld>
            <a:endParaRPr lang="en-US"/>
          </a:p>
        </p:txBody>
      </p:sp>
    </p:spTree>
    <p:extLst>
      <p:ext uri="{BB962C8B-B14F-4D97-AF65-F5344CB8AC3E}">
        <p14:creationId xmlns:p14="http://schemas.microsoft.com/office/powerpoint/2010/main" val="3622867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BE" sz="1200" b="0" i="0" kern="1200" dirty="0">
                <a:solidFill>
                  <a:schemeClr val="tx1"/>
                </a:solidFill>
                <a:effectLst/>
                <a:latin typeface="+mn-lt"/>
                <a:ea typeface="+mn-ea"/>
                <a:cs typeface="+mn-cs"/>
              </a:rPr>
              <a:t>J’ai travaillé de façon progressive, en sécurisant les éléments risqués avant d’enrichir l’application.</a:t>
            </a:r>
          </a:p>
          <a:p>
            <a:r>
              <a:rPr lang="fr-BE" sz="1200" b="0" i="0" kern="1200" dirty="0">
                <a:solidFill>
                  <a:schemeClr val="tx1"/>
                </a:solidFill>
                <a:effectLst/>
                <a:latin typeface="+mn-lt"/>
                <a:ea typeface="+mn-ea"/>
                <a:cs typeface="+mn-cs"/>
              </a:rPr>
              <a:t>La première étape a été un proof of concept d’Aladin Lite : affichage, zoom, navigation, coordonnées et centrage. Cela a permis de valider la faisabilité de la carte avant d’ajouter les fonctionnalités métier.</a:t>
            </a:r>
          </a:p>
          <a:p>
            <a:r>
              <a:rPr lang="fr-BE" sz="1200" b="0" i="0" kern="1200" dirty="0">
                <a:solidFill>
                  <a:schemeClr val="tx1"/>
                </a:solidFill>
                <a:effectLst/>
                <a:latin typeface="+mn-lt"/>
                <a:ea typeface="+mn-ea"/>
                <a:cs typeface="+mn-cs"/>
              </a:rPr>
              <a:t>La deuxième difficulté concerne les données externes, notamment Wikipédia. Une requête directe ne renvoie pas toujours l’objet astronomique attendu. J’ai donc amélioré la recherche en utilisant des alias, des catégories et un score de pertinence.</a:t>
            </a:r>
          </a:p>
          <a:p>
            <a:r>
              <a:rPr lang="fr-BE" sz="1200" b="0" i="0" kern="1200" dirty="0">
                <a:solidFill>
                  <a:schemeClr val="tx1"/>
                </a:solidFill>
                <a:effectLst/>
                <a:latin typeface="+mn-lt"/>
                <a:ea typeface="+mn-ea"/>
                <a:cs typeface="+mn-cs"/>
              </a:rPr>
              <a:t>Enfin, la responsivité et l’interaction tactile ont demandé des ajustements importants : il fallait éviter les clics involontaires sur la carte pendant un déplacement, garder les commandes accessibles, et empêcher que des panneaux recouvrent les éléments essentiels.</a:t>
            </a:r>
          </a:p>
          <a:p>
            <a:r>
              <a:rPr lang="fr-BE" sz="1200" b="0" i="0" kern="1200" dirty="0">
                <a:solidFill>
                  <a:schemeClr val="tx1"/>
                </a:solidFill>
                <a:effectLst/>
                <a:latin typeface="+mn-lt"/>
                <a:ea typeface="+mn-ea"/>
                <a:cs typeface="+mn-cs"/>
              </a:rPr>
              <a:t>Le vocabulaire technique constitue également une limite du domaine. C’est un point que je ne masque pas : une future évolution pourrait mieux distinguer les noms usuels, les identifiants de catalogue et leur rôle pédagogique.</a:t>
            </a:r>
          </a:p>
          <a:p>
            <a:endParaRPr lang="en-US" dirty="0"/>
          </a:p>
        </p:txBody>
      </p:sp>
      <p:sp>
        <p:nvSpPr>
          <p:cNvPr id="4" name="Espace réservé du numéro de diapositive 3"/>
          <p:cNvSpPr>
            <a:spLocks noGrp="1"/>
          </p:cNvSpPr>
          <p:nvPr>
            <p:ph type="sldNum" sz="quarter" idx="5"/>
          </p:nvPr>
        </p:nvSpPr>
        <p:spPr/>
        <p:txBody>
          <a:bodyPr/>
          <a:lstStyle/>
          <a:p>
            <a:fld id="{8C766790-E89B-407F-B32A-723790B532B2}" type="slidenum">
              <a:rPr lang="en-US" smtClean="0"/>
              <a:t>8</a:t>
            </a:fld>
            <a:endParaRPr lang="en-US"/>
          </a:p>
        </p:txBody>
      </p:sp>
    </p:spTree>
    <p:extLst>
      <p:ext uri="{BB962C8B-B14F-4D97-AF65-F5344CB8AC3E}">
        <p14:creationId xmlns:p14="http://schemas.microsoft.com/office/powerpoint/2010/main" val="27464046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BE" sz="1200" b="0" i="0" kern="1200" dirty="0">
                <a:solidFill>
                  <a:schemeClr val="tx1"/>
                </a:solidFill>
                <a:effectLst/>
                <a:latin typeface="+mn-lt"/>
                <a:ea typeface="+mn-ea"/>
                <a:cs typeface="+mn-cs"/>
              </a:rPr>
              <a:t>Je vais maintenant montrer un parcours court, qui résume la logique du produit.</a:t>
            </a:r>
          </a:p>
          <a:p>
            <a:r>
              <a:rPr lang="fr-BE" sz="1200" b="0" i="0" kern="1200" dirty="0">
                <a:solidFill>
                  <a:schemeClr val="tx1"/>
                </a:solidFill>
                <a:effectLst/>
                <a:latin typeface="+mn-lt"/>
                <a:ea typeface="+mn-ea"/>
                <a:cs typeface="+mn-cs"/>
              </a:rPr>
              <a:t>Je recherche d’abord M42, la nébuleuse d’Orion. La carte se centre sur l’objet et le panneau fournit les informations associées. Je peux ensuite afficher la constellation correspondante pour replacer l’objet dans son contexte visuel.</a:t>
            </a:r>
          </a:p>
          <a:p>
            <a:r>
              <a:rPr lang="fr-BE" sz="1200" b="0" i="0" kern="1200" dirty="0">
                <a:solidFill>
                  <a:schemeClr val="tx1"/>
                </a:solidFill>
                <a:effectLst/>
                <a:latin typeface="+mn-lt"/>
                <a:ea typeface="+mn-ea"/>
                <a:cs typeface="+mn-cs"/>
              </a:rPr>
              <a:t>Puis je lance un quiz. Je montre rapidement le principe de l’indice et du score. L’objectif n’est pas de montrer toutes les options, mais de prouver la boucle complète : trouver, comprendre, puis se tester.</a:t>
            </a:r>
          </a:p>
          <a:p>
            <a:r>
              <a:rPr lang="fr-BE" sz="1200" b="0" i="0" kern="1200" dirty="0">
                <a:solidFill>
                  <a:schemeClr val="tx1"/>
                </a:solidFill>
                <a:effectLst/>
                <a:latin typeface="+mn-lt"/>
                <a:ea typeface="+mn-ea"/>
                <a:cs typeface="+mn-cs"/>
              </a:rPr>
              <a:t>Je prépare cet objet à l’avance afin que la démonstration reste fluide et qu’elle serve mon propos plutôt que de devenir une recherche au hasard.</a:t>
            </a:r>
          </a:p>
          <a:p>
            <a:endParaRPr lang="en-US" dirty="0"/>
          </a:p>
        </p:txBody>
      </p:sp>
      <p:sp>
        <p:nvSpPr>
          <p:cNvPr id="4" name="Espace réservé du numéro de diapositive 3"/>
          <p:cNvSpPr>
            <a:spLocks noGrp="1"/>
          </p:cNvSpPr>
          <p:nvPr>
            <p:ph type="sldNum" sz="quarter" idx="5"/>
          </p:nvPr>
        </p:nvSpPr>
        <p:spPr/>
        <p:txBody>
          <a:bodyPr/>
          <a:lstStyle/>
          <a:p>
            <a:fld id="{8C766790-E89B-407F-B32A-723790B532B2}" type="slidenum">
              <a:rPr lang="en-US" smtClean="0"/>
              <a:t>9</a:t>
            </a:fld>
            <a:endParaRPr lang="en-US"/>
          </a:p>
        </p:txBody>
      </p:sp>
    </p:spTree>
    <p:extLst>
      <p:ext uri="{BB962C8B-B14F-4D97-AF65-F5344CB8AC3E}">
        <p14:creationId xmlns:p14="http://schemas.microsoft.com/office/powerpoint/2010/main" val="34493204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BE" sz="1200" b="0" i="0" kern="1200" dirty="0">
                <a:solidFill>
                  <a:schemeClr val="tx1"/>
                </a:solidFill>
                <a:effectLst/>
                <a:latin typeface="+mn-lt"/>
                <a:ea typeface="+mn-ea"/>
                <a:cs typeface="+mn-cs"/>
              </a:rPr>
              <a:t>Le projet est conçu comme un MVP, donc il ouvre naturellement plusieurs pistes d’évolution.</a:t>
            </a:r>
          </a:p>
          <a:p>
            <a:r>
              <a:rPr lang="fr-BE" sz="1200" b="0" i="0" kern="1200" dirty="0">
                <a:solidFill>
                  <a:schemeClr val="tx1"/>
                </a:solidFill>
                <a:effectLst/>
                <a:latin typeface="+mn-lt"/>
                <a:ea typeface="+mn-ea"/>
                <a:cs typeface="+mn-cs"/>
              </a:rPr>
              <a:t>La première serait l’ajout de comptes utilisateurs, afin de conserver une progression entre appareils et de proposer un classement. Cela demanderait un backend, une authentification et une réflexion sur la protection des données.</a:t>
            </a:r>
          </a:p>
          <a:p>
            <a:r>
              <a:rPr lang="fr-BE" sz="1200" b="0" i="0" kern="1200" dirty="0">
                <a:solidFill>
                  <a:schemeClr val="tx1"/>
                </a:solidFill>
                <a:effectLst/>
                <a:latin typeface="+mn-lt"/>
                <a:ea typeface="+mn-ea"/>
                <a:cs typeface="+mn-cs"/>
              </a:rPr>
              <a:t>Ensuite, le catalogue pourrait s’enrichir avec NGC, Caldwell, les planètes et davantage de noms usuels. Des filtres par type d’objet ou par constellation rendraient la découverte plus ciblée.</a:t>
            </a:r>
          </a:p>
          <a:p>
            <a:r>
              <a:rPr lang="fr-BE" sz="1200" b="0" i="0" kern="1200" dirty="0">
                <a:solidFill>
                  <a:schemeClr val="tx1"/>
                </a:solidFill>
                <a:effectLst/>
                <a:latin typeface="+mn-lt"/>
                <a:ea typeface="+mn-ea"/>
                <a:cs typeface="+mn-cs"/>
              </a:rPr>
              <a:t>Un mode temps réel pourrait également indiquer ce qui est visible à un moment donné depuis un lieu choisi.</a:t>
            </a:r>
          </a:p>
          <a:p>
            <a:r>
              <a:rPr lang="fr-BE" sz="1200" b="0" i="0" kern="1200" dirty="0">
                <a:solidFill>
                  <a:schemeClr val="tx1"/>
                </a:solidFill>
                <a:effectLst/>
                <a:latin typeface="+mn-lt"/>
                <a:ea typeface="+mn-ea"/>
                <a:cs typeface="+mn-cs"/>
              </a:rPr>
              <a:t>Enfin, le télescope Nancy Grace Roman a été lancé le 30 août 2026. Ses futurs relevés à grand champ pourront constituer une source intéressante à surveiller. Ce n’est pas une promesse d’intégration immédiate : il faudrait d’abord vérifier la disponibilité publique, le format des données et leur pertinence pour l’application.</a:t>
            </a:r>
          </a:p>
          <a:p>
            <a:endParaRPr lang="en-US" dirty="0"/>
          </a:p>
        </p:txBody>
      </p:sp>
      <p:sp>
        <p:nvSpPr>
          <p:cNvPr id="4" name="Espace réservé du numéro de diapositive 3"/>
          <p:cNvSpPr>
            <a:spLocks noGrp="1"/>
          </p:cNvSpPr>
          <p:nvPr>
            <p:ph type="sldNum" sz="quarter" idx="5"/>
          </p:nvPr>
        </p:nvSpPr>
        <p:spPr/>
        <p:txBody>
          <a:bodyPr/>
          <a:lstStyle/>
          <a:p>
            <a:fld id="{8C766790-E89B-407F-B32A-723790B532B2}" type="slidenum">
              <a:rPr lang="en-US" smtClean="0"/>
              <a:t>10</a:t>
            </a:fld>
            <a:endParaRPr lang="en-US"/>
          </a:p>
        </p:txBody>
      </p:sp>
    </p:spTree>
    <p:extLst>
      <p:ext uri="{BB962C8B-B14F-4D97-AF65-F5344CB8AC3E}">
        <p14:creationId xmlns:p14="http://schemas.microsoft.com/office/powerpoint/2010/main" val="213036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BE" sz="1200" b="0" i="0" kern="1200" dirty="0">
                <a:solidFill>
                  <a:schemeClr val="tx1"/>
                </a:solidFill>
                <a:effectLst/>
                <a:latin typeface="+mn-lt"/>
                <a:ea typeface="+mn-ea"/>
                <a:cs typeface="+mn-cs"/>
              </a:rPr>
              <a:t>Pour conclure, AndromeSky répond à l’objectif initial : proposer une exploration plus visuelle du ciel, avec une carte interactive, des contenus enrichis et une mise en pratique par le quiz.</a:t>
            </a:r>
          </a:p>
          <a:p>
            <a:r>
              <a:rPr lang="fr-BE" sz="1200" b="0" i="0" kern="1200" dirty="0">
                <a:solidFill>
                  <a:schemeClr val="tx1"/>
                </a:solidFill>
                <a:effectLst/>
                <a:latin typeface="+mn-lt"/>
                <a:ea typeface="+mn-ea"/>
                <a:cs typeface="+mn-cs"/>
              </a:rPr>
              <a:t>Le résultat est un MVP fonctionnel, déployé en ligne, dont l’architecture est suffisamment structurée pour évoluer. Le projet m’a permis de travailler des compétences </a:t>
            </a:r>
            <a:r>
              <a:rPr lang="fr-BE" sz="1200" b="0" i="0" kern="1200" dirty="0" err="1">
                <a:solidFill>
                  <a:schemeClr val="tx1"/>
                </a:solidFill>
                <a:effectLst/>
                <a:latin typeface="+mn-lt"/>
                <a:ea typeface="+mn-ea"/>
                <a:cs typeface="+mn-cs"/>
              </a:rPr>
              <a:t>front-end</a:t>
            </a:r>
            <a:r>
              <a:rPr lang="fr-BE" sz="1200" b="0" i="0" kern="1200" dirty="0">
                <a:solidFill>
                  <a:schemeClr val="tx1"/>
                </a:solidFill>
                <a:effectLst/>
                <a:latin typeface="+mn-lt"/>
                <a:ea typeface="+mn-ea"/>
                <a:cs typeface="+mn-cs"/>
              </a:rPr>
              <a:t> concrètes : Angular, </a:t>
            </a:r>
            <a:r>
              <a:rPr lang="fr-BE" sz="1200" b="0" i="0" kern="1200" dirty="0" err="1">
                <a:solidFill>
                  <a:schemeClr val="tx1"/>
                </a:solidFill>
                <a:effectLst/>
                <a:latin typeface="+mn-lt"/>
                <a:ea typeface="+mn-ea"/>
                <a:cs typeface="+mn-cs"/>
              </a:rPr>
              <a:t>TypeScript</a:t>
            </a:r>
            <a:r>
              <a:rPr lang="fr-BE" sz="1200" b="0" i="0" kern="1200" dirty="0">
                <a:solidFill>
                  <a:schemeClr val="tx1"/>
                </a:solidFill>
                <a:effectLst/>
                <a:latin typeface="+mn-lt"/>
                <a:ea typeface="+mn-ea"/>
                <a:cs typeface="+mn-cs"/>
              </a:rPr>
              <a:t>, intégration d’une bibliothèque spécialisée, gestion de données locales et externes, responsivité et expérience utilisateur.</a:t>
            </a:r>
          </a:p>
          <a:p>
            <a:r>
              <a:rPr lang="fr-BE" sz="1200" b="0" i="0" kern="1200" dirty="0">
                <a:solidFill>
                  <a:schemeClr val="tx1"/>
                </a:solidFill>
                <a:effectLst/>
                <a:latin typeface="+mn-lt"/>
                <a:ea typeface="+mn-ea"/>
                <a:cs typeface="+mn-cs"/>
              </a:rPr>
              <a:t>Il présente aussi des limites identifiées, notamment la richesse inégale des noms usuels et la dépendance à des ressources externes. Les reconnaître me semble essentiel : elles donnent une direction claire aux prochaines améliorations.</a:t>
            </a:r>
          </a:p>
          <a:p>
            <a:r>
              <a:rPr lang="fr-BE" sz="1200" b="0" i="0" kern="1200" dirty="0">
                <a:solidFill>
                  <a:schemeClr val="tx1"/>
                </a:solidFill>
                <a:effectLst/>
                <a:latin typeface="+mn-lt"/>
                <a:ea typeface="+mn-ea"/>
                <a:cs typeface="+mn-cs"/>
              </a:rPr>
              <a:t>Merci pour votre attention. Je suis prêt à répondre à vos questions.</a:t>
            </a:r>
          </a:p>
          <a:p>
            <a:endParaRPr lang="en-US" dirty="0"/>
          </a:p>
        </p:txBody>
      </p:sp>
      <p:sp>
        <p:nvSpPr>
          <p:cNvPr id="4" name="Espace réservé du numéro de diapositive 3"/>
          <p:cNvSpPr>
            <a:spLocks noGrp="1"/>
          </p:cNvSpPr>
          <p:nvPr>
            <p:ph type="sldNum" sz="quarter" idx="5"/>
          </p:nvPr>
        </p:nvSpPr>
        <p:spPr/>
        <p:txBody>
          <a:bodyPr/>
          <a:lstStyle/>
          <a:p>
            <a:fld id="{8C766790-E89B-407F-B32A-723790B532B2}" type="slidenum">
              <a:rPr lang="en-US" smtClean="0"/>
              <a:t>11</a:t>
            </a:fld>
            <a:endParaRPr lang="en-US"/>
          </a:p>
        </p:txBody>
      </p:sp>
    </p:spTree>
    <p:extLst>
      <p:ext uri="{BB962C8B-B14F-4D97-AF65-F5344CB8AC3E}">
        <p14:creationId xmlns:p14="http://schemas.microsoft.com/office/powerpoint/2010/main" val="13537906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hyperlink" Target="https://flolink1er.github.io/andromesky/"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62F"/>
        </a:solidFill>
        <a:effectLst/>
      </p:bgPr>
    </p:bg>
    <p:spTree>
      <p:nvGrpSpPr>
        <p:cNvPr id="1" name=""/>
        <p:cNvGrpSpPr/>
        <p:nvPr/>
      </p:nvGrpSpPr>
      <p:grpSpPr>
        <a:xfrm>
          <a:off x="0" y="0"/>
          <a:ext cx="0" cy="0"/>
          <a:chOff x="0" y="0"/>
          <a:chExt cx="0" cy="0"/>
        </a:xfrm>
      </p:grpSpPr>
      <p:sp>
        <p:nvSpPr>
          <p:cNvPr id="2" name="Freeform 2"/>
          <p:cNvSpPr/>
          <p:nvPr/>
        </p:nvSpPr>
        <p:spPr>
          <a:xfrm>
            <a:off x="8572500" y="0"/>
            <a:ext cx="9715500" cy="10287000"/>
          </a:xfrm>
          <a:custGeom>
            <a:avLst/>
            <a:gdLst/>
            <a:ahLst/>
            <a:cxnLst/>
            <a:rect l="l" t="t" r="r" b="b"/>
            <a:pathLst>
              <a:path w="9715500" h="10287000">
                <a:moveTo>
                  <a:pt x="0" y="0"/>
                </a:moveTo>
                <a:lnTo>
                  <a:pt x="9715500" y="0"/>
                </a:lnTo>
                <a:lnTo>
                  <a:pt x="9715500" y="10287000"/>
                </a:lnTo>
                <a:lnTo>
                  <a:pt x="0" y="10287000"/>
                </a:lnTo>
                <a:lnTo>
                  <a:pt x="0" y="0"/>
                </a:lnTo>
                <a:close/>
              </a:path>
            </a:pathLst>
          </a:custGeom>
          <a:blipFill>
            <a:blip r:embed="rId3"/>
            <a:stretch>
              <a:fillRect l="-44117" r="-44117"/>
            </a:stretch>
          </a:blipFill>
          <a:ln cap="sq">
            <a:noFill/>
            <a:prstDash val="solid"/>
            <a:miter/>
          </a:ln>
        </p:spPr>
        <p:txBody>
          <a:bodyPr/>
          <a:lstStyle/>
          <a:p>
            <a:endParaRPr lang="fr-BE" noProof="0" dirty="0"/>
          </a:p>
        </p:txBody>
      </p:sp>
      <p:grpSp>
        <p:nvGrpSpPr>
          <p:cNvPr id="3" name="Group 3"/>
          <p:cNvGrpSpPr/>
          <p:nvPr/>
        </p:nvGrpSpPr>
        <p:grpSpPr>
          <a:xfrm>
            <a:off x="7810500" y="0"/>
            <a:ext cx="4000500" cy="10287000"/>
            <a:chOff x="0" y="0"/>
            <a:chExt cx="5334000" cy="13716000"/>
          </a:xfrm>
        </p:grpSpPr>
        <p:sp>
          <p:nvSpPr>
            <p:cNvPr id="4" name="Freeform 4"/>
            <p:cNvSpPr/>
            <p:nvPr/>
          </p:nvSpPr>
          <p:spPr>
            <a:xfrm>
              <a:off x="0" y="0"/>
              <a:ext cx="5334000" cy="13716000"/>
            </a:xfrm>
            <a:custGeom>
              <a:avLst/>
              <a:gdLst/>
              <a:ahLst/>
              <a:cxnLst/>
              <a:rect l="l" t="t" r="r" b="b"/>
              <a:pathLst>
                <a:path w="5334000" h="13716000">
                  <a:moveTo>
                    <a:pt x="0" y="0"/>
                  </a:moveTo>
                  <a:lnTo>
                    <a:pt x="5334000" y="0"/>
                  </a:lnTo>
                  <a:lnTo>
                    <a:pt x="5334000" y="13716000"/>
                  </a:lnTo>
                  <a:lnTo>
                    <a:pt x="0" y="13716000"/>
                  </a:lnTo>
                  <a:close/>
                </a:path>
              </a:pathLst>
            </a:custGeom>
            <a:solidFill>
              <a:srgbClr val="07162F">
                <a:alpha val="71765"/>
              </a:srgbClr>
            </a:solidFill>
            <a:ln cap="sq">
              <a:noFill/>
              <a:prstDash val="solid"/>
              <a:miter/>
            </a:ln>
          </p:spPr>
          <p:txBody>
            <a:bodyPr/>
            <a:lstStyle/>
            <a:p>
              <a:endParaRPr lang="fr-BE" noProof="0" dirty="0"/>
            </a:p>
          </p:txBody>
        </p:sp>
        <p:sp>
          <p:nvSpPr>
            <p:cNvPr id="5" name="TextBox 5"/>
            <p:cNvSpPr txBox="1"/>
            <p:nvPr/>
          </p:nvSpPr>
          <p:spPr>
            <a:xfrm>
              <a:off x="0" y="-38100"/>
              <a:ext cx="5334000" cy="13754100"/>
            </a:xfrm>
            <a:prstGeom prst="rect">
              <a:avLst/>
            </a:prstGeom>
          </p:spPr>
          <p:txBody>
            <a:bodyPr lIns="50800" tIns="50800" rIns="50800" bIns="50800" rtlCol="0" anchor="ctr"/>
            <a:lstStyle/>
            <a:p>
              <a:pPr algn="l">
                <a:lnSpc>
                  <a:spcPts val="1679"/>
                </a:lnSpc>
              </a:pPr>
              <a:endParaRPr lang="fr-BE" noProof="0" dirty="0"/>
            </a:p>
          </p:txBody>
        </p:sp>
      </p:grpSp>
      <p:sp>
        <p:nvSpPr>
          <p:cNvPr id="6" name="TextBox 6"/>
          <p:cNvSpPr txBox="1"/>
          <p:nvPr/>
        </p:nvSpPr>
        <p:spPr>
          <a:xfrm>
            <a:off x="1047750" y="971550"/>
            <a:ext cx="5715000" cy="294055"/>
          </a:xfrm>
          <a:prstGeom prst="rect">
            <a:avLst/>
          </a:prstGeom>
        </p:spPr>
        <p:txBody>
          <a:bodyPr lIns="0" tIns="0" rIns="0" bIns="0" rtlCol="0" anchor="t">
            <a:spAutoFit/>
          </a:bodyPr>
          <a:lstStyle/>
          <a:p>
            <a:pPr algn="l">
              <a:lnSpc>
                <a:spcPts val="2415"/>
              </a:lnSpc>
            </a:pPr>
            <a:r>
              <a:rPr lang="fr-BE" sz="1725" b="1" spc="138" noProof="0" dirty="0">
                <a:solidFill>
                  <a:srgbClr val="8ED8F8"/>
                </a:solidFill>
                <a:latin typeface="DM Sans Bold"/>
                <a:ea typeface="DM Sans Bold"/>
                <a:cs typeface="DM Sans Bold"/>
                <a:sym typeface="DM Sans Bold"/>
              </a:rPr>
              <a:t>Défense du 03 septembre 2026</a:t>
            </a:r>
          </a:p>
        </p:txBody>
      </p:sp>
      <p:sp>
        <p:nvSpPr>
          <p:cNvPr id="7" name="TextBox 7"/>
          <p:cNvSpPr txBox="1"/>
          <p:nvPr/>
        </p:nvSpPr>
        <p:spPr>
          <a:xfrm>
            <a:off x="1047750" y="2695575"/>
            <a:ext cx="8572500" cy="1434465"/>
          </a:xfrm>
          <a:prstGeom prst="rect">
            <a:avLst/>
          </a:prstGeom>
        </p:spPr>
        <p:txBody>
          <a:bodyPr lIns="0" tIns="0" rIns="0" bIns="0" rtlCol="0" anchor="t">
            <a:spAutoFit/>
          </a:bodyPr>
          <a:lstStyle/>
          <a:p>
            <a:pPr algn="l">
              <a:lnSpc>
                <a:spcPts val="11760"/>
              </a:lnSpc>
            </a:pPr>
            <a:r>
              <a:rPr lang="fr-BE" sz="8400" b="1" noProof="0" dirty="0">
                <a:solidFill>
                  <a:srgbClr val="FFFFFF"/>
                </a:solidFill>
                <a:latin typeface="Sinar Grotesk Bold"/>
                <a:ea typeface="Sinar Grotesk Bold"/>
                <a:cs typeface="Sinar Grotesk Bold"/>
                <a:sym typeface="Sinar Grotesk Bold"/>
              </a:rPr>
              <a:t>AndromeSky</a:t>
            </a:r>
          </a:p>
        </p:txBody>
      </p:sp>
      <p:sp>
        <p:nvSpPr>
          <p:cNvPr id="8" name="TextBox 8"/>
          <p:cNvSpPr txBox="1"/>
          <p:nvPr/>
        </p:nvSpPr>
        <p:spPr>
          <a:xfrm>
            <a:off x="1095375" y="4333875"/>
            <a:ext cx="7524750" cy="895826"/>
          </a:xfrm>
          <a:prstGeom prst="rect">
            <a:avLst/>
          </a:prstGeom>
        </p:spPr>
        <p:txBody>
          <a:bodyPr lIns="0" tIns="0" rIns="0" bIns="0" rtlCol="0" anchor="t">
            <a:spAutoFit/>
          </a:bodyPr>
          <a:lstStyle/>
          <a:p>
            <a:pPr algn="l">
              <a:lnSpc>
                <a:spcPts val="3656"/>
              </a:lnSpc>
            </a:pPr>
            <a:r>
              <a:rPr lang="fr-BE" sz="2925" noProof="0" dirty="0">
                <a:solidFill>
                  <a:srgbClr val="8ED8F8"/>
                </a:solidFill>
                <a:latin typeface="DM Sans"/>
                <a:ea typeface="DM Sans"/>
                <a:cs typeface="DM Sans"/>
                <a:sym typeface="DM Sans"/>
              </a:rPr>
              <a:t>Explorer le ciel, comprendre ses objets</a:t>
            </a:r>
          </a:p>
          <a:p>
            <a:pPr algn="l">
              <a:lnSpc>
                <a:spcPts val="3656"/>
              </a:lnSpc>
            </a:pPr>
            <a:r>
              <a:rPr lang="fr-BE" sz="2925" noProof="0" dirty="0">
                <a:solidFill>
                  <a:srgbClr val="8ED8F8"/>
                </a:solidFill>
                <a:latin typeface="DM Sans"/>
                <a:ea typeface="DM Sans"/>
                <a:cs typeface="DM Sans"/>
                <a:sym typeface="DM Sans"/>
              </a:rPr>
              <a:t>et apprendre en jouant.</a:t>
            </a:r>
          </a:p>
        </p:txBody>
      </p:sp>
      <p:sp>
        <p:nvSpPr>
          <p:cNvPr id="9" name="TextBox 9"/>
          <p:cNvSpPr txBox="1"/>
          <p:nvPr/>
        </p:nvSpPr>
        <p:spPr>
          <a:xfrm>
            <a:off x="1095375" y="6562725"/>
            <a:ext cx="6953250" cy="690562"/>
          </a:xfrm>
          <a:prstGeom prst="rect">
            <a:avLst/>
          </a:prstGeom>
        </p:spPr>
        <p:txBody>
          <a:bodyPr lIns="0" tIns="0" rIns="0" bIns="0" rtlCol="0" anchor="t">
            <a:spAutoFit/>
          </a:bodyPr>
          <a:lstStyle/>
          <a:p>
            <a:pPr algn="l">
              <a:lnSpc>
                <a:spcPts val="2812"/>
              </a:lnSpc>
            </a:pPr>
            <a:r>
              <a:rPr lang="fr-BE" sz="1875" noProof="0" dirty="0">
                <a:solidFill>
                  <a:srgbClr val="FFFFFF"/>
                </a:solidFill>
                <a:latin typeface="DM Sans"/>
                <a:ea typeface="DM Sans"/>
                <a:cs typeface="DM Sans"/>
                <a:sym typeface="DM Sans"/>
              </a:rPr>
              <a:t>Travail de fin d’études — Florian Marchal</a:t>
            </a:r>
          </a:p>
          <a:p>
            <a:pPr algn="l">
              <a:lnSpc>
                <a:spcPts val="2812"/>
              </a:lnSpc>
            </a:pPr>
            <a:r>
              <a:rPr lang="fr-BE" sz="1875" noProof="0" dirty="0">
                <a:solidFill>
                  <a:srgbClr val="FFFFFF"/>
                </a:solidFill>
                <a:latin typeface="DM Sans"/>
                <a:ea typeface="DM Sans"/>
                <a:cs typeface="DM Sans"/>
                <a:sym typeface="DM Sans"/>
              </a:rPr>
              <a:t>Développement Web </a:t>
            </a:r>
            <a:r>
              <a:rPr lang="fr-BE" sz="1875" noProof="0" dirty="0" err="1">
                <a:solidFill>
                  <a:srgbClr val="FFFFFF"/>
                </a:solidFill>
                <a:latin typeface="DM Sans"/>
                <a:ea typeface="DM Sans"/>
                <a:cs typeface="DM Sans"/>
                <a:sym typeface="DM Sans"/>
              </a:rPr>
              <a:t>Front-End</a:t>
            </a:r>
            <a:r>
              <a:rPr lang="fr-BE" sz="1875" noProof="0" dirty="0">
                <a:solidFill>
                  <a:srgbClr val="FFFFFF"/>
                </a:solidFill>
                <a:latin typeface="DM Sans"/>
                <a:ea typeface="DM Sans"/>
                <a:cs typeface="DM Sans"/>
                <a:sym typeface="DM Sans"/>
              </a:rPr>
              <a:t> — IFAPME</a:t>
            </a:r>
          </a:p>
        </p:txBody>
      </p:sp>
      <p:sp>
        <p:nvSpPr>
          <p:cNvPr id="10" name="TextBox 10"/>
          <p:cNvSpPr txBox="1"/>
          <p:nvPr/>
        </p:nvSpPr>
        <p:spPr>
          <a:xfrm>
            <a:off x="1047750" y="9696450"/>
            <a:ext cx="16192500" cy="222885"/>
          </a:xfrm>
          <a:prstGeom prst="rect">
            <a:avLst/>
          </a:prstGeom>
        </p:spPr>
        <p:txBody>
          <a:bodyPr lIns="0" tIns="0" rIns="0" bIns="0" rtlCol="0" anchor="t">
            <a:spAutoFit/>
          </a:bodyPr>
          <a:lstStyle/>
          <a:p>
            <a:pPr algn="l">
              <a:lnSpc>
                <a:spcPts val="1889"/>
              </a:lnSpc>
            </a:pPr>
            <a:r>
              <a:rPr lang="fr-BE" sz="1350" noProof="0" dirty="0">
                <a:solidFill>
                  <a:srgbClr val="8ED8F8"/>
                </a:solidFill>
                <a:latin typeface="DM Sans"/>
                <a:ea typeface="DM Sans"/>
                <a:cs typeface="DM Sans"/>
                <a:sym typeface="DM Sans"/>
              </a:rPr>
              <a:t>AndromeSky — TFE Développement Web </a:t>
            </a:r>
            <a:r>
              <a:rPr lang="fr-BE" sz="1350" noProof="0" dirty="0" err="1">
                <a:solidFill>
                  <a:srgbClr val="8ED8F8"/>
                </a:solidFill>
                <a:latin typeface="DM Sans"/>
                <a:ea typeface="DM Sans"/>
                <a:cs typeface="DM Sans"/>
                <a:sym typeface="DM Sans"/>
              </a:rPr>
              <a:t>Front-End</a:t>
            </a:r>
            <a:r>
              <a:rPr lang="fr-BE" sz="1350" noProof="0" dirty="0">
                <a:solidFill>
                  <a:srgbClr val="8ED8F8"/>
                </a:solidFill>
                <a:latin typeface="DM Sans"/>
                <a:ea typeface="DM Sans"/>
                <a:cs typeface="DM Sans"/>
                <a:sym typeface="DM Sans"/>
              </a:rPr>
              <a:t>                                      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47750" y="685800"/>
            <a:ext cx="15621000" cy="554736"/>
          </a:xfrm>
          <a:prstGeom prst="rect">
            <a:avLst/>
          </a:prstGeom>
        </p:spPr>
        <p:txBody>
          <a:bodyPr lIns="0" tIns="0" rIns="0" bIns="0" rtlCol="0" anchor="t">
            <a:spAutoFit/>
          </a:bodyPr>
          <a:lstStyle/>
          <a:p>
            <a:pPr algn="l">
              <a:lnSpc>
                <a:spcPts val="4212"/>
              </a:lnSpc>
            </a:pPr>
            <a:r>
              <a:rPr lang="fr-BE" sz="3900" b="1" noProof="0" dirty="0">
                <a:solidFill>
                  <a:srgbClr val="0B2447"/>
                </a:solidFill>
                <a:latin typeface="Sinar Grotesk Bold"/>
                <a:ea typeface="Sinar Grotesk Bold"/>
                <a:cs typeface="Sinar Grotesk Bold"/>
                <a:sym typeface="Sinar Grotesk Bold"/>
              </a:rPr>
              <a:t>Un sujet à la croisée de mes </a:t>
            </a:r>
            <a:r>
              <a:rPr lang="fr-BE" sz="3900" b="1" dirty="0">
                <a:solidFill>
                  <a:srgbClr val="0B2447"/>
                </a:solidFill>
                <a:latin typeface="Sinar Grotesk Bold"/>
                <a:ea typeface="Sinar Grotesk Bold"/>
                <a:cs typeface="Sinar Grotesk Bold"/>
                <a:sym typeface="Sinar Grotesk Bold"/>
              </a:rPr>
              <a:t>passions</a:t>
            </a:r>
            <a:endParaRPr lang="fr-BE" sz="3900" b="1" noProof="0" dirty="0">
              <a:solidFill>
                <a:srgbClr val="0B2447"/>
              </a:solidFill>
              <a:latin typeface="Sinar Grotesk Bold"/>
              <a:ea typeface="Sinar Grotesk Bold"/>
              <a:cs typeface="Sinar Grotesk Bold"/>
              <a:sym typeface="Sinar Grotesk Bold"/>
            </a:endParaRPr>
          </a:p>
        </p:txBody>
      </p:sp>
      <p:grpSp>
        <p:nvGrpSpPr>
          <p:cNvPr id="3" name="Group 3"/>
          <p:cNvGrpSpPr/>
          <p:nvPr/>
        </p:nvGrpSpPr>
        <p:grpSpPr>
          <a:xfrm>
            <a:off x="1047750" y="1428750"/>
            <a:ext cx="1123950" cy="47625"/>
            <a:chOff x="0" y="0"/>
            <a:chExt cx="1498600" cy="63500"/>
          </a:xfrm>
        </p:grpSpPr>
        <p:sp>
          <p:nvSpPr>
            <p:cNvPr id="4" name="Freeform 4"/>
            <p:cNvSpPr/>
            <p:nvPr/>
          </p:nvSpPr>
          <p:spPr>
            <a:xfrm>
              <a:off x="0" y="0"/>
              <a:ext cx="1498600" cy="63500"/>
            </a:xfrm>
            <a:custGeom>
              <a:avLst/>
              <a:gdLst/>
              <a:ahLst/>
              <a:cxnLst/>
              <a:rect l="l" t="t" r="r" b="b"/>
              <a:pathLst>
                <a:path w="1498600" h="63500">
                  <a:moveTo>
                    <a:pt x="0" y="0"/>
                  </a:moveTo>
                  <a:lnTo>
                    <a:pt x="1498600" y="0"/>
                  </a:lnTo>
                  <a:lnTo>
                    <a:pt x="1498600" y="63500"/>
                  </a:lnTo>
                  <a:lnTo>
                    <a:pt x="0" y="63500"/>
                  </a:lnTo>
                  <a:close/>
                </a:path>
              </a:pathLst>
            </a:custGeom>
            <a:solidFill>
              <a:srgbClr val="2979D8"/>
            </a:solidFill>
            <a:ln cap="sq">
              <a:noFill/>
              <a:prstDash val="solid"/>
              <a:miter/>
            </a:ln>
          </p:spPr>
          <p:txBody>
            <a:bodyPr/>
            <a:lstStyle/>
            <a:p>
              <a:endParaRPr lang="fr-BE" noProof="0" dirty="0"/>
            </a:p>
          </p:txBody>
        </p:sp>
        <p:sp>
          <p:nvSpPr>
            <p:cNvPr id="5" name="TextBox 5"/>
            <p:cNvSpPr txBox="1"/>
            <p:nvPr/>
          </p:nvSpPr>
          <p:spPr>
            <a:xfrm>
              <a:off x="0" y="-38100"/>
              <a:ext cx="1498600" cy="101600"/>
            </a:xfrm>
            <a:prstGeom prst="rect">
              <a:avLst/>
            </a:prstGeom>
          </p:spPr>
          <p:txBody>
            <a:bodyPr lIns="50800" tIns="50800" rIns="50800" bIns="50800" rtlCol="0" anchor="ctr"/>
            <a:lstStyle/>
            <a:p>
              <a:pPr algn="l">
                <a:lnSpc>
                  <a:spcPts val="1679"/>
                </a:lnSpc>
              </a:pPr>
              <a:endParaRPr lang="fr-BE" noProof="0" dirty="0"/>
            </a:p>
          </p:txBody>
        </p:sp>
      </p:grpSp>
      <p:grpSp>
        <p:nvGrpSpPr>
          <p:cNvPr id="6" name="Group 6"/>
          <p:cNvGrpSpPr/>
          <p:nvPr/>
        </p:nvGrpSpPr>
        <p:grpSpPr>
          <a:xfrm>
            <a:off x="4516676" y="2013299"/>
            <a:ext cx="5369842" cy="4512469"/>
            <a:chOff x="0" y="-47625"/>
            <a:chExt cx="7159789" cy="6016625"/>
          </a:xfrm>
        </p:grpSpPr>
        <p:sp>
          <p:nvSpPr>
            <p:cNvPr id="7" name="Freeform 7"/>
            <p:cNvSpPr/>
            <p:nvPr/>
          </p:nvSpPr>
          <p:spPr>
            <a:xfrm>
              <a:off x="0" y="0"/>
              <a:ext cx="7159789" cy="5969000"/>
            </a:xfrm>
            <a:custGeom>
              <a:avLst/>
              <a:gdLst/>
              <a:ahLst/>
              <a:cxnLst/>
              <a:rect l="l" t="t" r="r" b="b"/>
              <a:pathLst>
                <a:path w="7159789" h="5969000">
                  <a:moveTo>
                    <a:pt x="3579894" y="0"/>
                  </a:moveTo>
                  <a:cubicBezTo>
                    <a:pt x="5557015" y="0"/>
                    <a:pt x="7159789" y="1336206"/>
                    <a:pt x="7159789" y="2984500"/>
                  </a:cubicBezTo>
                  <a:cubicBezTo>
                    <a:pt x="7159789" y="4632794"/>
                    <a:pt x="5557015" y="5969000"/>
                    <a:pt x="3579894" y="5969000"/>
                  </a:cubicBezTo>
                  <a:cubicBezTo>
                    <a:pt x="1602773" y="5969000"/>
                    <a:pt x="0" y="4632794"/>
                    <a:pt x="0" y="2984500"/>
                  </a:cubicBezTo>
                  <a:cubicBezTo>
                    <a:pt x="0" y="1336206"/>
                    <a:pt x="1602773" y="0"/>
                    <a:pt x="3579894" y="0"/>
                  </a:cubicBezTo>
                  <a:close/>
                </a:path>
              </a:pathLst>
            </a:custGeom>
            <a:solidFill>
              <a:srgbClr val="2979D8">
                <a:alpha val="87843"/>
              </a:srgbClr>
            </a:solidFill>
            <a:ln cap="sq">
              <a:noFill/>
              <a:prstDash val="solid"/>
              <a:miter/>
            </a:ln>
          </p:spPr>
          <p:txBody>
            <a:bodyPr/>
            <a:lstStyle/>
            <a:p>
              <a:endParaRPr lang="fr-BE" noProof="0" dirty="0"/>
            </a:p>
          </p:txBody>
        </p:sp>
        <p:sp>
          <p:nvSpPr>
            <p:cNvPr id="8" name="TextBox 8"/>
            <p:cNvSpPr txBox="1"/>
            <p:nvPr/>
          </p:nvSpPr>
          <p:spPr>
            <a:xfrm>
              <a:off x="886567" y="-47625"/>
              <a:ext cx="2797011" cy="6016625"/>
            </a:xfrm>
            <a:prstGeom prst="rect">
              <a:avLst/>
            </a:prstGeom>
          </p:spPr>
          <p:txBody>
            <a:bodyPr lIns="50800" tIns="50800" rIns="50800" bIns="50800" rtlCol="0" anchor="ctr"/>
            <a:lstStyle/>
            <a:p>
              <a:pPr algn="ctr">
                <a:lnSpc>
                  <a:spcPts val="3569"/>
                </a:lnSpc>
              </a:pPr>
              <a:r>
                <a:rPr lang="fr-BE" sz="2400" b="1" noProof="0" dirty="0">
                  <a:solidFill>
                    <a:srgbClr val="FFFFFF">
                      <a:alpha val="87843"/>
                    </a:srgbClr>
                  </a:solidFill>
                  <a:latin typeface="Sinar Grotesk Bold"/>
                  <a:ea typeface="Sinar Grotesk Bold"/>
                  <a:cs typeface="Sinar Grotesk Bold"/>
                  <a:sym typeface="Sinar Grotesk Bold"/>
                </a:rPr>
                <a:t>Science</a:t>
              </a:r>
            </a:p>
            <a:p>
              <a:pPr algn="ctr">
                <a:lnSpc>
                  <a:spcPts val="3569"/>
                </a:lnSpc>
              </a:pPr>
              <a:r>
                <a:rPr lang="fr-BE" sz="2400" b="1" noProof="0" dirty="0">
                  <a:solidFill>
                    <a:srgbClr val="FFFFFF">
                      <a:alpha val="87843"/>
                    </a:srgbClr>
                  </a:solidFill>
                  <a:latin typeface="Sinar Grotesk Bold"/>
                  <a:ea typeface="Sinar Grotesk Bold"/>
                  <a:cs typeface="Sinar Grotesk Bold"/>
                  <a:sym typeface="Sinar Grotesk Bold"/>
                </a:rPr>
                <a:t>&amp;</a:t>
              </a:r>
            </a:p>
            <a:p>
              <a:pPr algn="ctr">
                <a:lnSpc>
                  <a:spcPts val="3569"/>
                </a:lnSpc>
              </a:pPr>
              <a:r>
                <a:rPr lang="fr-BE" sz="2400" b="1" noProof="0" dirty="0">
                  <a:solidFill>
                    <a:srgbClr val="FFFFFF">
                      <a:alpha val="87843"/>
                    </a:srgbClr>
                  </a:solidFill>
                  <a:latin typeface="Sinar Grotesk Bold"/>
                  <a:ea typeface="Sinar Grotesk Bold"/>
                  <a:cs typeface="Sinar Grotesk Bold"/>
                  <a:sym typeface="Sinar Grotesk Bold"/>
                </a:rPr>
                <a:t>Astronomie</a:t>
              </a:r>
            </a:p>
          </p:txBody>
        </p:sp>
      </p:grpSp>
      <p:grpSp>
        <p:nvGrpSpPr>
          <p:cNvPr id="9" name="Group 9"/>
          <p:cNvGrpSpPr/>
          <p:nvPr/>
        </p:nvGrpSpPr>
        <p:grpSpPr>
          <a:xfrm>
            <a:off x="7829983" y="2006156"/>
            <a:ext cx="5369842" cy="4519613"/>
            <a:chOff x="0" y="-57149"/>
            <a:chExt cx="7159789" cy="6026151"/>
          </a:xfrm>
        </p:grpSpPr>
        <p:sp>
          <p:nvSpPr>
            <p:cNvPr id="10" name="Freeform 10"/>
            <p:cNvSpPr/>
            <p:nvPr/>
          </p:nvSpPr>
          <p:spPr>
            <a:xfrm>
              <a:off x="0" y="0"/>
              <a:ext cx="7159789" cy="5969000"/>
            </a:xfrm>
            <a:custGeom>
              <a:avLst/>
              <a:gdLst/>
              <a:ahLst/>
              <a:cxnLst/>
              <a:rect l="l" t="t" r="r" b="b"/>
              <a:pathLst>
                <a:path w="7159789" h="5969000">
                  <a:moveTo>
                    <a:pt x="3579894" y="0"/>
                  </a:moveTo>
                  <a:cubicBezTo>
                    <a:pt x="5557015" y="0"/>
                    <a:pt x="7159789" y="1336206"/>
                    <a:pt x="7159789" y="2984500"/>
                  </a:cubicBezTo>
                  <a:cubicBezTo>
                    <a:pt x="7159789" y="4632794"/>
                    <a:pt x="5557015" y="5969000"/>
                    <a:pt x="3579894" y="5969000"/>
                  </a:cubicBezTo>
                  <a:cubicBezTo>
                    <a:pt x="1602773" y="5969000"/>
                    <a:pt x="0" y="4632794"/>
                    <a:pt x="0" y="2984500"/>
                  </a:cubicBezTo>
                  <a:cubicBezTo>
                    <a:pt x="0" y="1336206"/>
                    <a:pt x="1602773" y="0"/>
                    <a:pt x="3579894" y="0"/>
                  </a:cubicBezTo>
                  <a:close/>
                </a:path>
              </a:pathLst>
            </a:custGeom>
            <a:solidFill>
              <a:srgbClr val="25C7B7">
                <a:alpha val="82745"/>
              </a:srgbClr>
            </a:solidFill>
            <a:ln cap="sq">
              <a:noFill/>
              <a:prstDash val="solid"/>
              <a:miter/>
            </a:ln>
          </p:spPr>
          <p:txBody>
            <a:bodyPr/>
            <a:lstStyle/>
            <a:p>
              <a:endParaRPr lang="fr-BE" noProof="0" dirty="0"/>
            </a:p>
          </p:txBody>
        </p:sp>
        <p:sp>
          <p:nvSpPr>
            <p:cNvPr id="11" name="TextBox 11"/>
            <p:cNvSpPr txBox="1"/>
            <p:nvPr/>
          </p:nvSpPr>
          <p:spPr>
            <a:xfrm>
              <a:off x="3174423" y="-57149"/>
              <a:ext cx="3251200" cy="6026151"/>
            </a:xfrm>
            <a:prstGeom prst="rect">
              <a:avLst/>
            </a:prstGeom>
          </p:spPr>
          <p:txBody>
            <a:bodyPr lIns="50800" tIns="50800" rIns="50800" bIns="50800" rtlCol="0" anchor="ctr"/>
            <a:lstStyle/>
            <a:p>
              <a:pPr algn="ctr">
                <a:lnSpc>
                  <a:spcPts val="3359"/>
                </a:lnSpc>
              </a:pPr>
              <a:r>
                <a:rPr lang="fr-BE" sz="2400" b="1" noProof="0" dirty="0">
                  <a:solidFill>
                    <a:srgbClr val="FFFFFF">
                      <a:alpha val="82745"/>
                    </a:srgbClr>
                  </a:solidFill>
                  <a:latin typeface="Sinar Grotesk Bold"/>
                  <a:ea typeface="Sinar Grotesk Bold"/>
                  <a:cs typeface="Sinar Grotesk Bold"/>
                  <a:sym typeface="Sinar Grotesk Bold"/>
                </a:rPr>
                <a:t>Développement     </a:t>
              </a:r>
            </a:p>
            <a:p>
              <a:pPr algn="ctr">
                <a:lnSpc>
                  <a:spcPts val="3359"/>
                </a:lnSpc>
              </a:pPr>
              <a:r>
                <a:rPr lang="fr-BE" sz="2400" b="1" noProof="0" dirty="0" err="1">
                  <a:solidFill>
                    <a:srgbClr val="FFFFFF">
                      <a:alpha val="82745"/>
                    </a:srgbClr>
                  </a:solidFill>
                  <a:latin typeface="Sinar Grotesk Bold"/>
                  <a:ea typeface="Sinar Grotesk Bold"/>
                  <a:cs typeface="Sinar Grotesk Bold"/>
                  <a:sym typeface="Sinar Grotesk Bold"/>
                </a:rPr>
                <a:t>front-end</a:t>
              </a:r>
              <a:r>
                <a:rPr lang="fr-BE" sz="2400" b="1" noProof="0" dirty="0">
                  <a:solidFill>
                    <a:srgbClr val="FFFFFF">
                      <a:alpha val="82745"/>
                    </a:srgbClr>
                  </a:solidFill>
                  <a:latin typeface="Sinar Grotesk Bold"/>
                  <a:ea typeface="Sinar Grotesk Bold"/>
                  <a:cs typeface="Sinar Grotesk Bold"/>
                  <a:sym typeface="Sinar Grotesk Bold"/>
                </a:rPr>
                <a:t>     </a:t>
              </a:r>
            </a:p>
          </p:txBody>
        </p:sp>
      </p:grpSp>
      <p:sp>
        <p:nvSpPr>
          <p:cNvPr id="12" name="TextBox 12"/>
          <p:cNvSpPr txBox="1"/>
          <p:nvPr/>
        </p:nvSpPr>
        <p:spPr>
          <a:xfrm>
            <a:off x="7829983" y="3906869"/>
            <a:ext cx="1989297" cy="798039"/>
          </a:xfrm>
          <a:prstGeom prst="rect">
            <a:avLst/>
          </a:prstGeom>
        </p:spPr>
        <p:txBody>
          <a:bodyPr lIns="0" tIns="0" rIns="0" bIns="0" rtlCol="0" anchor="t">
            <a:spAutoFit/>
          </a:bodyPr>
          <a:lstStyle/>
          <a:p>
            <a:pPr algn="ctr">
              <a:lnSpc>
                <a:spcPts val="2062"/>
              </a:lnSpc>
            </a:pPr>
            <a:r>
              <a:rPr lang="fr-BE" sz="2000" b="1" noProof="0" dirty="0">
                <a:solidFill>
                  <a:srgbClr val="FFFFFF"/>
                </a:solidFill>
                <a:latin typeface="DM Sans Bold"/>
                <a:ea typeface="DM Sans Bold"/>
                <a:cs typeface="DM Sans Bold"/>
                <a:sym typeface="DM Sans Bold"/>
              </a:rPr>
              <a:t>AndromeSky</a:t>
            </a:r>
          </a:p>
          <a:p>
            <a:pPr algn="ctr">
              <a:lnSpc>
                <a:spcPct val="150000"/>
              </a:lnSpc>
            </a:pPr>
            <a:r>
              <a:rPr lang="fr-BE" sz="1200" noProof="0" dirty="0">
                <a:solidFill>
                  <a:srgbClr val="FFFFFF"/>
                </a:solidFill>
                <a:latin typeface="DM Sans Bold"/>
                <a:ea typeface="DM Sans Bold"/>
                <a:cs typeface="DM Sans Bold"/>
                <a:sym typeface="DM Sans Bold"/>
              </a:rPr>
              <a:t>Une expérience visuelle</a:t>
            </a:r>
          </a:p>
          <a:p>
            <a:pPr algn="ctr">
              <a:lnSpc>
                <a:spcPct val="150000"/>
              </a:lnSpc>
            </a:pPr>
            <a:r>
              <a:rPr lang="fr-BE" sz="1200" noProof="0" dirty="0">
                <a:solidFill>
                  <a:srgbClr val="FFFFFF"/>
                </a:solidFill>
                <a:latin typeface="DM Sans Bold"/>
                <a:ea typeface="DM Sans Bold"/>
                <a:cs typeface="DM Sans Bold"/>
                <a:sym typeface="DM Sans Bold"/>
              </a:rPr>
              <a:t>et pédagogique</a:t>
            </a:r>
          </a:p>
        </p:txBody>
      </p:sp>
      <p:grpSp>
        <p:nvGrpSpPr>
          <p:cNvPr id="13" name="Group 13"/>
          <p:cNvGrpSpPr/>
          <p:nvPr/>
        </p:nvGrpSpPr>
        <p:grpSpPr>
          <a:xfrm>
            <a:off x="1714500" y="7334250"/>
            <a:ext cx="7048500" cy="1428750"/>
            <a:chOff x="0" y="0"/>
            <a:chExt cx="9398000" cy="1905000"/>
          </a:xfrm>
        </p:grpSpPr>
        <p:grpSp>
          <p:nvGrpSpPr>
            <p:cNvPr id="14" name="Group 14"/>
            <p:cNvGrpSpPr/>
            <p:nvPr/>
          </p:nvGrpSpPr>
          <p:grpSpPr>
            <a:xfrm>
              <a:off x="0" y="0"/>
              <a:ext cx="9398000" cy="1905000"/>
              <a:chOff x="0" y="0"/>
              <a:chExt cx="9398000" cy="1905000"/>
            </a:xfrm>
          </p:grpSpPr>
          <p:sp>
            <p:nvSpPr>
              <p:cNvPr id="15" name="Freeform 15"/>
              <p:cNvSpPr/>
              <p:nvPr/>
            </p:nvSpPr>
            <p:spPr>
              <a:xfrm>
                <a:off x="0" y="0"/>
                <a:ext cx="9398000" cy="1905000"/>
              </a:xfrm>
              <a:custGeom>
                <a:avLst/>
                <a:gdLst/>
                <a:ahLst/>
                <a:cxnLst/>
                <a:rect l="l" t="t" r="r" b="b"/>
                <a:pathLst>
                  <a:path w="9398000" h="1905000">
                    <a:moveTo>
                      <a:pt x="0" y="0"/>
                    </a:moveTo>
                    <a:lnTo>
                      <a:pt x="9398000" y="0"/>
                    </a:lnTo>
                    <a:lnTo>
                      <a:pt x="9398000" y="1905000"/>
                    </a:lnTo>
                    <a:lnTo>
                      <a:pt x="0" y="1905000"/>
                    </a:lnTo>
                    <a:close/>
                  </a:path>
                </a:pathLst>
              </a:custGeom>
              <a:solidFill>
                <a:srgbClr val="EEF7FB"/>
              </a:solidFill>
              <a:ln cap="sq">
                <a:noFill/>
                <a:prstDash val="solid"/>
                <a:miter/>
              </a:ln>
            </p:spPr>
            <p:txBody>
              <a:bodyPr/>
              <a:lstStyle/>
              <a:p>
                <a:endParaRPr lang="fr-BE" noProof="0" dirty="0"/>
              </a:p>
            </p:txBody>
          </p:sp>
          <p:sp>
            <p:nvSpPr>
              <p:cNvPr id="16" name="TextBox 16"/>
              <p:cNvSpPr txBox="1"/>
              <p:nvPr/>
            </p:nvSpPr>
            <p:spPr>
              <a:xfrm>
                <a:off x="0" y="-38100"/>
                <a:ext cx="9398000" cy="1943100"/>
              </a:xfrm>
              <a:prstGeom prst="rect">
                <a:avLst/>
              </a:prstGeom>
            </p:spPr>
            <p:txBody>
              <a:bodyPr lIns="50800" tIns="50800" rIns="50800" bIns="50800" rtlCol="0" anchor="ctr"/>
              <a:lstStyle/>
              <a:p>
                <a:pPr algn="l">
                  <a:lnSpc>
                    <a:spcPts val="1679"/>
                  </a:lnSpc>
                </a:pPr>
                <a:endParaRPr lang="fr-BE" noProof="0" dirty="0"/>
              </a:p>
            </p:txBody>
          </p:sp>
        </p:grpSp>
        <p:sp>
          <p:nvSpPr>
            <p:cNvPr id="17" name="TextBox 17"/>
            <p:cNvSpPr txBox="1"/>
            <p:nvPr/>
          </p:nvSpPr>
          <p:spPr>
            <a:xfrm>
              <a:off x="381000" y="225425"/>
              <a:ext cx="8636000" cy="891540"/>
            </a:xfrm>
            <a:prstGeom prst="rect">
              <a:avLst/>
            </a:prstGeom>
          </p:spPr>
          <p:txBody>
            <a:bodyPr lIns="0" tIns="0" rIns="0" bIns="0" rtlCol="0" anchor="t">
              <a:spAutoFit/>
            </a:bodyPr>
            <a:lstStyle/>
            <a:p>
              <a:pPr algn="l">
                <a:lnSpc>
                  <a:spcPts val="2733"/>
                </a:lnSpc>
              </a:pPr>
              <a:r>
                <a:rPr lang="fr-BE" sz="2025" noProof="0" dirty="0">
                  <a:solidFill>
                    <a:srgbClr val="0B2447"/>
                  </a:solidFill>
                  <a:latin typeface="DM Sans"/>
                  <a:ea typeface="DM Sans"/>
                  <a:cs typeface="DM Sans"/>
                  <a:sym typeface="DM Sans"/>
                </a:rPr>
                <a:t>Créer une interface visuelle et interactive, plus lisible que des outils très denses.</a:t>
              </a:r>
            </a:p>
          </p:txBody>
        </p:sp>
      </p:grpSp>
      <p:grpSp>
        <p:nvGrpSpPr>
          <p:cNvPr id="18" name="Group 18"/>
          <p:cNvGrpSpPr/>
          <p:nvPr/>
        </p:nvGrpSpPr>
        <p:grpSpPr>
          <a:xfrm>
            <a:off x="9525000" y="7334250"/>
            <a:ext cx="7048500" cy="1428750"/>
            <a:chOff x="0" y="0"/>
            <a:chExt cx="9398000" cy="1905000"/>
          </a:xfrm>
        </p:grpSpPr>
        <p:grpSp>
          <p:nvGrpSpPr>
            <p:cNvPr id="19" name="Group 19"/>
            <p:cNvGrpSpPr/>
            <p:nvPr/>
          </p:nvGrpSpPr>
          <p:grpSpPr>
            <a:xfrm>
              <a:off x="0" y="0"/>
              <a:ext cx="9398000" cy="1905000"/>
              <a:chOff x="0" y="0"/>
              <a:chExt cx="9398000" cy="1905000"/>
            </a:xfrm>
          </p:grpSpPr>
          <p:sp>
            <p:nvSpPr>
              <p:cNvPr id="20" name="Freeform 20"/>
              <p:cNvSpPr/>
              <p:nvPr/>
            </p:nvSpPr>
            <p:spPr>
              <a:xfrm>
                <a:off x="0" y="0"/>
                <a:ext cx="9398000" cy="1905000"/>
              </a:xfrm>
              <a:custGeom>
                <a:avLst/>
                <a:gdLst/>
                <a:ahLst/>
                <a:cxnLst/>
                <a:rect l="l" t="t" r="r" b="b"/>
                <a:pathLst>
                  <a:path w="9398000" h="1905000">
                    <a:moveTo>
                      <a:pt x="0" y="0"/>
                    </a:moveTo>
                    <a:lnTo>
                      <a:pt x="9398000" y="0"/>
                    </a:lnTo>
                    <a:lnTo>
                      <a:pt x="9398000" y="1905000"/>
                    </a:lnTo>
                    <a:lnTo>
                      <a:pt x="0" y="1905000"/>
                    </a:lnTo>
                    <a:close/>
                  </a:path>
                </a:pathLst>
              </a:custGeom>
              <a:solidFill>
                <a:srgbClr val="EEF7FB"/>
              </a:solidFill>
              <a:ln cap="sq">
                <a:noFill/>
                <a:prstDash val="solid"/>
                <a:miter/>
              </a:ln>
            </p:spPr>
            <p:txBody>
              <a:bodyPr/>
              <a:lstStyle/>
              <a:p>
                <a:endParaRPr lang="fr-BE" noProof="0" dirty="0"/>
              </a:p>
            </p:txBody>
          </p:sp>
          <p:sp>
            <p:nvSpPr>
              <p:cNvPr id="21" name="TextBox 21"/>
              <p:cNvSpPr txBox="1"/>
              <p:nvPr/>
            </p:nvSpPr>
            <p:spPr>
              <a:xfrm>
                <a:off x="0" y="-38100"/>
                <a:ext cx="9398000" cy="1943100"/>
              </a:xfrm>
              <a:prstGeom prst="rect">
                <a:avLst/>
              </a:prstGeom>
            </p:spPr>
            <p:txBody>
              <a:bodyPr lIns="50800" tIns="50800" rIns="50800" bIns="50800" rtlCol="0" anchor="ctr"/>
              <a:lstStyle/>
              <a:p>
                <a:pPr algn="l">
                  <a:lnSpc>
                    <a:spcPts val="1679"/>
                  </a:lnSpc>
                </a:pPr>
                <a:endParaRPr lang="fr-BE" noProof="0" dirty="0"/>
              </a:p>
            </p:txBody>
          </p:sp>
        </p:grpSp>
        <p:sp>
          <p:nvSpPr>
            <p:cNvPr id="22" name="TextBox 22"/>
            <p:cNvSpPr txBox="1"/>
            <p:nvPr/>
          </p:nvSpPr>
          <p:spPr>
            <a:xfrm>
              <a:off x="381000" y="225425"/>
              <a:ext cx="8636000" cy="891540"/>
            </a:xfrm>
            <a:prstGeom prst="rect">
              <a:avLst/>
            </a:prstGeom>
          </p:spPr>
          <p:txBody>
            <a:bodyPr lIns="0" tIns="0" rIns="0" bIns="0" rtlCol="0" anchor="t">
              <a:spAutoFit/>
            </a:bodyPr>
            <a:lstStyle/>
            <a:p>
              <a:pPr algn="l">
                <a:lnSpc>
                  <a:spcPts val="2733"/>
                </a:lnSpc>
              </a:pPr>
              <a:r>
                <a:rPr lang="fr-BE" sz="2025" noProof="0" dirty="0">
                  <a:solidFill>
                    <a:srgbClr val="0B2447"/>
                  </a:solidFill>
                  <a:latin typeface="DM Sans"/>
                  <a:ea typeface="DM Sans"/>
                  <a:cs typeface="DM Sans"/>
                  <a:sym typeface="DM Sans"/>
                </a:rPr>
                <a:t>Mettre en pratique Angular, les APIs et l’architecture SPA.</a:t>
              </a:r>
            </a:p>
          </p:txBody>
        </p:sp>
      </p:grpSp>
      <p:sp>
        <p:nvSpPr>
          <p:cNvPr id="23" name="TextBox 23"/>
          <p:cNvSpPr txBox="1"/>
          <p:nvPr/>
        </p:nvSpPr>
        <p:spPr>
          <a:xfrm>
            <a:off x="1047750" y="9696450"/>
            <a:ext cx="16192500" cy="222885"/>
          </a:xfrm>
          <a:prstGeom prst="rect">
            <a:avLst/>
          </a:prstGeom>
        </p:spPr>
        <p:txBody>
          <a:bodyPr lIns="0" tIns="0" rIns="0" bIns="0" rtlCol="0" anchor="t">
            <a:spAutoFit/>
          </a:bodyPr>
          <a:lstStyle/>
          <a:p>
            <a:pPr algn="l">
              <a:lnSpc>
                <a:spcPts val="1889"/>
              </a:lnSpc>
            </a:pPr>
            <a:r>
              <a:rPr lang="fr-BE" sz="1350" noProof="0" dirty="0">
                <a:solidFill>
                  <a:srgbClr val="5F7187"/>
                </a:solidFill>
                <a:latin typeface="DM Sans"/>
                <a:ea typeface="DM Sans"/>
                <a:cs typeface="DM Sans"/>
                <a:sym typeface="DM Sans"/>
              </a:rPr>
              <a:t>AndromeSky — TFE Développement Web </a:t>
            </a:r>
            <a:r>
              <a:rPr lang="fr-BE" sz="1350" noProof="0" dirty="0" err="1">
                <a:solidFill>
                  <a:srgbClr val="5F7187"/>
                </a:solidFill>
                <a:latin typeface="DM Sans"/>
                <a:ea typeface="DM Sans"/>
                <a:cs typeface="DM Sans"/>
                <a:sym typeface="DM Sans"/>
              </a:rPr>
              <a:t>Front-End</a:t>
            </a:r>
            <a:r>
              <a:rPr lang="fr-BE" sz="1350" noProof="0" dirty="0">
                <a:solidFill>
                  <a:srgbClr val="5F7187"/>
                </a:solidFill>
                <a:latin typeface="DM Sans"/>
                <a:ea typeface="DM Sans"/>
                <a:cs typeface="DM Sans"/>
                <a:sym typeface="DM Sans"/>
              </a:rPr>
              <a:t>                                      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47750" y="685800"/>
            <a:ext cx="15621000" cy="554736"/>
          </a:xfrm>
          <a:prstGeom prst="rect">
            <a:avLst/>
          </a:prstGeom>
        </p:spPr>
        <p:txBody>
          <a:bodyPr lIns="0" tIns="0" rIns="0" bIns="0" rtlCol="0" anchor="t">
            <a:spAutoFit/>
          </a:bodyPr>
          <a:lstStyle/>
          <a:p>
            <a:pPr algn="l">
              <a:lnSpc>
                <a:spcPts val="4212"/>
              </a:lnSpc>
            </a:pPr>
            <a:r>
              <a:rPr lang="fr-BE" sz="3900" b="1" noProof="0" dirty="0">
                <a:solidFill>
                  <a:srgbClr val="0B2447"/>
                </a:solidFill>
                <a:latin typeface="Sinar Grotesk Bold"/>
                <a:ea typeface="Sinar Grotesk Bold"/>
                <a:cs typeface="Sinar Grotesk Bold"/>
                <a:sym typeface="Sinar Grotesk Bold"/>
              </a:rPr>
              <a:t>Trois objectifs ont guidé chaque décision</a:t>
            </a:r>
          </a:p>
        </p:txBody>
      </p:sp>
      <p:grpSp>
        <p:nvGrpSpPr>
          <p:cNvPr id="3" name="Group 3"/>
          <p:cNvGrpSpPr/>
          <p:nvPr/>
        </p:nvGrpSpPr>
        <p:grpSpPr>
          <a:xfrm>
            <a:off x="1047750" y="1428750"/>
            <a:ext cx="1123950" cy="47625"/>
            <a:chOff x="0" y="0"/>
            <a:chExt cx="1498600" cy="63500"/>
          </a:xfrm>
        </p:grpSpPr>
        <p:sp>
          <p:nvSpPr>
            <p:cNvPr id="4" name="Freeform 4"/>
            <p:cNvSpPr/>
            <p:nvPr/>
          </p:nvSpPr>
          <p:spPr>
            <a:xfrm>
              <a:off x="0" y="0"/>
              <a:ext cx="1498600" cy="63500"/>
            </a:xfrm>
            <a:custGeom>
              <a:avLst/>
              <a:gdLst/>
              <a:ahLst/>
              <a:cxnLst/>
              <a:rect l="l" t="t" r="r" b="b"/>
              <a:pathLst>
                <a:path w="1498600" h="63500">
                  <a:moveTo>
                    <a:pt x="0" y="0"/>
                  </a:moveTo>
                  <a:lnTo>
                    <a:pt x="1498600" y="0"/>
                  </a:lnTo>
                  <a:lnTo>
                    <a:pt x="1498600" y="63500"/>
                  </a:lnTo>
                  <a:lnTo>
                    <a:pt x="0" y="63500"/>
                  </a:lnTo>
                  <a:close/>
                </a:path>
              </a:pathLst>
            </a:custGeom>
            <a:solidFill>
              <a:srgbClr val="2979D8"/>
            </a:solidFill>
            <a:ln cap="sq">
              <a:noFill/>
              <a:prstDash val="solid"/>
              <a:miter/>
            </a:ln>
          </p:spPr>
          <p:txBody>
            <a:bodyPr/>
            <a:lstStyle/>
            <a:p>
              <a:endParaRPr lang="fr-BE" noProof="0" dirty="0"/>
            </a:p>
          </p:txBody>
        </p:sp>
        <p:sp>
          <p:nvSpPr>
            <p:cNvPr id="5" name="TextBox 5"/>
            <p:cNvSpPr txBox="1"/>
            <p:nvPr/>
          </p:nvSpPr>
          <p:spPr>
            <a:xfrm>
              <a:off x="0" y="-38100"/>
              <a:ext cx="1498600" cy="101600"/>
            </a:xfrm>
            <a:prstGeom prst="rect">
              <a:avLst/>
            </a:prstGeom>
          </p:spPr>
          <p:txBody>
            <a:bodyPr lIns="50800" tIns="50800" rIns="50800" bIns="50800" rtlCol="0" anchor="ctr"/>
            <a:lstStyle/>
            <a:p>
              <a:pPr algn="l">
                <a:lnSpc>
                  <a:spcPts val="1679"/>
                </a:lnSpc>
              </a:pPr>
              <a:endParaRPr lang="fr-BE" noProof="0" dirty="0"/>
            </a:p>
          </p:txBody>
        </p:sp>
      </p:grpSp>
      <p:grpSp>
        <p:nvGrpSpPr>
          <p:cNvPr id="6" name="Group 6"/>
          <p:cNvGrpSpPr/>
          <p:nvPr/>
        </p:nvGrpSpPr>
        <p:grpSpPr>
          <a:xfrm>
            <a:off x="1047750" y="2571750"/>
            <a:ext cx="4953000" cy="3714750"/>
            <a:chOff x="0" y="0"/>
            <a:chExt cx="6604000" cy="4953000"/>
          </a:xfrm>
        </p:grpSpPr>
        <p:grpSp>
          <p:nvGrpSpPr>
            <p:cNvPr id="7" name="Group 7"/>
            <p:cNvGrpSpPr/>
            <p:nvPr/>
          </p:nvGrpSpPr>
          <p:grpSpPr>
            <a:xfrm>
              <a:off x="0" y="0"/>
              <a:ext cx="6604000" cy="4953000"/>
              <a:chOff x="0" y="0"/>
              <a:chExt cx="6604000" cy="4953000"/>
            </a:xfrm>
          </p:grpSpPr>
          <p:sp>
            <p:nvSpPr>
              <p:cNvPr id="8" name="Freeform 8"/>
              <p:cNvSpPr/>
              <p:nvPr/>
            </p:nvSpPr>
            <p:spPr>
              <a:xfrm>
                <a:off x="0" y="0"/>
                <a:ext cx="6604000" cy="4953000"/>
              </a:xfrm>
              <a:custGeom>
                <a:avLst/>
                <a:gdLst/>
                <a:ahLst/>
                <a:cxnLst/>
                <a:rect l="l" t="t" r="r" b="b"/>
                <a:pathLst>
                  <a:path w="6604000" h="4953000">
                    <a:moveTo>
                      <a:pt x="0" y="0"/>
                    </a:moveTo>
                    <a:lnTo>
                      <a:pt x="6604000" y="0"/>
                    </a:lnTo>
                    <a:lnTo>
                      <a:pt x="6604000" y="4953000"/>
                    </a:lnTo>
                    <a:lnTo>
                      <a:pt x="0" y="4953000"/>
                    </a:lnTo>
                    <a:close/>
                  </a:path>
                </a:pathLst>
              </a:custGeom>
              <a:solidFill>
                <a:srgbClr val="F7FBFD"/>
              </a:solidFill>
              <a:ln cap="sq">
                <a:noFill/>
                <a:prstDash val="solid"/>
                <a:miter/>
              </a:ln>
            </p:spPr>
            <p:txBody>
              <a:bodyPr/>
              <a:lstStyle/>
              <a:p>
                <a:endParaRPr lang="fr-BE" noProof="0" dirty="0"/>
              </a:p>
            </p:txBody>
          </p:sp>
          <p:sp>
            <p:nvSpPr>
              <p:cNvPr id="9" name="TextBox 9"/>
              <p:cNvSpPr txBox="1"/>
              <p:nvPr/>
            </p:nvSpPr>
            <p:spPr>
              <a:xfrm>
                <a:off x="0" y="-38100"/>
                <a:ext cx="6604000" cy="4991100"/>
              </a:xfrm>
              <a:prstGeom prst="rect">
                <a:avLst/>
              </a:prstGeom>
            </p:spPr>
            <p:txBody>
              <a:bodyPr lIns="50800" tIns="50800" rIns="50800" bIns="50800" rtlCol="0" anchor="ctr"/>
              <a:lstStyle/>
              <a:p>
                <a:pPr algn="l">
                  <a:lnSpc>
                    <a:spcPts val="1679"/>
                  </a:lnSpc>
                </a:pPr>
                <a:endParaRPr lang="fr-BE" noProof="0" dirty="0"/>
              </a:p>
            </p:txBody>
          </p:sp>
        </p:grpSp>
        <p:grpSp>
          <p:nvGrpSpPr>
            <p:cNvPr id="10" name="Group 10"/>
            <p:cNvGrpSpPr/>
            <p:nvPr/>
          </p:nvGrpSpPr>
          <p:grpSpPr>
            <a:xfrm>
              <a:off x="0" y="0"/>
              <a:ext cx="6604000" cy="114300"/>
              <a:chOff x="0" y="0"/>
              <a:chExt cx="6604000" cy="114300"/>
            </a:xfrm>
          </p:grpSpPr>
          <p:sp>
            <p:nvSpPr>
              <p:cNvPr id="11" name="Freeform 11"/>
              <p:cNvSpPr/>
              <p:nvPr/>
            </p:nvSpPr>
            <p:spPr>
              <a:xfrm>
                <a:off x="0" y="0"/>
                <a:ext cx="6604000" cy="114300"/>
              </a:xfrm>
              <a:custGeom>
                <a:avLst/>
                <a:gdLst/>
                <a:ahLst/>
                <a:cxnLst/>
                <a:rect l="l" t="t" r="r" b="b"/>
                <a:pathLst>
                  <a:path w="6604000" h="114300">
                    <a:moveTo>
                      <a:pt x="0" y="0"/>
                    </a:moveTo>
                    <a:lnTo>
                      <a:pt x="6604000" y="0"/>
                    </a:lnTo>
                    <a:lnTo>
                      <a:pt x="6604000" y="114300"/>
                    </a:lnTo>
                    <a:lnTo>
                      <a:pt x="0" y="114300"/>
                    </a:lnTo>
                    <a:close/>
                  </a:path>
                </a:pathLst>
              </a:custGeom>
              <a:solidFill>
                <a:srgbClr val="2979D8"/>
              </a:solidFill>
              <a:ln cap="sq">
                <a:noFill/>
                <a:prstDash val="solid"/>
                <a:miter/>
              </a:ln>
            </p:spPr>
            <p:txBody>
              <a:bodyPr/>
              <a:lstStyle/>
              <a:p>
                <a:endParaRPr lang="fr-BE" noProof="0" dirty="0"/>
              </a:p>
            </p:txBody>
          </p:sp>
          <p:sp>
            <p:nvSpPr>
              <p:cNvPr id="12" name="TextBox 12"/>
              <p:cNvSpPr txBox="1"/>
              <p:nvPr/>
            </p:nvSpPr>
            <p:spPr>
              <a:xfrm>
                <a:off x="0" y="-38100"/>
                <a:ext cx="6604000" cy="152400"/>
              </a:xfrm>
              <a:prstGeom prst="rect">
                <a:avLst/>
              </a:prstGeom>
            </p:spPr>
            <p:txBody>
              <a:bodyPr lIns="50800" tIns="50800" rIns="50800" bIns="50800" rtlCol="0" anchor="ctr"/>
              <a:lstStyle/>
              <a:p>
                <a:pPr algn="l">
                  <a:lnSpc>
                    <a:spcPts val="1679"/>
                  </a:lnSpc>
                </a:pPr>
                <a:endParaRPr lang="fr-BE" noProof="0" dirty="0"/>
              </a:p>
            </p:txBody>
          </p:sp>
        </p:grpSp>
        <p:sp>
          <p:nvSpPr>
            <p:cNvPr id="13" name="TextBox 13"/>
            <p:cNvSpPr txBox="1"/>
            <p:nvPr/>
          </p:nvSpPr>
          <p:spPr>
            <a:xfrm>
              <a:off x="444500" y="415925"/>
              <a:ext cx="1524000" cy="376555"/>
            </a:xfrm>
            <a:prstGeom prst="rect">
              <a:avLst/>
            </a:prstGeom>
          </p:spPr>
          <p:txBody>
            <a:bodyPr lIns="0" tIns="0" rIns="0" bIns="0" rtlCol="0" anchor="t">
              <a:spAutoFit/>
            </a:bodyPr>
            <a:lstStyle/>
            <a:p>
              <a:pPr algn="l">
                <a:lnSpc>
                  <a:spcPts val="2415"/>
                </a:lnSpc>
              </a:pPr>
              <a:r>
                <a:rPr lang="fr-BE" sz="1725" b="1" spc="138" noProof="0" dirty="0">
                  <a:solidFill>
                    <a:srgbClr val="2979D8"/>
                  </a:solidFill>
                  <a:latin typeface="DM Sans Bold"/>
                  <a:ea typeface="DM Sans Bold"/>
                  <a:cs typeface="DM Sans Bold"/>
                  <a:sym typeface="DM Sans Bold"/>
                </a:rPr>
                <a:t>01</a:t>
              </a:r>
            </a:p>
          </p:txBody>
        </p:sp>
        <p:sp>
          <p:nvSpPr>
            <p:cNvPr id="14" name="TextBox 14"/>
            <p:cNvSpPr txBox="1"/>
            <p:nvPr/>
          </p:nvSpPr>
          <p:spPr>
            <a:xfrm>
              <a:off x="444500" y="1457325"/>
              <a:ext cx="5715000" cy="739775"/>
            </a:xfrm>
            <a:prstGeom prst="rect">
              <a:avLst/>
            </a:prstGeom>
          </p:spPr>
          <p:txBody>
            <a:bodyPr lIns="0" tIns="0" rIns="0" bIns="0" rtlCol="0" anchor="t">
              <a:spAutoFit/>
            </a:bodyPr>
            <a:lstStyle/>
            <a:p>
              <a:pPr algn="l">
                <a:lnSpc>
                  <a:spcPts val="4725"/>
                </a:lnSpc>
              </a:pPr>
              <a:r>
                <a:rPr lang="fr-BE" sz="3375" b="1" noProof="0" dirty="0">
                  <a:solidFill>
                    <a:srgbClr val="0B2447"/>
                  </a:solidFill>
                  <a:latin typeface="Sinar Grotesk Bold"/>
                  <a:ea typeface="Sinar Grotesk Bold"/>
                  <a:cs typeface="Sinar Grotesk Bold"/>
                  <a:sym typeface="Sinar Grotesk Bold"/>
                </a:rPr>
                <a:t>Visualiser</a:t>
              </a:r>
            </a:p>
          </p:txBody>
        </p:sp>
        <p:sp>
          <p:nvSpPr>
            <p:cNvPr id="15" name="TextBox 15"/>
            <p:cNvSpPr txBox="1"/>
            <p:nvPr/>
          </p:nvSpPr>
          <p:spPr>
            <a:xfrm>
              <a:off x="444500" y="2701925"/>
              <a:ext cx="5715000" cy="891540"/>
            </a:xfrm>
            <a:prstGeom prst="rect">
              <a:avLst/>
            </a:prstGeom>
          </p:spPr>
          <p:txBody>
            <a:bodyPr lIns="0" tIns="0" rIns="0" bIns="0" rtlCol="0" anchor="t">
              <a:spAutoFit/>
            </a:bodyPr>
            <a:lstStyle/>
            <a:p>
              <a:pPr algn="l">
                <a:lnSpc>
                  <a:spcPts val="2733"/>
                </a:lnSpc>
              </a:pPr>
              <a:r>
                <a:rPr lang="fr-BE" sz="2025" noProof="0" dirty="0">
                  <a:solidFill>
                    <a:srgbClr val="0B2447"/>
                  </a:solidFill>
                  <a:latin typeface="DM Sans"/>
                  <a:ea typeface="DM Sans"/>
                  <a:cs typeface="DM Sans"/>
                  <a:sym typeface="DM Sans"/>
                </a:rPr>
                <a:t>Une carte du ciel réellement manipulable.</a:t>
              </a:r>
            </a:p>
          </p:txBody>
        </p:sp>
      </p:grpSp>
      <p:grpSp>
        <p:nvGrpSpPr>
          <p:cNvPr id="16" name="Group 16"/>
          <p:cNvGrpSpPr/>
          <p:nvPr/>
        </p:nvGrpSpPr>
        <p:grpSpPr>
          <a:xfrm>
            <a:off x="6524625" y="2571750"/>
            <a:ext cx="4953000" cy="3714750"/>
            <a:chOff x="0" y="0"/>
            <a:chExt cx="6604000" cy="4953000"/>
          </a:xfrm>
        </p:grpSpPr>
        <p:grpSp>
          <p:nvGrpSpPr>
            <p:cNvPr id="17" name="Group 17"/>
            <p:cNvGrpSpPr/>
            <p:nvPr/>
          </p:nvGrpSpPr>
          <p:grpSpPr>
            <a:xfrm>
              <a:off x="0" y="0"/>
              <a:ext cx="6604000" cy="4953000"/>
              <a:chOff x="0" y="0"/>
              <a:chExt cx="6604000" cy="4953000"/>
            </a:xfrm>
          </p:grpSpPr>
          <p:sp>
            <p:nvSpPr>
              <p:cNvPr id="18" name="Freeform 18"/>
              <p:cNvSpPr/>
              <p:nvPr/>
            </p:nvSpPr>
            <p:spPr>
              <a:xfrm>
                <a:off x="0" y="0"/>
                <a:ext cx="6604000" cy="4953000"/>
              </a:xfrm>
              <a:custGeom>
                <a:avLst/>
                <a:gdLst/>
                <a:ahLst/>
                <a:cxnLst/>
                <a:rect l="l" t="t" r="r" b="b"/>
                <a:pathLst>
                  <a:path w="6604000" h="4953000">
                    <a:moveTo>
                      <a:pt x="0" y="0"/>
                    </a:moveTo>
                    <a:lnTo>
                      <a:pt x="6604000" y="0"/>
                    </a:lnTo>
                    <a:lnTo>
                      <a:pt x="6604000" y="4953000"/>
                    </a:lnTo>
                    <a:lnTo>
                      <a:pt x="0" y="4953000"/>
                    </a:lnTo>
                    <a:close/>
                  </a:path>
                </a:pathLst>
              </a:custGeom>
              <a:solidFill>
                <a:srgbClr val="EEF7FB"/>
              </a:solidFill>
              <a:ln cap="sq">
                <a:noFill/>
                <a:prstDash val="solid"/>
                <a:miter/>
              </a:ln>
            </p:spPr>
            <p:txBody>
              <a:bodyPr/>
              <a:lstStyle/>
              <a:p>
                <a:endParaRPr lang="fr-BE" noProof="0" dirty="0"/>
              </a:p>
            </p:txBody>
          </p:sp>
          <p:sp>
            <p:nvSpPr>
              <p:cNvPr id="19" name="TextBox 19"/>
              <p:cNvSpPr txBox="1"/>
              <p:nvPr/>
            </p:nvSpPr>
            <p:spPr>
              <a:xfrm>
                <a:off x="0" y="-38100"/>
                <a:ext cx="6604000" cy="4991100"/>
              </a:xfrm>
              <a:prstGeom prst="rect">
                <a:avLst/>
              </a:prstGeom>
            </p:spPr>
            <p:txBody>
              <a:bodyPr lIns="50800" tIns="50800" rIns="50800" bIns="50800" rtlCol="0" anchor="ctr"/>
              <a:lstStyle/>
              <a:p>
                <a:pPr algn="l">
                  <a:lnSpc>
                    <a:spcPts val="1679"/>
                  </a:lnSpc>
                </a:pPr>
                <a:endParaRPr lang="fr-BE" noProof="0" dirty="0"/>
              </a:p>
            </p:txBody>
          </p:sp>
        </p:grpSp>
        <p:grpSp>
          <p:nvGrpSpPr>
            <p:cNvPr id="20" name="Group 20"/>
            <p:cNvGrpSpPr/>
            <p:nvPr/>
          </p:nvGrpSpPr>
          <p:grpSpPr>
            <a:xfrm>
              <a:off x="0" y="0"/>
              <a:ext cx="6604000" cy="114300"/>
              <a:chOff x="0" y="0"/>
              <a:chExt cx="6604000" cy="114300"/>
            </a:xfrm>
          </p:grpSpPr>
          <p:sp>
            <p:nvSpPr>
              <p:cNvPr id="21" name="Freeform 21"/>
              <p:cNvSpPr/>
              <p:nvPr/>
            </p:nvSpPr>
            <p:spPr>
              <a:xfrm>
                <a:off x="0" y="0"/>
                <a:ext cx="6604000" cy="114300"/>
              </a:xfrm>
              <a:custGeom>
                <a:avLst/>
                <a:gdLst/>
                <a:ahLst/>
                <a:cxnLst/>
                <a:rect l="l" t="t" r="r" b="b"/>
                <a:pathLst>
                  <a:path w="6604000" h="114300">
                    <a:moveTo>
                      <a:pt x="0" y="0"/>
                    </a:moveTo>
                    <a:lnTo>
                      <a:pt x="6604000" y="0"/>
                    </a:lnTo>
                    <a:lnTo>
                      <a:pt x="6604000" y="114300"/>
                    </a:lnTo>
                    <a:lnTo>
                      <a:pt x="0" y="114300"/>
                    </a:lnTo>
                    <a:close/>
                  </a:path>
                </a:pathLst>
              </a:custGeom>
              <a:solidFill>
                <a:srgbClr val="2979D8"/>
              </a:solidFill>
              <a:ln cap="sq">
                <a:noFill/>
                <a:prstDash val="solid"/>
                <a:miter/>
              </a:ln>
            </p:spPr>
            <p:txBody>
              <a:bodyPr/>
              <a:lstStyle/>
              <a:p>
                <a:endParaRPr lang="fr-BE" noProof="0" dirty="0"/>
              </a:p>
            </p:txBody>
          </p:sp>
          <p:sp>
            <p:nvSpPr>
              <p:cNvPr id="22" name="TextBox 22"/>
              <p:cNvSpPr txBox="1"/>
              <p:nvPr/>
            </p:nvSpPr>
            <p:spPr>
              <a:xfrm>
                <a:off x="0" y="-38100"/>
                <a:ext cx="6604000" cy="152400"/>
              </a:xfrm>
              <a:prstGeom prst="rect">
                <a:avLst/>
              </a:prstGeom>
            </p:spPr>
            <p:txBody>
              <a:bodyPr lIns="50800" tIns="50800" rIns="50800" bIns="50800" rtlCol="0" anchor="ctr"/>
              <a:lstStyle/>
              <a:p>
                <a:pPr algn="l">
                  <a:lnSpc>
                    <a:spcPts val="1679"/>
                  </a:lnSpc>
                </a:pPr>
                <a:endParaRPr lang="fr-BE" noProof="0" dirty="0"/>
              </a:p>
            </p:txBody>
          </p:sp>
        </p:grpSp>
        <p:sp>
          <p:nvSpPr>
            <p:cNvPr id="23" name="TextBox 23"/>
            <p:cNvSpPr txBox="1"/>
            <p:nvPr/>
          </p:nvSpPr>
          <p:spPr>
            <a:xfrm>
              <a:off x="444500" y="415925"/>
              <a:ext cx="1524000" cy="376555"/>
            </a:xfrm>
            <a:prstGeom prst="rect">
              <a:avLst/>
            </a:prstGeom>
          </p:spPr>
          <p:txBody>
            <a:bodyPr lIns="0" tIns="0" rIns="0" bIns="0" rtlCol="0" anchor="t">
              <a:spAutoFit/>
            </a:bodyPr>
            <a:lstStyle/>
            <a:p>
              <a:pPr algn="l">
                <a:lnSpc>
                  <a:spcPts val="2415"/>
                </a:lnSpc>
              </a:pPr>
              <a:r>
                <a:rPr lang="fr-BE" sz="1725" b="1" spc="138" noProof="0" dirty="0">
                  <a:solidFill>
                    <a:srgbClr val="2979D8"/>
                  </a:solidFill>
                  <a:latin typeface="DM Sans Bold"/>
                  <a:ea typeface="DM Sans Bold"/>
                  <a:cs typeface="DM Sans Bold"/>
                  <a:sym typeface="DM Sans Bold"/>
                </a:rPr>
                <a:t>02</a:t>
              </a:r>
            </a:p>
          </p:txBody>
        </p:sp>
        <p:sp>
          <p:nvSpPr>
            <p:cNvPr id="24" name="TextBox 24"/>
            <p:cNvSpPr txBox="1"/>
            <p:nvPr/>
          </p:nvSpPr>
          <p:spPr>
            <a:xfrm>
              <a:off x="444500" y="1457325"/>
              <a:ext cx="5715000" cy="739775"/>
            </a:xfrm>
            <a:prstGeom prst="rect">
              <a:avLst/>
            </a:prstGeom>
          </p:spPr>
          <p:txBody>
            <a:bodyPr lIns="0" tIns="0" rIns="0" bIns="0" rtlCol="0" anchor="t">
              <a:spAutoFit/>
            </a:bodyPr>
            <a:lstStyle/>
            <a:p>
              <a:pPr algn="l">
                <a:lnSpc>
                  <a:spcPts val="4725"/>
                </a:lnSpc>
              </a:pPr>
              <a:r>
                <a:rPr lang="fr-BE" sz="3375" b="1" noProof="0" dirty="0">
                  <a:solidFill>
                    <a:srgbClr val="0B2447"/>
                  </a:solidFill>
                  <a:latin typeface="Sinar Grotesk Bold"/>
                  <a:ea typeface="Sinar Grotesk Bold"/>
                  <a:cs typeface="Sinar Grotesk Bold"/>
                  <a:sym typeface="Sinar Grotesk Bold"/>
                </a:rPr>
                <a:t>Expliquer</a:t>
              </a:r>
            </a:p>
          </p:txBody>
        </p:sp>
        <p:sp>
          <p:nvSpPr>
            <p:cNvPr id="25" name="TextBox 25"/>
            <p:cNvSpPr txBox="1"/>
            <p:nvPr/>
          </p:nvSpPr>
          <p:spPr>
            <a:xfrm>
              <a:off x="444500" y="2701925"/>
              <a:ext cx="5715000" cy="891540"/>
            </a:xfrm>
            <a:prstGeom prst="rect">
              <a:avLst/>
            </a:prstGeom>
          </p:spPr>
          <p:txBody>
            <a:bodyPr lIns="0" tIns="0" rIns="0" bIns="0" rtlCol="0" anchor="t">
              <a:spAutoFit/>
            </a:bodyPr>
            <a:lstStyle/>
            <a:p>
              <a:pPr algn="l">
                <a:lnSpc>
                  <a:spcPts val="2733"/>
                </a:lnSpc>
              </a:pPr>
              <a:r>
                <a:rPr lang="fr-BE" sz="2025" noProof="0" dirty="0">
                  <a:solidFill>
                    <a:srgbClr val="0B2447"/>
                  </a:solidFill>
                  <a:latin typeface="DM Sans"/>
                  <a:ea typeface="DM Sans"/>
                  <a:cs typeface="DM Sans"/>
                  <a:sym typeface="DM Sans"/>
                </a:rPr>
                <a:t>Des informations fiables et contextualisées.</a:t>
              </a:r>
            </a:p>
          </p:txBody>
        </p:sp>
      </p:grpSp>
      <p:grpSp>
        <p:nvGrpSpPr>
          <p:cNvPr id="26" name="Group 26"/>
          <p:cNvGrpSpPr/>
          <p:nvPr/>
        </p:nvGrpSpPr>
        <p:grpSpPr>
          <a:xfrm>
            <a:off x="12001500" y="2571750"/>
            <a:ext cx="4953000" cy="3714750"/>
            <a:chOff x="0" y="0"/>
            <a:chExt cx="6604000" cy="4953000"/>
          </a:xfrm>
        </p:grpSpPr>
        <p:grpSp>
          <p:nvGrpSpPr>
            <p:cNvPr id="27" name="Group 27"/>
            <p:cNvGrpSpPr/>
            <p:nvPr/>
          </p:nvGrpSpPr>
          <p:grpSpPr>
            <a:xfrm>
              <a:off x="0" y="0"/>
              <a:ext cx="6604000" cy="4953000"/>
              <a:chOff x="0" y="0"/>
              <a:chExt cx="6604000" cy="4953000"/>
            </a:xfrm>
          </p:grpSpPr>
          <p:sp>
            <p:nvSpPr>
              <p:cNvPr id="28" name="Freeform 28"/>
              <p:cNvSpPr/>
              <p:nvPr/>
            </p:nvSpPr>
            <p:spPr>
              <a:xfrm>
                <a:off x="0" y="0"/>
                <a:ext cx="6604000" cy="4953000"/>
              </a:xfrm>
              <a:custGeom>
                <a:avLst/>
                <a:gdLst/>
                <a:ahLst/>
                <a:cxnLst/>
                <a:rect l="l" t="t" r="r" b="b"/>
                <a:pathLst>
                  <a:path w="6604000" h="4953000">
                    <a:moveTo>
                      <a:pt x="0" y="0"/>
                    </a:moveTo>
                    <a:lnTo>
                      <a:pt x="6604000" y="0"/>
                    </a:lnTo>
                    <a:lnTo>
                      <a:pt x="6604000" y="4953000"/>
                    </a:lnTo>
                    <a:lnTo>
                      <a:pt x="0" y="4953000"/>
                    </a:lnTo>
                    <a:close/>
                  </a:path>
                </a:pathLst>
              </a:custGeom>
              <a:solidFill>
                <a:srgbClr val="F7FBFD"/>
              </a:solidFill>
              <a:ln cap="sq">
                <a:noFill/>
                <a:prstDash val="solid"/>
                <a:miter/>
              </a:ln>
            </p:spPr>
            <p:txBody>
              <a:bodyPr/>
              <a:lstStyle/>
              <a:p>
                <a:endParaRPr lang="fr-BE" noProof="0" dirty="0"/>
              </a:p>
            </p:txBody>
          </p:sp>
          <p:sp>
            <p:nvSpPr>
              <p:cNvPr id="29" name="TextBox 29"/>
              <p:cNvSpPr txBox="1"/>
              <p:nvPr/>
            </p:nvSpPr>
            <p:spPr>
              <a:xfrm>
                <a:off x="0" y="-38100"/>
                <a:ext cx="6604000" cy="4991100"/>
              </a:xfrm>
              <a:prstGeom prst="rect">
                <a:avLst/>
              </a:prstGeom>
            </p:spPr>
            <p:txBody>
              <a:bodyPr lIns="50800" tIns="50800" rIns="50800" bIns="50800" rtlCol="0" anchor="ctr"/>
              <a:lstStyle/>
              <a:p>
                <a:pPr algn="l">
                  <a:lnSpc>
                    <a:spcPts val="1679"/>
                  </a:lnSpc>
                </a:pPr>
                <a:endParaRPr lang="fr-BE" noProof="0" dirty="0"/>
              </a:p>
            </p:txBody>
          </p:sp>
        </p:grpSp>
        <p:grpSp>
          <p:nvGrpSpPr>
            <p:cNvPr id="30" name="Group 30"/>
            <p:cNvGrpSpPr/>
            <p:nvPr/>
          </p:nvGrpSpPr>
          <p:grpSpPr>
            <a:xfrm>
              <a:off x="0" y="0"/>
              <a:ext cx="6604000" cy="114300"/>
              <a:chOff x="0" y="0"/>
              <a:chExt cx="6604000" cy="114300"/>
            </a:xfrm>
          </p:grpSpPr>
          <p:sp>
            <p:nvSpPr>
              <p:cNvPr id="31" name="Freeform 31"/>
              <p:cNvSpPr/>
              <p:nvPr/>
            </p:nvSpPr>
            <p:spPr>
              <a:xfrm>
                <a:off x="0" y="0"/>
                <a:ext cx="6604000" cy="114300"/>
              </a:xfrm>
              <a:custGeom>
                <a:avLst/>
                <a:gdLst/>
                <a:ahLst/>
                <a:cxnLst/>
                <a:rect l="l" t="t" r="r" b="b"/>
                <a:pathLst>
                  <a:path w="6604000" h="114300">
                    <a:moveTo>
                      <a:pt x="0" y="0"/>
                    </a:moveTo>
                    <a:lnTo>
                      <a:pt x="6604000" y="0"/>
                    </a:lnTo>
                    <a:lnTo>
                      <a:pt x="6604000" y="114300"/>
                    </a:lnTo>
                    <a:lnTo>
                      <a:pt x="0" y="114300"/>
                    </a:lnTo>
                    <a:close/>
                  </a:path>
                </a:pathLst>
              </a:custGeom>
              <a:solidFill>
                <a:srgbClr val="25C7B7"/>
              </a:solidFill>
              <a:ln cap="sq">
                <a:noFill/>
                <a:prstDash val="solid"/>
                <a:miter/>
              </a:ln>
            </p:spPr>
            <p:txBody>
              <a:bodyPr/>
              <a:lstStyle/>
              <a:p>
                <a:endParaRPr lang="fr-BE" noProof="0" dirty="0"/>
              </a:p>
            </p:txBody>
          </p:sp>
          <p:sp>
            <p:nvSpPr>
              <p:cNvPr id="32" name="TextBox 32"/>
              <p:cNvSpPr txBox="1"/>
              <p:nvPr/>
            </p:nvSpPr>
            <p:spPr>
              <a:xfrm>
                <a:off x="0" y="-38100"/>
                <a:ext cx="6604000" cy="152400"/>
              </a:xfrm>
              <a:prstGeom prst="rect">
                <a:avLst/>
              </a:prstGeom>
            </p:spPr>
            <p:txBody>
              <a:bodyPr lIns="50800" tIns="50800" rIns="50800" bIns="50800" rtlCol="0" anchor="ctr"/>
              <a:lstStyle/>
              <a:p>
                <a:pPr algn="l">
                  <a:lnSpc>
                    <a:spcPts val="1679"/>
                  </a:lnSpc>
                </a:pPr>
                <a:endParaRPr lang="fr-BE" noProof="0" dirty="0"/>
              </a:p>
            </p:txBody>
          </p:sp>
        </p:grpSp>
        <p:sp>
          <p:nvSpPr>
            <p:cNvPr id="33" name="TextBox 33"/>
            <p:cNvSpPr txBox="1"/>
            <p:nvPr/>
          </p:nvSpPr>
          <p:spPr>
            <a:xfrm>
              <a:off x="444500" y="415925"/>
              <a:ext cx="1524000" cy="376555"/>
            </a:xfrm>
            <a:prstGeom prst="rect">
              <a:avLst/>
            </a:prstGeom>
          </p:spPr>
          <p:txBody>
            <a:bodyPr lIns="0" tIns="0" rIns="0" bIns="0" rtlCol="0" anchor="t">
              <a:spAutoFit/>
            </a:bodyPr>
            <a:lstStyle/>
            <a:p>
              <a:pPr algn="l">
                <a:lnSpc>
                  <a:spcPts val="2415"/>
                </a:lnSpc>
              </a:pPr>
              <a:r>
                <a:rPr lang="fr-BE" sz="1725" b="1" spc="138" noProof="0" dirty="0">
                  <a:solidFill>
                    <a:srgbClr val="2979D8"/>
                  </a:solidFill>
                  <a:latin typeface="DM Sans Bold"/>
                  <a:ea typeface="DM Sans Bold"/>
                  <a:cs typeface="DM Sans Bold"/>
                  <a:sym typeface="DM Sans Bold"/>
                </a:rPr>
                <a:t>03</a:t>
              </a:r>
            </a:p>
          </p:txBody>
        </p:sp>
        <p:sp>
          <p:nvSpPr>
            <p:cNvPr id="34" name="TextBox 34"/>
            <p:cNvSpPr txBox="1"/>
            <p:nvPr/>
          </p:nvSpPr>
          <p:spPr>
            <a:xfrm>
              <a:off x="444500" y="1457325"/>
              <a:ext cx="5715000" cy="739775"/>
            </a:xfrm>
            <a:prstGeom prst="rect">
              <a:avLst/>
            </a:prstGeom>
          </p:spPr>
          <p:txBody>
            <a:bodyPr lIns="0" tIns="0" rIns="0" bIns="0" rtlCol="0" anchor="t">
              <a:spAutoFit/>
            </a:bodyPr>
            <a:lstStyle/>
            <a:p>
              <a:pPr algn="l">
                <a:lnSpc>
                  <a:spcPts val="4725"/>
                </a:lnSpc>
              </a:pPr>
              <a:r>
                <a:rPr lang="fr-BE" sz="3375" b="1" noProof="0" dirty="0">
                  <a:solidFill>
                    <a:srgbClr val="0B2447"/>
                  </a:solidFill>
                  <a:latin typeface="Sinar Grotesk Bold"/>
                  <a:ea typeface="Sinar Grotesk Bold"/>
                  <a:cs typeface="Sinar Grotesk Bold"/>
                  <a:sym typeface="Sinar Grotesk Bold"/>
                </a:rPr>
                <a:t>Apprendre</a:t>
              </a:r>
            </a:p>
          </p:txBody>
        </p:sp>
        <p:sp>
          <p:nvSpPr>
            <p:cNvPr id="35" name="TextBox 35"/>
            <p:cNvSpPr txBox="1"/>
            <p:nvPr/>
          </p:nvSpPr>
          <p:spPr>
            <a:xfrm>
              <a:off x="444500" y="2701925"/>
              <a:ext cx="5715000" cy="891540"/>
            </a:xfrm>
            <a:prstGeom prst="rect">
              <a:avLst/>
            </a:prstGeom>
          </p:spPr>
          <p:txBody>
            <a:bodyPr lIns="0" tIns="0" rIns="0" bIns="0" rtlCol="0" anchor="t">
              <a:spAutoFit/>
            </a:bodyPr>
            <a:lstStyle/>
            <a:p>
              <a:pPr algn="l">
                <a:lnSpc>
                  <a:spcPts val="2733"/>
                </a:lnSpc>
              </a:pPr>
              <a:r>
                <a:rPr lang="fr-BE" sz="2025" noProof="0" dirty="0">
                  <a:solidFill>
                    <a:srgbClr val="0B2447"/>
                  </a:solidFill>
                  <a:latin typeface="DM Sans"/>
                  <a:ea typeface="DM Sans"/>
                  <a:cs typeface="DM Sans"/>
                  <a:sym typeface="DM Sans"/>
                </a:rPr>
                <a:t>Des quiz pour mettre en pratique ses repères.</a:t>
              </a:r>
            </a:p>
          </p:txBody>
        </p:sp>
      </p:grpSp>
      <p:sp>
        <p:nvSpPr>
          <p:cNvPr id="36" name="TextBox 36"/>
          <p:cNvSpPr txBox="1"/>
          <p:nvPr/>
        </p:nvSpPr>
        <p:spPr>
          <a:xfrm>
            <a:off x="4286250" y="7467600"/>
            <a:ext cx="9715500" cy="457200"/>
          </a:xfrm>
          <a:prstGeom prst="rect">
            <a:avLst/>
          </a:prstGeom>
        </p:spPr>
        <p:txBody>
          <a:bodyPr lIns="0" tIns="0" rIns="0" bIns="0" rtlCol="0" anchor="t">
            <a:spAutoFit/>
          </a:bodyPr>
          <a:lstStyle/>
          <a:p>
            <a:pPr algn="ctr">
              <a:lnSpc>
                <a:spcPts val="3675"/>
              </a:lnSpc>
            </a:pPr>
            <a:r>
              <a:rPr lang="fr-BE" sz="2625" b="1" noProof="0" dirty="0">
                <a:solidFill>
                  <a:srgbClr val="2979D8"/>
                </a:solidFill>
                <a:latin typeface="Sinar Grotesk Bold"/>
                <a:ea typeface="Sinar Grotesk Bold"/>
                <a:cs typeface="Sinar Grotesk Bold"/>
                <a:sym typeface="Sinar Grotesk Bold"/>
              </a:rPr>
              <a:t>Découvrir  →  comprendre  →  se tester.</a:t>
            </a:r>
          </a:p>
        </p:txBody>
      </p:sp>
      <p:sp>
        <p:nvSpPr>
          <p:cNvPr id="37" name="TextBox 37"/>
          <p:cNvSpPr txBox="1"/>
          <p:nvPr/>
        </p:nvSpPr>
        <p:spPr>
          <a:xfrm>
            <a:off x="1047750" y="9696450"/>
            <a:ext cx="16192500" cy="222885"/>
          </a:xfrm>
          <a:prstGeom prst="rect">
            <a:avLst/>
          </a:prstGeom>
        </p:spPr>
        <p:txBody>
          <a:bodyPr lIns="0" tIns="0" rIns="0" bIns="0" rtlCol="0" anchor="t">
            <a:spAutoFit/>
          </a:bodyPr>
          <a:lstStyle/>
          <a:p>
            <a:pPr algn="l">
              <a:lnSpc>
                <a:spcPts val="1889"/>
              </a:lnSpc>
            </a:pPr>
            <a:r>
              <a:rPr lang="fr-BE" sz="1350" noProof="0" dirty="0">
                <a:solidFill>
                  <a:srgbClr val="5F7187"/>
                </a:solidFill>
                <a:latin typeface="DM Sans"/>
                <a:ea typeface="DM Sans"/>
                <a:cs typeface="DM Sans"/>
                <a:sym typeface="DM Sans"/>
              </a:rPr>
              <a:t>AndromeSky — TFE Développement Web </a:t>
            </a:r>
            <a:r>
              <a:rPr lang="fr-BE" sz="1350" noProof="0" dirty="0" err="1">
                <a:solidFill>
                  <a:srgbClr val="5F7187"/>
                </a:solidFill>
                <a:latin typeface="DM Sans"/>
                <a:ea typeface="DM Sans"/>
                <a:cs typeface="DM Sans"/>
                <a:sym typeface="DM Sans"/>
              </a:rPr>
              <a:t>Front-End</a:t>
            </a:r>
            <a:r>
              <a:rPr lang="fr-BE" sz="1350" noProof="0" dirty="0">
                <a:solidFill>
                  <a:srgbClr val="5F7187"/>
                </a:solidFill>
                <a:latin typeface="DM Sans"/>
                <a:ea typeface="DM Sans"/>
                <a:cs typeface="DM Sans"/>
                <a:sym typeface="DM Sans"/>
              </a:rPr>
              <a:t>                                      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47750" y="685800"/>
            <a:ext cx="15621000" cy="554736"/>
          </a:xfrm>
          <a:prstGeom prst="rect">
            <a:avLst/>
          </a:prstGeom>
        </p:spPr>
        <p:txBody>
          <a:bodyPr lIns="0" tIns="0" rIns="0" bIns="0" rtlCol="0" anchor="t">
            <a:spAutoFit/>
          </a:bodyPr>
          <a:lstStyle/>
          <a:p>
            <a:pPr algn="l">
              <a:lnSpc>
                <a:spcPts val="4212"/>
              </a:lnSpc>
            </a:pPr>
            <a:r>
              <a:rPr lang="fr-BE" sz="3900" b="1" noProof="0" dirty="0">
                <a:solidFill>
                  <a:srgbClr val="0B2447"/>
                </a:solidFill>
                <a:latin typeface="Sinar Grotesk Bold"/>
                <a:ea typeface="Sinar Grotesk Bold"/>
                <a:cs typeface="Sinar Grotesk Bold"/>
                <a:sym typeface="Sinar Grotesk Bold"/>
              </a:rPr>
              <a:t>La carte est le point de départ de toute l’expérience</a:t>
            </a:r>
          </a:p>
        </p:txBody>
      </p:sp>
      <p:grpSp>
        <p:nvGrpSpPr>
          <p:cNvPr id="3" name="Group 3"/>
          <p:cNvGrpSpPr/>
          <p:nvPr/>
        </p:nvGrpSpPr>
        <p:grpSpPr>
          <a:xfrm>
            <a:off x="1047750" y="1428750"/>
            <a:ext cx="1123950" cy="47625"/>
            <a:chOff x="0" y="0"/>
            <a:chExt cx="1498600" cy="63500"/>
          </a:xfrm>
        </p:grpSpPr>
        <p:sp>
          <p:nvSpPr>
            <p:cNvPr id="4" name="Freeform 4"/>
            <p:cNvSpPr/>
            <p:nvPr/>
          </p:nvSpPr>
          <p:spPr>
            <a:xfrm>
              <a:off x="0" y="0"/>
              <a:ext cx="1498600" cy="63500"/>
            </a:xfrm>
            <a:custGeom>
              <a:avLst/>
              <a:gdLst/>
              <a:ahLst/>
              <a:cxnLst/>
              <a:rect l="l" t="t" r="r" b="b"/>
              <a:pathLst>
                <a:path w="1498600" h="63500">
                  <a:moveTo>
                    <a:pt x="0" y="0"/>
                  </a:moveTo>
                  <a:lnTo>
                    <a:pt x="1498600" y="0"/>
                  </a:lnTo>
                  <a:lnTo>
                    <a:pt x="1498600" y="63500"/>
                  </a:lnTo>
                  <a:lnTo>
                    <a:pt x="0" y="63500"/>
                  </a:lnTo>
                  <a:close/>
                </a:path>
              </a:pathLst>
            </a:custGeom>
            <a:solidFill>
              <a:srgbClr val="2979D8"/>
            </a:solidFill>
            <a:ln cap="sq">
              <a:noFill/>
              <a:prstDash val="solid"/>
              <a:miter/>
            </a:ln>
          </p:spPr>
          <p:txBody>
            <a:bodyPr/>
            <a:lstStyle/>
            <a:p>
              <a:endParaRPr lang="fr-BE" noProof="0" dirty="0"/>
            </a:p>
          </p:txBody>
        </p:sp>
        <p:sp>
          <p:nvSpPr>
            <p:cNvPr id="5" name="TextBox 5"/>
            <p:cNvSpPr txBox="1"/>
            <p:nvPr/>
          </p:nvSpPr>
          <p:spPr>
            <a:xfrm>
              <a:off x="0" y="-38100"/>
              <a:ext cx="1498600" cy="101600"/>
            </a:xfrm>
            <a:prstGeom prst="rect">
              <a:avLst/>
            </a:prstGeom>
          </p:spPr>
          <p:txBody>
            <a:bodyPr lIns="50800" tIns="50800" rIns="50800" bIns="50800" rtlCol="0" anchor="ctr"/>
            <a:lstStyle/>
            <a:p>
              <a:pPr algn="l">
                <a:lnSpc>
                  <a:spcPts val="1679"/>
                </a:lnSpc>
              </a:pPr>
              <a:endParaRPr lang="fr-BE" noProof="0" dirty="0"/>
            </a:p>
          </p:txBody>
        </p:sp>
      </p:grpSp>
      <p:sp>
        <p:nvSpPr>
          <p:cNvPr id="16" name="TextBox 16"/>
          <p:cNvSpPr txBox="1"/>
          <p:nvPr/>
        </p:nvSpPr>
        <p:spPr>
          <a:xfrm>
            <a:off x="11811000" y="2447925"/>
            <a:ext cx="4953000" cy="289560"/>
          </a:xfrm>
          <a:prstGeom prst="rect">
            <a:avLst/>
          </a:prstGeom>
        </p:spPr>
        <p:txBody>
          <a:bodyPr lIns="0" tIns="0" rIns="0" bIns="0" rtlCol="0" anchor="t">
            <a:spAutoFit/>
          </a:bodyPr>
          <a:lstStyle/>
          <a:p>
            <a:pPr algn="l">
              <a:lnSpc>
                <a:spcPts val="2415"/>
              </a:lnSpc>
            </a:pPr>
            <a:r>
              <a:rPr lang="fr-BE" sz="1725" b="1" spc="138" noProof="0" dirty="0">
                <a:solidFill>
                  <a:srgbClr val="2979D8"/>
                </a:solidFill>
                <a:latin typeface="DM Sans Bold"/>
                <a:ea typeface="DM Sans Bold"/>
                <a:cs typeface="DM Sans Bold"/>
                <a:sym typeface="DM Sans Bold"/>
              </a:rPr>
              <a:t>EXPLORATION LIBRE</a:t>
            </a:r>
          </a:p>
        </p:txBody>
      </p:sp>
      <p:sp>
        <p:nvSpPr>
          <p:cNvPr id="17" name="TextBox 17"/>
          <p:cNvSpPr txBox="1"/>
          <p:nvPr/>
        </p:nvSpPr>
        <p:spPr>
          <a:xfrm>
            <a:off x="11811000" y="3305175"/>
            <a:ext cx="4953000" cy="2733199"/>
          </a:xfrm>
          <a:prstGeom prst="rect">
            <a:avLst/>
          </a:prstGeom>
        </p:spPr>
        <p:txBody>
          <a:bodyPr lIns="0" tIns="0" rIns="0" bIns="0" rtlCol="0" anchor="t">
            <a:spAutoFit/>
          </a:bodyPr>
          <a:lstStyle/>
          <a:p>
            <a:pPr algn="l">
              <a:lnSpc>
                <a:spcPts val="2733"/>
              </a:lnSpc>
            </a:pPr>
            <a:r>
              <a:rPr lang="fr-BE" sz="2025" noProof="0" dirty="0">
                <a:solidFill>
                  <a:srgbClr val="0B2447"/>
                </a:solidFill>
                <a:latin typeface="DM Sans"/>
                <a:ea typeface="DM Sans"/>
                <a:cs typeface="DM Sans"/>
                <a:sym typeface="DM Sans"/>
              </a:rPr>
              <a:t>Déplacement et zoom sur le ciel.</a:t>
            </a:r>
          </a:p>
          <a:p>
            <a:pPr algn="l">
              <a:lnSpc>
                <a:spcPts val="2733"/>
              </a:lnSpc>
            </a:pPr>
            <a:endParaRPr lang="fr-BE" sz="2025" noProof="0" dirty="0">
              <a:solidFill>
                <a:srgbClr val="0B2447"/>
              </a:solidFill>
              <a:latin typeface="DM Sans"/>
              <a:ea typeface="DM Sans"/>
              <a:cs typeface="DM Sans"/>
              <a:sym typeface="DM Sans"/>
            </a:endParaRPr>
          </a:p>
          <a:p>
            <a:pPr algn="l">
              <a:lnSpc>
                <a:spcPts val="2733"/>
              </a:lnSpc>
            </a:pPr>
            <a:r>
              <a:rPr lang="fr-BE" sz="2025" noProof="0" dirty="0">
                <a:solidFill>
                  <a:srgbClr val="0B2447"/>
                </a:solidFill>
                <a:latin typeface="DM Sans"/>
                <a:ea typeface="DM Sans"/>
                <a:cs typeface="DM Sans"/>
                <a:sym typeface="DM Sans"/>
              </a:rPr>
              <a:t>Recherche et centrage automatique.</a:t>
            </a:r>
          </a:p>
          <a:p>
            <a:pPr algn="l">
              <a:lnSpc>
                <a:spcPts val="2733"/>
              </a:lnSpc>
            </a:pPr>
            <a:endParaRPr lang="fr-BE" sz="2025" noProof="0" dirty="0">
              <a:solidFill>
                <a:srgbClr val="0B2447"/>
              </a:solidFill>
              <a:latin typeface="DM Sans"/>
              <a:ea typeface="DM Sans"/>
              <a:cs typeface="DM Sans"/>
              <a:sym typeface="DM Sans"/>
            </a:endParaRPr>
          </a:p>
          <a:p>
            <a:pPr algn="l">
              <a:lnSpc>
                <a:spcPts val="2733"/>
              </a:lnSpc>
            </a:pPr>
            <a:r>
              <a:rPr lang="fr-BE" sz="2025" noProof="0" dirty="0">
                <a:solidFill>
                  <a:srgbClr val="0B2447"/>
                </a:solidFill>
                <a:latin typeface="DM Sans"/>
                <a:ea typeface="DM Sans"/>
                <a:cs typeface="DM Sans"/>
                <a:sym typeface="DM Sans"/>
              </a:rPr>
              <a:t>Constellations mises en évidence.</a:t>
            </a:r>
          </a:p>
          <a:p>
            <a:pPr algn="l">
              <a:lnSpc>
                <a:spcPts val="2733"/>
              </a:lnSpc>
            </a:pPr>
            <a:endParaRPr lang="fr-BE" sz="2025" noProof="0" dirty="0">
              <a:solidFill>
                <a:srgbClr val="0B2447"/>
              </a:solidFill>
              <a:latin typeface="DM Sans"/>
              <a:ea typeface="DM Sans"/>
              <a:cs typeface="DM Sans"/>
              <a:sym typeface="DM Sans"/>
            </a:endParaRPr>
          </a:p>
          <a:p>
            <a:pPr algn="l">
              <a:lnSpc>
                <a:spcPts val="2733"/>
              </a:lnSpc>
            </a:pPr>
            <a:r>
              <a:rPr lang="fr-BE" sz="2025" noProof="0" dirty="0">
                <a:solidFill>
                  <a:srgbClr val="0B2447"/>
                </a:solidFill>
                <a:latin typeface="DM Sans"/>
                <a:ea typeface="DM Sans"/>
                <a:cs typeface="DM Sans"/>
                <a:sym typeface="DM Sans"/>
              </a:rPr>
              <a:t>Navigation pensée aussi pour les écrans mobiles.</a:t>
            </a:r>
          </a:p>
        </p:txBody>
      </p:sp>
      <p:sp>
        <p:nvSpPr>
          <p:cNvPr id="18" name="TextBox 18"/>
          <p:cNvSpPr txBox="1"/>
          <p:nvPr/>
        </p:nvSpPr>
        <p:spPr>
          <a:xfrm>
            <a:off x="1047750" y="9696450"/>
            <a:ext cx="16192500" cy="222885"/>
          </a:xfrm>
          <a:prstGeom prst="rect">
            <a:avLst/>
          </a:prstGeom>
        </p:spPr>
        <p:txBody>
          <a:bodyPr lIns="0" tIns="0" rIns="0" bIns="0" rtlCol="0" anchor="t">
            <a:spAutoFit/>
          </a:bodyPr>
          <a:lstStyle/>
          <a:p>
            <a:pPr algn="l">
              <a:lnSpc>
                <a:spcPts val="1889"/>
              </a:lnSpc>
            </a:pPr>
            <a:r>
              <a:rPr lang="fr-BE" sz="1350" noProof="0" dirty="0">
                <a:solidFill>
                  <a:srgbClr val="5F7187"/>
                </a:solidFill>
                <a:latin typeface="DM Sans"/>
                <a:ea typeface="DM Sans"/>
                <a:cs typeface="DM Sans"/>
                <a:sym typeface="DM Sans"/>
              </a:rPr>
              <a:t>AndromeSky — TFE Développement Web </a:t>
            </a:r>
            <a:r>
              <a:rPr lang="fr-BE" sz="1350" noProof="0" dirty="0" err="1">
                <a:solidFill>
                  <a:srgbClr val="5F7187"/>
                </a:solidFill>
                <a:latin typeface="DM Sans"/>
                <a:ea typeface="DM Sans"/>
                <a:cs typeface="DM Sans"/>
                <a:sym typeface="DM Sans"/>
              </a:rPr>
              <a:t>Front-End</a:t>
            </a:r>
            <a:r>
              <a:rPr lang="fr-BE" sz="1350" noProof="0" dirty="0">
                <a:solidFill>
                  <a:srgbClr val="5F7187"/>
                </a:solidFill>
                <a:latin typeface="DM Sans"/>
                <a:ea typeface="DM Sans"/>
                <a:cs typeface="DM Sans"/>
                <a:sym typeface="DM Sans"/>
              </a:rPr>
              <a:t>                                      4</a:t>
            </a:r>
          </a:p>
        </p:txBody>
      </p:sp>
      <p:pic>
        <p:nvPicPr>
          <p:cNvPr id="22" name="Image 21">
            <a:extLst>
              <a:ext uri="{FF2B5EF4-FFF2-40B4-BE49-F238E27FC236}">
                <a16:creationId xmlns:a16="http://schemas.microsoft.com/office/drawing/2014/main" id="{BC4C147B-9372-6C32-8439-877237EB1CAC}"/>
              </a:ext>
            </a:extLst>
          </p:cNvPr>
          <p:cNvPicPr>
            <a:picLocks noChangeAspect="1"/>
          </p:cNvPicPr>
          <p:nvPr/>
        </p:nvPicPr>
        <p:blipFill>
          <a:blip r:embed="rId3"/>
          <a:stretch>
            <a:fillRect/>
          </a:stretch>
        </p:blipFill>
        <p:spPr>
          <a:xfrm>
            <a:off x="762000" y="2447925"/>
            <a:ext cx="10833537" cy="552472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47750" y="685800"/>
            <a:ext cx="15621000" cy="554736"/>
          </a:xfrm>
          <a:prstGeom prst="rect">
            <a:avLst/>
          </a:prstGeom>
        </p:spPr>
        <p:txBody>
          <a:bodyPr lIns="0" tIns="0" rIns="0" bIns="0" rtlCol="0" anchor="t">
            <a:spAutoFit/>
          </a:bodyPr>
          <a:lstStyle/>
          <a:p>
            <a:pPr algn="l">
              <a:lnSpc>
                <a:spcPts val="4212"/>
              </a:lnSpc>
            </a:pPr>
            <a:r>
              <a:rPr lang="fr-BE" sz="3900" b="1" noProof="0" dirty="0">
                <a:solidFill>
                  <a:srgbClr val="0B2447"/>
                </a:solidFill>
                <a:latin typeface="Sinar Grotesk Bold"/>
                <a:ea typeface="Sinar Grotesk Bold"/>
                <a:cs typeface="Sinar Grotesk Bold"/>
                <a:sym typeface="Sinar Grotesk Bold"/>
              </a:rPr>
              <a:t>Données locales + APIs : un contenu riche et maîtrisé</a:t>
            </a:r>
          </a:p>
        </p:txBody>
      </p:sp>
      <p:grpSp>
        <p:nvGrpSpPr>
          <p:cNvPr id="3" name="Group 3"/>
          <p:cNvGrpSpPr/>
          <p:nvPr/>
        </p:nvGrpSpPr>
        <p:grpSpPr>
          <a:xfrm>
            <a:off x="1047750" y="1428750"/>
            <a:ext cx="1123950" cy="47625"/>
            <a:chOff x="0" y="0"/>
            <a:chExt cx="1498600" cy="63500"/>
          </a:xfrm>
        </p:grpSpPr>
        <p:sp>
          <p:nvSpPr>
            <p:cNvPr id="4" name="Freeform 4"/>
            <p:cNvSpPr/>
            <p:nvPr/>
          </p:nvSpPr>
          <p:spPr>
            <a:xfrm>
              <a:off x="0" y="0"/>
              <a:ext cx="1498600" cy="63500"/>
            </a:xfrm>
            <a:custGeom>
              <a:avLst/>
              <a:gdLst/>
              <a:ahLst/>
              <a:cxnLst/>
              <a:rect l="l" t="t" r="r" b="b"/>
              <a:pathLst>
                <a:path w="1498600" h="63500">
                  <a:moveTo>
                    <a:pt x="0" y="0"/>
                  </a:moveTo>
                  <a:lnTo>
                    <a:pt x="1498600" y="0"/>
                  </a:lnTo>
                  <a:lnTo>
                    <a:pt x="1498600" y="63500"/>
                  </a:lnTo>
                  <a:lnTo>
                    <a:pt x="0" y="63500"/>
                  </a:lnTo>
                  <a:close/>
                </a:path>
              </a:pathLst>
            </a:custGeom>
            <a:solidFill>
              <a:srgbClr val="2979D8"/>
            </a:solidFill>
            <a:ln cap="sq">
              <a:noFill/>
              <a:prstDash val="solid"/>
              <a:miter/>
            </a:ln>
          </p:spPr>
          <p:txBody>
            <a:bodyPr/>
            <a:lstStyle/>
            <a:p>
              <a:endParaRPr lang="fr-BE" noProof="0" dirty="0"/>
            </a:p>
          </p:txBody>
        </p:sp>
        <p:sp>
          <p:nvSpPr>
            <p:cNvPr id="5" name="TextBox 5"/>
            <p:cNvSpPr txBox="1"/>
            <p:nvPr/>
          </p:nvSpPr>
          <p:spPr>
            <a:xfrm>
              <a:off x="0" y="-38100"/>
              <a:ext cx="1498600" cy="101600"/>
            </a:xfrm>
            <a:prstGeom prst="rect">
              <a:avLst/>
            </a:prstGeom>
          </p:spPr>
          <p:txBody>
            <a:bodyPr lIns="50800" tIns="50800" rIns="50800" bIns="50800" rtlCol="0" anchor="ctr"/>
            <a:lstStyle/>
            <a:p>
              <a:pPr algn="l">
                <a:lnSpc>
                  <a:spcPts val="1679"/>
                </a:lnSpc>
              </a:pPr>
              <a:endParaRPr lang="fr-BE" noProof="0" dirty="0"/>
            </a:p>
          </p:txBody>
        </p:sp>
      </p:grpSp>
      <p:grpSp>
        <p:nvGrpSpPr>
          <p:cNvPr id="6" name="Group 6"/>
          <p:cNvGrpSpPr/>
          <p:nvPr/>
        </p:nvGrpSpPr>
        <p:grpSpPr>
          <a:xfrm>
            <a:off x="1047750" y="2143125"/>
            <a:ext cx="4953000" cy="1905000"/>
            <a:chOff x="0" y="0"/>
            <a:chExt cx="6604000" cy="2540000"/>
          </a:xfrm>
        </p:grpSpPr>
        <p:grpSp>
          <p:nvGrpSpPr>
            <p:cNvPr id="7" name="Group 7"/>
            <p:cNvGrpSpPr/>
            <p:nvPr/>
          </p:nvGrpSpPr>
          <p:grpSpPr>
            <a:xfrm>
              <a:off x="0" y="0"/>
              <a:ext cx="6604000" cy="2540000"/>
              <a:chOff x="0" y="0"/>
              <a:chExt cx="6604000" cy="2540000"/>
            </a:xfrm>
          </p:grpSpPr>
          <p:sp>
            <p:nvSpPr>
              <p:cNvPr id="8" name="Freeform 8"/>
              <p:cNvSpPr/>
              <p:nvPr/>
            </p:nvSpPr>
            <p:spPr>
              <a:xfrm>
                <a:off x="0" y="0"/>
                <a:ext cx="6604000" cy="2540000"/>
              </a:xfrm>
              <a:custGeom>
                <a:avLst/>
                <a:gdLst/>
                <a:ahLst/>
                <a:cxnLst/>
                <a:rect l="l" t="t" r="r" b="b"/>
                <a:pathLst>
                  <a:path w="6604000" h="2540000">
                    <a:moveTo>
                      <a:pt x="0" y="0"/>
                    </a:moveTo>
                    <a:lnTo>
                      <a:pt x="6604000" y="0"/>
                    </a:lnTo>
                    <a:lnTo>
                      <a:pt x="6604000" y="2540000"/>
                    </a:lnTo>
                    <a:lnTo>
                      <a:pt x="0" y="2540000"/>
                    </a:lnTo>
                    <a:close/>
                  </a:path>
                </a:pathLst>
              </a:custGeom>
              <a:solidFill>
                <a:srgbClr val="EEF7FB"/>
              </a:solidFill>
              <a:ln cap="sq">
                <a:noFill/>
                <a:prstDash val="solid"/>
                <a:miter/>
              </a:ln>
            </p:spPr>
            <p:txBody>
              <a:bodyPr/>
              <a:lstStyle/>
              <a:p>
                <a:endParaRPr lang="fr-BE" noProof="0" dirty="0"/>
              </a:p>
            </p:txBody>
          </p:sp>
          <p:sp>
            <p:nvSpPr>
              <p:cNvPr id="9" name="TextBox 9"/>
              <p:cNvSpPr txBox="1"/>
              <p:nvPr/>
            </p:nvSpPr>
            <p:spPr>
              <a:xfrm>
                <a:off x="0" y="-38100"/>
                <a:ext cx="6604000" cy="2578100"/>
              </a:xfrm>
              <a:prstGeom prst="rect">
                <a:avLst/>
              </a:prstGeom>
            </p:spPr>
            <p:txBody>
              <a:bodyPr lIns="50800" tIns="50800" rIns="50800" bIns="50800" rtlCol="0" anchor="ctr"/>
              <a:lstStyle/>
              <a:p>
                <a:pPr algn="l">
                  <a:lnSpc>
                    <a:spcPts val="1679"/>
                  </a:lnSpc>
                </a:pPr>
                <a:endParaRPr lang="fr-BE" noProof="0" dirty="0"/>
              </a:p>
            </p:txBody>
          </p:sp>
        </p:grpSp>
        <p:sp>
          <p:nvSpPr>
            <p:cNvPr id="10" name="TextBox 10"/>
            <p:cNvSpPr txBox="1"/>
            <p:nvPr/>
          </p:nvSpPr>
          <p:spPr>
            <a:xfrm>
              <a:off x="0" y="212725"/>
              <a:ext cx="6604000" cy="1247775"/>
            </a:xfrm>
            <a:prstGeom prst="rect">
              <a:avLst/>
            </a:prstGeom>
          </p:spPr>
          <p:txBody>
            <a:bodyPr lIns="0" tIns="0" rIns="0" bIns="0" rtlCol="0" anchor="t">
              <a:spAutoFit/>
            </a:bodyPr>
            <a:lstStyle/>
            <a:p>
              <a:pPr algn="ctr">
                <a:lnSpc>
                  <a:spcPts val="7875"/>
                </a:lnSpc>
              </a:pPr>
              <a:r>
                <a:rPr lang="fr-BE" sz="5625" b="1" noProof="0" dirty="0">
                  <a:solidFill>
                    <a:srgbClr val="2979D8"/>
                  </a:solidFill>
                  <a:latin typeface="Sinar Grotesk Bold"/>
                  <a:ea typeface="Sinar Grotesk Bold"/>
                  <a:cs typeface="Sinar Grotesk Bold"/>
                  <a:sym typeface="Sinar Grotesk Bold"/>
                </a:rPr>
                <a:t>110</a:t>
              </a:r>
            </a:p>
          </p:txBody>
        </p:sp>
        <p:sp>
          <p:nvSpPr>
            <p:cNvPr id="11" name="TextBox 11"/>
            <p:cNvSpPr txBox="1"/>
            <p:nvPr/>
          </p:nvSpPr>
          <p:spPr>
            <a:xfrm>
              <a:off x="0" y="1485900"/>
              <a:ext cx="6604000" cy="419100"/>
            </a:xfrm>
            <a:prstGeom prst="rect">
              <a:avLst/>
            </a:prstGeom>
          </p:spPr>
          <p:txBody>
            <a:bodyPr lIns="0" tIns="0" rIns="0" bIns="0" rtlCol="0" anchor="t">
              <a:spAutoFit/>
            </a:bodyPr>
            <a:lstStyle/>
            <a:p>
              <a:pPr algn="ctr">
                <a:lnSpc>
                  <a:spcPts val="2625"/>
                </a:lnSpc>
              </a:pPr>
              <a:r>
                <a:rPr lang="fr-BE" sz="1875" noProof="0" dirty="0">
                  <a:solidFill>
                    <a:srgbClr val="0B2447"/>
                  </a:solidFill>
                  <a:latin typeface="DM Sans"/>
                  <a:ea typeface="DM Sans"/>
                  <a:cs typeface="DM Sans"/>
                  <a:sym typeface="DM Sans"/>
                </a:rPr>
                <a:t>objets Messier</a:t>
              </a:r>
            </a:p>
          </p:txBody>
        </p:sp>
      </p:grpSp>
      <p:grpSp>
        <p:nvGrpSpPr>
          <p:cNvPr id="12" name="Group 12"/>
          <p:cNvGrpSpPr/>
          <p:nvPr/>
        </p:nvGrpSpPr>
        <p:grpSpPr>
          <a:xfrm>
            <a:off x="1047750" y="5238750"/>
            <a:ext cx="4953000" cy="2857500"/>
            <a:chOff x="0" y="0"/>
            <a:chExt cx="6604000" cy="3810000"/>
          </a:xfrm>
        </p:grpSpPr>
        <p:grpSp>
          <p:nvGrpSpPr>
            <p:cNvPr id="13" name="Group 13"/>
            <p:cNvGrpSpPr/>
            <p:nvPr/>
          </p:nvGrpSpPr>
          <p:grpSpPr>
            <a:xfrm>
              <a:off x="0" y="0"/>
              <a:ext cx="6604000" cy="3810000"/>
              <a:chOff x="0" y="0"/>
              <a:chExt cx="6604000" cy="3810000"/>
            </a:xfrm>
          </p:grpSpPr>
          <p:sp>
            <p:nvSpPr>
              <p:cNvPr id="14" name="Freeform 14"/>
              <p:cNvSpPr/>
              <p:nvPr/>
            </p:nvSpPr>
            <p:spPr>
              <a:xfrm>
                <a:off x="0" y="0"/>
                <a:ext cx="6604000" cy="3810000"/>
              </a:xfrm>
              <a:custGeom>
                <a:avLst/>
                <a:gdLst/>
                <a:ahLst/>
                <a:cxnLst/>
                <a:rect l="l" t="t" r="r" b="b"/>
                <a:pathLst>
                  <a:path w="6604000" h="3810000">
                    <a:moveTo>
                      <a:pt x="0" y="0"/>
                    </a:moveTo>
                    <a:lnTo>
                      <a:pt x="6604000" y="0"/>
                    </a:lnTo>
                    <a:lnTo>
                      <a:pt x="6604000" y="3810000"/>
                    </a:lnTo>
                    <a:lnTo>
                      <a:pt x="0" y="3810000"/>
                    </a:lnTo>
                    <a:close/>
                  </a:path>
                </a:pathLst>
              </a:custGeom>
              <a:solidFill>
                <a:srgbClr val="F7FBFD"/>
              </a:solidFill>
              <a:ln cap="sq">
                <a:noFill/>
                <a:prstDash val="solid"/>
                <a:miter/>
              </a:ln>
            </p:spPr>
            <p:txBody>
              <a:bodyPr/>
              <a:lstStyle/>
              <a:p>
                <a:endParaRPr lang="fr-BE" noProof="0" dirty="0"/>
              </a:p>
            </p:txBody>
          </p:sp>
          <p:sp>
            <p:nvSpPr>
              <p:cNvPr id="15" name="TextBox 15"/>
              <p:cNvSpPr txBox="1"/>
              <p:nvPr/>
            </p:nvSpPr>
            <p:spPr>
              <a:xfrm>
                <a:off x="0" y="-38100"/>
                <a:ext cx="6604000" cy="3848100"/>
              </a:xfrm>
              <a:prstGeom prst="rect">
                <a:avLst/>
              </a:prstGeom>
            </p:spPr>
            <p:txBody>
              <a:bodyPr lIns="50800" tIns="50800" rIns="50800" bIns="50800" rtlCol="0" anchor="ctr"/>
              <a:lstStyle/>
              <a:p>
                <a:pPr algn="l">
                  <a:lnSpc>
                    <a:spcPts val="1679"/>
                  </a:lnSpc>
                </a:pPr>
                <a:endParaRPr lang="fr-BE" noProof="0" dirty="0"/>
              </a:p>
            </p:txBody>
          </p:sp>
        </p:grpSp>
        <p:sp>
          <p:nvSpPr>
            <p:cNvPr id="16" name="TextBox 16"/>
            <p:cNvSpPr txBox="1"/>
            <p:nvPr/>
          </p:nvSpPr>
          <p:spPr>
            <a:xfrm>
              <a:off x="444500" y="479425"/>
              <a:ext cx="5715000" cy="376555"/>
            </a:xfrm>
            <a:prstGeom prst="rect">
              <a:avLst/>
            </a:prstGeom>
          </p:spPr>
          <p:txBody>
            <a:bodyPr lIns="0" tIns="0" rIns="0" bIns="0" rtlCol="0" anchor="t">
              <a:spAutoFit/>
            </a:bodyPr>
            <a:lstStyle/>
            <a:p>
              <a:pPr algn="l">
                <a:lnSpc>
                  <a:spcPts val="2415"/>
                </a:lnSpc>
              </a:pPr>
              <a:r>
                <a:rPr lang="fr-BE" sz="1725" b="1" spc="138" noProof="0" dirty="0">
                  <a:solidFill>
                    <a:srgbClr val="2979D8"/>
                  </a:solidFill>
                  <a:latin typeface="DM Sans Bold"/>
                  <a:ea typeface="DM Sans Bold"/>
                  <a:cs typeface="DM Sans Bold"/>
                  <a:sym typeface="DM Sans Bold"/>
                </a:rPr>
                <a:t>JSON LOCAL</a:t>
              </a:r>
            </a:p>
          </p:txBody>
        </p:sp>
        <p:sp>
          <p:nvSpPr>
            <p:cNvPr id="17" name="TextBox 17"/>
            <p:cNvSpPr txBox="1"/>
            <p:nvPr/>
          </p:nvSpPr>
          <p:spPr>
            <a:xfrm>
              <a:off x="444500" y="1368425"/>
              <a:ext cx="5715000" cy="906831"/>
            </a:xfrm>
            <a:prstGeom prst="rect">
              <a:avLst/>
            </a:prstGeom>
          </p:spPr>
          <p:txBody>
            <a:bodyPr lIns="0" tIns="0" rIns="0" bIns="0" rtlCol="0" anchor="t">
              <a:spAutoFit/>
            </a:bodyPr>
            <a:lstStyle/>
            <a:p>
              <a:pPr algn="l">
                <a:lnSpc>
                  <a:spcPts val="2733"/>
                </a:lnSpc>
              </a:pPr>
              <a:r>
                <a:rPr lang="fr-BE" sz="2025" dirty="0">
                  <a:solidFill>
                    <a:srgbClr val="0B2447"/>
                  </a:solidFill>
                  <a:latin typeface="DM Sans"/>
                  <a:ea typeface="DM Sans"/>
                  <a:cs typeface="DM Sans"/>
                  <a:sym typeface="DM Sans"/>
                </a:rPr>
                <a:t>C</a:t>
              </a:r>
              <a:r>
                <a:rPr lang="fr-BE" sz="2025" noProof="0" dirty="0" err="1">
                  <a:solidFill>
                    <a:srgbClr val="0B2447"/>
                  </a:solidFill>
                  <a:latin typeface="DM Sans"/>
                  <a:ea typeface="DM Sans"/>
                  <a:cs typeface="DM Sans"/>
                  <a:sym typeface="DM Sans"/>
                </a:rPr>
                <a:t>oordonnées</a:t>
              </a:r>
              <a:r>
                <a:rPr lang="fr-BE" sz="2025" noProof="0" dirty="0">
                  <a:solidFill>
                    <a:srgbClr val="0B2447"/>
                  </a:solidFill>
                  <a:latin typeface="DM Sans"/>
                  <a:ea typeface="DM Sans"/>
                  <a:cs typeface="DM Sans"/>
                  <a:sym typeface="DM Sans"/>
                </a:rPr>
                <a:t>, types, alias et constellations</a:t>
              </a:r>
            </a:p>
          </p:txBody>
        </p:sp>
      </p:grpSp>
      <p:grpSp>
        <p:nvGrpSpPr>
          <p:cNvPr id="18" name="Group 18"/>
          <p:cNvGrpSpPr/>
          <p:nvPr/>
        </p:nvGrpSpPr>
        <p:grpSpPr>
          <a:xfrm>
            <a:off x="6524625" y="2143125"/>
            <a:ext cx="4953000" cy="1905000"/>
            <a:chOff x="0" y="0"/>
            <a:chExt cx="6604000" cy="2540000"/>
          </a:xfrm>
        </p:grpSpPr>
        <p:grpSp>
          <p:nvGrpSpPr>
            <p:cNvPr id="19" name="Group 19"/>
            <p:cNvGrpSpPr/>
            <p:nvPr/>
          </p:nvGrpSpPr>
          <p:grpSpPr>
            <a:xfrm>
              <a:off x="0" y="0"/>
              <a:ext cx="6604000" cy="2540000"/>
              <a:chOff x="0" y="0"/>
              <a:chExt cx="6604000" cy="2540000"/>
            </a:xfrm>
          </p:grpSpPr>
          <p:sp>
            <p:nvSpPr>
              <p:cNvPr id="20" name="Freeform 20"/>
              <p:cNvSpPr/>
              <p:nvPr/>
            </p:nvSpPr>
            <p:spPr>
              <a:xfrm>
                <a:off x="0" y="0"/>
                <a:ext cx="6604000" cy="2540000"/>
              </a:xfrm>
              <a:custGeom>
                <a:avLst/>
                <a:gdLst/>
                <a:ahLst/>
                <a:cxnLst/>
                <a:rect l="l" t="t" r="r" b="b"/>
                <a:pathLst>
                  <a:path w="6604000" h="2540000">
                    <a:moveTo>
                      <a:pt x="0" y="0"/>
                    </a:moveTo>
                    <a:lnTo>
                      <a:pt x="6604000" y="0"/>
                    </a:lnTo>
                    <a:lnTo>
                      <a:pt x="6604000" y="2540000"/>
                    </a:lnTo>
                    <a:lnTo>
                      <a:pt x="0" y="2540000"/>
                    </a:lnTo>
                    <a:close/>
                  </a:path>
                </a:pathLst>
              </a:custGeom>
              <a:solidFill>
                <a:srgbClr val="EEF7FB"/>
              </a:solidFill>
              <a:ln cap="sq">
                <a:noFill/>
                <a:prstDash val="solid"/>
                <a:miter/>
              </a:ln>
            </p:spPr>
            <p:txBody>
              <a:bodyPr/>
              <a:lstStyle/>
              <a:p>
                <a:endParaRPr lang="fr-BE" noProof="0" dirty="0"/>
              </a:p>
            </p:txBody>
          </p:sp>
          <p:sp>
            <p:nvSpPr>
              <p:cNvPr id="21" name="TextBox 21"/>
              <p:cNvSpPr txBox="1"/>
              <p:nvPr/>
            </p:nvSpPr>
            <p:spPr>
              <a:xfrm>
                <a:off x="0" y="-38100"/>
                <a:ext cx="6604000" cy="2578100"/>
              </a:xfrm>
              <a:prstGeom prst="rect">
                <a:avLst/>
              </a:prstGeom>
            </p:spPr>
            <p:txBody>
              <a:bodyPr lIns="50800" tIns="50800" rIns="50800" bIns="50800" rtlCol="0" anchor="ctr"/>
              <a:lstStyle/>
              <a:p>
                <a:pPr algn="l">
                  <a:lnSpc>
                    <a:spcPts val="1679"/>
                  </a:lnSpc>
                </a:pPr>
                <a:endParaRPr lang="fr-BE" noProof="0" dirty="0"/>
              </a:p>
            </p:txBody>
          </p:sp>
        </p:grpSp>
        <p:sp>
          <p:nvSpPr>
            <p:cNvPr id="22" name="TextBox 22"/>
            <p:cNvSpPr txBox="1"/>
            <p:nvPr/>
          </p:nvSpPr>
          <p:spPr>
            <a:xfrm>
              <a:off x="0" y="212725"/>
              <a:ext cx="6604000" cy="1247775"/>
            </a:xfrm>
            <a:prstGeom prst="rect">
              <a:avLst/>
            </a:prstGeom>
          </p:spPr>
          <p:txBody>
            <a:bodyPr lIns="0" tIns="0" rIns="0" bIns="0" rtlCol="0" anchor="t">
              <a:spAutoFit/>
            </a:bodyPr>
            <a:lstStyle/>
            <a:p>
              <a:pPr algn="ctr">
                <a:lnSpc>
                  <a:spcPts val="7875"/>
                </a:lnSpc>
              </a:pPr>
              <a:r>
                <a:rPr lang="fr-BE" sz="5625" b="1" noProof="0" dirty="0">
                  <a:solidFill>
                    <a:srgbClr val="25C7B7"/>
                  </a:solidFill>
                  <a:latin typeface="Sinar Grotesk Bold"/>
                  <a:ea typeface="Sinar Grotesk Bold"/>
                  <a:cs typeface="Sinar Grotesk Bold"/>
                  <a:sym typeface="Sinar Grotesk Bold"/>
                </a:rPr>
                <a:t>1 000+</a:t>
              </a:r>
            </a:p>
          </p:txBody>
        </p:sp>
        <p:sp>
          <p:nvSpPr>
            <p:cNvPr id="23" name="TextBox 23"/>
            <p:cNvSpPr txBox="1"/>
            <p:nvPr/>
          </p:nvSpPr>
          <p:spPr>
            <a:xfrm>
              <a:off x="0" y="1485900"/>
              <a:ext cx="6604000" cy="419100"/>
            </a:xfrm>
            <a:prstGeom prst="rect">
              <a:avLst/>
            </a:prstGeom>
          </p:spPr>
          <p:txBody>
            <a:bodyPr lIns="0" tIns="0" rIns="0" bIns="0" rtlCol="0" anchor="t">
              <a:spAutoFit/>
            </a:bodyPr>
            <a:lstStyle/>
            <a:p>
              <a:pPr algn="ctr">
                <a:lnSpc>
                  <a:spcPts val="2625"/>
                </a:lnSpc>
              </a:pPr>
              <a:r>
                <a:rPr lang="fr-BE" sz="1875" noProof="0" dirty="0">
                  <a:solidFill>
                    <a:srgbClr val="0B2447"/>
                  </a:solidFill>
                  <a:latin typeface="DM Sans"/>
                  <a:ea typeface="DM Sans"/>
                  <a:cs typeface="DM Sans"/>
                  <a:sym typeface="DM Sans"/>
                </a:rPr>
                <a:t>objets du catalogue</a:t>
              </a:r>
            </a:p>
          </p:txBody>
        </p:sp>
      </p:grpSp>
      <p:grpSp>
        <p:nvGrpSpPr>
          <p:cNvPr id="24" name="Group 24"/>
          <p:cNvGrpSpPr/>
          <p:nvPr/>
        </p:nvGrpSpPr>
        <p:grpSpPr>
          <a:xfrm>
            <a:off x="6524625" y="5238750"/>
            <a:ext cx="4953000" cy="2857500"/>
            <a:chOff x="0" y="0"/>
            <a:chExt cx="6604000" cy="3810000"/>
          </a:xfrm>
        </p:grpSpPr>
        <p:grpSp>
          <p:nvGrpSpPr>
            <p:cNvPr id="25" name="Group 25"/>
            <p:cNvGrpSpPr/>
            <p:nvPr/>
          </p:nvGrpSpPr>
          <p:grpSpPr>
            <a:xfrm>
              <a:off x="0" y="0"/>
              <a:ext cx="6604000" cy="3810000"/>
              <a:chOff x="0" y="0"/>
              <a:chExt cx="6604000" cy="3810000"/>
            </a:xfrm>
          </p:grpSpPr>
          <p:sp>
            <p:nvSpPr>
              <p:cNvPr id="26" name="Freeform 26"/>
              <p:cNvSpPr/>
              <p:nvPr/>
            </p:nvSpPr>
            <p:spPr>
              <a:xfrm>
                <a:off x="0" y="0"/>
                <a:ext cx="6604000" cy="3810000"/>
              </a:xfrm>
              <a:custGeom>
                <a:avLst/>
                <a:gdLst/>
                <a:ahLst/>
                <a:cxnLst/>
                <a:rect l="l" t="t" r="r" b="b"/>
                <a:pathLst>
                  <a:path w="6604000" h="3810000">
                    <a:moveTo>
                      <a:pt x="0" y="0"/>
                    </a:moveTo>
                    <a:lnTo>
                      <a:pt x="6604000" y="0"/>
                    </a:lnTo>
                    <a:lnTo>
                      <a:pt x="6604000" y="3810000"/>
                    </a:lnTo>
                    <a:lnTo>
                      <a:pt x="0" y="3810000"/>
                    </a:lnTo>
                    <a:close/>
                  </a:path>
                </a:pathLst>
              </a:custGeom>
              <a:solidFill>
                <a:srgbClr val="F7FBFD"/>
              </a:solidFill>
              <a:ln cap="sq">
                <a:noFill/>
                <a:prstDash val="solid"/>
                <a:miter/>
              </a:ln>
            </p:spPr>
            <p:txBody>
              <a:bodyPr/>
              <a:lstStyle/>
              <a:p>
                <a:endParaRPr lang="fr-BE" noProof="0" dirty="0"/>
              </a:p>
            </p:txBody>
          </p:sp>
          <p:sp>
            <p:nvSpPr>
              <p:cNvPr id="27" name="TextBox 27"/>
              <p:cNvSpPr txBox="1"/>
              <p:nvPr/>
            </p:nvSpPr>
            <p:spPr>
              <a:xfrm>
                <a:off x="0" y="-38100"/>
                <a:ext cx="6604000" cy="3848100"/>
              </a:xfrm>
              <a:prstGeom prst="rect">
                <a:avLst/>
              </a:prstGeom>
            </p:spPr>
            <p:txBody>
              <a:bodyPr lIns="50800" tIns="50800" rIns="50800" bIns="50800" rtlCol="0" anchor="ctr"/>
              <a:lstStyle/>
              <a:p>
                <a:pPr algn="l">
                  <a:lnSpc>
                    <a:spcPts val="1679"/>
                  </a:lnSpc>
                </a:pPr>
                <a:endParaRPr lang="fr-BE" noProof="0" dirty="0"/>
              </a:p>
            </p:txBody>
          </p:sp>
        </p:grpSp>
        <p:sp>
          <p:nvSpPr>
            <p:cNvPr id="28" name="TextBox 28"/>
            <p:cNvSpPr txBox="1"/>
            <p:nvPr/>
          </p:nvSpPr>
          <p:spPr>
            <a:xfrm>
              <a:off x="444500" y="479425"/>
              <a:ext cx="5715000" cy="376555"/>
            </a:xfrm>
            <a:prstGeom prst="rect">
              <a:avLst/>
            </a:prstGeom>
          </p:spPr>
          <p:txBody>
            <a:bodyPr lIns="0" tIns="0" rIns="0" bIns="0" rtlCol="0" anchor="t">
              <a:spAutoFit/>
            </a:bodyPr>
            <a:lstStyle/>
            <a:p>
              <a:pPr algn="l">
                <a:lnSpc>
                  <a:spcPts val="2415"/>
                </a:lnSpc>
              </a:pPr>
              <a:r>
                <a:rPr lang="fr-BE" sz="1725" b="1" spc="138" noProof="0" dirty="0">
                  <a:solidFill>
                    <a:srgbClr val="2979D8"/>
                  </a:solidFill>
                  <a:latin typeface="DM Sans Bold"/>
                  <a:ea typeface="DM Sans Bold"/>
                  <a:cs typeface="DM Sans Bold"/>
                  <a:sym typeface="DM Sans Bold"/>
                </a:rPr>
                <a:t>WIKIPÉDIA</a:t>
              </a:r>
            </a:p>
          </p:txBody>
        </p:sp>
        <p:sp>
          <p:nvSpPr>
            <p:cNvPr id="29" name="TextBox 29"/>
            <p:cNvSpPr txBox="1"/>
            <p:nvPr/>
          </p:nvSpPr>
          <p:spPr>
            <a:xfrm>
              <a:off x="444500" y="1368425"/>
              <a:ext cx="5715000" cy="906831"/>
            </a:xfrm>
            <a:prstGeom prst="rect">
              <a:avLst/>
            </a:prstGeom>
          </p:spPr>
          <p:txBody>
            <a:bodyPr lIns="0" tIns="0" rIns="0" bIns="0" rtlCol="0" anchor="t">
              <a:spAutoFit/>
            </a:bodyPr>
            <a:lstStyle/>
            <a:p>
              <a:pPr algn="l">
                <a:lnSpc>
                  <a:spcPts val="2733"/>
                </a:lnSpc>
              </a:pPr>
              <a:r>
                <a:rPr lang="fr-BE" sz="2025" dirty="0">
                  <a:solidFill>
                    <a:srgbClr val="0B2447"/>
                  </a:solidFill>
                  <a:latin typeface="DM Sans"/>
                  <a:ea typeface="DM Sans"/>
                  <a:cs typeface="DM Sans"/>
                  <a:sym typeface="DM Sans"/>
                </a:rPr>
                <a:t>R</a:t>
              </a:r>
              <a:r>
                <a:rPr lang="fr-BE" sz="2025" noProof="0" dirty="0" err="1">
                  <a:solidFill>
                    <a:srgbClr val="0B2447"/>
                  </a:solidFill>
                  <a:latin typeface="DM Sans"/>
                  <a:ea typeface="DM Sans"/>
                  <a:cs typeface="DM Sans"/>
                  <a:sym typeface="DM Sans"/>
                </a:rPr>
                <a:t>echerche</a:t>
              </a:r>
              <a:r>
                <a:rPr lang="fr-BE" sz="2025" noProof="0" dirty="0">
                  <a:solidFill>
                    <a:srgbClr val="0B2447"/>
                  </a:solidFill>
                  <a:latin typeface="DM Sans"/>
                  <a:ea typeface="DM Sans"/>
                  <a:cs typeface="DM Sans"/>
                  <a:sym typeface="DM Sans"/>
                </a:rPr>
                <a:t> par alias et sélection de la page pertinente</a:t>
              </a:r>
            </a:p>
          </p:txBody>
        </p:sp>
      </p:grpSp>
      <p:grpSp>
        <p:nvGrpSpPr>
          <p:cNvPr id="30" name="Group 30"/>
          <p:cNvGrpSpPr/>
          <p:nvPr/>
        </p:nvGrpSpPr>
        <p:grpSpPr>
          <a:xfrm>
            <a:off x="12001500" y="2143125"/>
            <a:ext cx="4953000" cy="1905000"/>
            <a:chOff x="0" y="0"/>
            <a:chExt cx="6604000" cy="2540000"/>
          </a:xfrm>
        </p:grpSpPr>
        <p:grpSp>
          <p:nvGrpSpPr>
            <p:cNvPr id="31" name="Group 31"/>
            <p:cNvGrpSpPr/>
            <p:nvPr/>
          </p:nvGrpSpPr>
          <p:grpSpPr>
            <a:xfrm>
              <a:off x="0" y="0"/>
              <a:ext cx="6604000" cy="2540000"/>
              <a:chOff x="0" y="0"/>
              <a:chExt cx="6604000" cy="2540000"/>
            </a:xfrm>
          </p:grpSpPr>
          <p:sp>
            <p:nvSpPr>
              <p:cNvPr id="32" name="Freeform 32"/>
              <p:cNvSpPr/>
              <p:nvPr/>
            </p:nvSpPr>
            <p:spPr>
              <a:xfrm>
                <a:off x="0" y="0"/>
                <a:ext cx="6604000" cy="2540000"/>
              </a:xfrm>
              <a:custGeom>
                <a:avLst/>
                <a:gdLst/>
                <a:ahLst/>
                <a:cxnLst/>
                <a:rect l="l" t="t" r="r" b="b"/>
                <a:pathLst>
                  <a:path w="6604000" h="2540000">
                    <a:moveTo>
                      <a:pt x="0" y="0"/>
                    </a:moveTo>
                    <a:lnTo>
                      <a:pt x="6604000" y="0"/>
                    </a:lnTo>
                    <a:lnTo>
                      <a:pt x="6604000" y="2540000"/>
                    </a:lnTo>
                    <a:lnTo>
                      <a:pt x="0" y="2540000"/>
                    </a:lnTo>
                    <a:close/>
                  </a:path>
                </a:pathLst>
              </a:custGeom>
              <a:solidFill>
                <a:srgbClr val="EEF7FB"/>
              </a:solidFill>
              <a:ln cap="sq">
                <a:noFill/>
                <a:prstDash val="solid"/>
                <a:miter/>
              </a:ln>
            </p:spPr>
            <p:txBody>
              <a:bodyPr/>
              <a:lstStyle/>
              <a:p>
                <a:endParaRPr lang="fr-BE" noProof="0" dirty="0"/>
              </a:p>
            </p:txBody>
          </p:sp>
          <p:sp>
            <p:nvSpPr>
              <p:cNvPr id="33" name="TextBox 33"/>
              <p:cNvSpPr txBox="1"/>
              <p:nvPr/>
            </p:nvSpPr>
            <p:spPr>
              <a:xfrm>
                <a:off x="0" y="-38100"/>
                <a:ext cx="6604000" cy="2578100"/>
              </a:xfrm>
              <a:prstGeom prst="rect">
                <a:avLst/>
              </a:prstGeom>
            </p:spPr>
            <p:txBody>
              <a:bodyPr lIns="50800" tIns="50800" rIns="50800" bIns="50800" rtlCol="0" anchor="ctr"/>
              <a:lstStyle/>
              <a:p>
                <a:pPr algn="l">
                  <a:lnSpc>
                    <a:spcPts val="1679"/>
                  </a:lnSpc>
                </a:pPr>
                <a:endParaRPr lang="fr-BE" noProof="0" dirty="0"/>
              </a:p>
            </p:txBody>
          </p:sp>
        </p:grpSp>
        <p:sp>
          <p:nvSpPr>
            <p:cNvPr id="34" name="TextBox 34"/>
            <p:cNvSpPr txBox="1"/>
            <p:nvPr/>
          </p:nvSpPr>
          <p:spPr>
            <a:xfrm>
              <a:off x="0" y="212725"/>
              <a:ext cx="6604000" cy="1247775"/>
            </a:xfrm>
            <a:prstGeom prst="rect">
              <a:avLst/>
            </a:prstGeom>
          </p:spPr>
          <p:txBody>
            <a:bodyPr lIns="0" tIns="0" rIns="0" bIns="0" rtlCol="0" anchor="t">
              <a:spAutoFit/>
            </a:bodyPr>
            <a:lstStyle/>
            <a:p>
              <a:pPr algn="ctr">
                <a:lnSpc>
                  <a:spcPts val="7875"/>
                </a:lnSpc>
              </a:pPr>
              <a:r>
                <a:rPr lang="fr-BE" sz="5625" b="1" noProof="0" dirty="0">
                  <a:solidFill>
                    <a:srgbClr val="2979D8"/>
                  </a:solidFill>
                  <a:latin typeface="Sinar Grotesk Bold"/>
                  <a:ea typeface="Sinar Grotesk Bold"/>
                  <a:cs typeface="Sinar Grotesk Bold"/>
                  <a:sym typeface="Sinar Grotesk Bold"/>
                </a:rPr>
                <a:t>69</a:t>
              </a:r>
            </a:p>
          </p:txBody>
        </p:sp>
        <p:sp>
          <p:nvSpPr>
            <p:cNvPr id="35" name="TextBox 35"/>
            <p:cNvSpPr txBox="1"/>
            <p:nvPr/>
          </p:nvSpPr>
          <p:spPr>
            <a:xfrm>
              <a:off x="0" y="1485900"/>
              <a:ext cx="6604000" cy="419100"/>
            </a:xfrm>
            <a:prstGeom prst="rect">
              <a:avLst/>
            </a:prstGeom>
          </p:spPr>
          <p:txBody>
            <a:bodyPr lIns="0" tIns="0" rIns="0" bIns="0" rtlCol="0" anchor="t">
              <a:spAutoFit/>
            </a:bodyPr>
            <a:lstStyle/>
            <a:p>
              <a:pPr algn="ctr">
                <a:lnSpc>
                  <a:spcPts val="2625"/>
                </a:lnSpc>
              </a:pPr>
              <a:r>
                <a:rPr lang="fr-BE" sz="1875" noProof="0" dirty="0">
                  <a:solidFill>
                    <a:srgbClr val="0B2447"/>
                  </a:solidFill>
                  <a:latin typeface="DM Sans"/>
                  <a:ea typeface="DM Sans"/>
                  <a:cs typeface="DM Sans"/>
                  <a:sym typeface="DM Sans"/>
                </a:rPr>
                <a:t>constellations tracées</a:t>
              </a:r>
            </a:p>
          </p:txBody>
        </p:sp>
      </p:grpSp>
      <p:grpSp>
        <p:nvGrpSpPr>
          <p:cNvPr id="36" name="Group 36"/>
          <p:cNvGrpSpPr/>
          <p:nvPr/>
        </p:nvGrpSpPr>
        <p:grpSpPr>
          <a:xfrm>
            <a:off x="12001500" y="5238750"/>
            <a:ext cx="4953000" cy="2857500"/>
            <a:chOff x="0" y="0"/>
            <a:chExt cx="6604000" cy="3810000"/>
          </a:xfrm>
        </p:grpSpPr>
        <p:grpSp>
          <p:nvGrpSpPr>
            <p:cNvPr id="37" name="Group 37"/>
            <p:cNvGrpSpPr/>
            <p:nvPr/>
          </p:nvGrpSpPr>
          <p:grpSpPr>
            <a:xfrm>
              <a:off x="0" y="0"/>
              <a:ext cx="6604000" cy="3810000"/>
              <a:chOff x="0" y="0"/>
              <a:chExt cx="6604000" cy="3810000"/>
            </a:xfrm>
          </p:grpSpPr>
          <p:sp>
            <p:nvSpPr>
              <p:cNvPr id="38" name="Freeform 38"/>
              <p:cNvSpPr/>
              <p:nvPr/>
            </p:nvSpPr>
            <p:spPr>
              <a:xfrm>
                <a:off x="0" y="0"/>
                <a:ext cx="6604000" cy="3810000"/>
              </a:xfrm>
              <a:custGeom>
                <a:avLst/>
                <a:gdLst/>
                <a:ahLst/>
                <a:cxnLst/>
                <a:rect l="l" t="t" r="r" b="b"/>
                <a:pathLst>
                  <a:path w="6604000" h="3810000">
                    <a:moveTo>
                      <a:pt x="0" y="0"/>
                    </a:moveTo>
                    <a:lnTo>
                      <a:pt x="6604000" y="0"/>
                    </a:lnTo>
                    <a:lnTo>
                      <a:pt x="6604000" y="3810000"/>
                    </a:lnTo>
                    <a:lnTo>
                      <a:pt x="0" y="3810000"/>
                    </a:lnTo>
                    <a:close/>
                  </a:path>
                </a:pathLst>
              </a:custGeom>
              <a:solidFill>
                <a:srgbClr val="F7FBFD"/>
              </a:solidFill>
              <a:ln cap="sq">
                <a:noFill/>
                <a:prstDash val="solid"/>
                <a:miter/>
              </a:ln>
            </p:spPr>
            <p:txBody>
              <a:bodyPr/>
              <a:lstStyle/>
              <a:p>
                <a:endParaRPr lang="fr-BE" noProof="0" dirty="0"/>
              </a:p>
            </p:txBody>
          </p:sp>
          <p:sp>
            <p:nvSpPr>
              <p:cNvPr id="39" name="TextBox 39"/>
              <p:cNvSpPr txBox="1"/>
              <p:nvPr/>
            </p:nvSpPr>
            <p:spPr>
              <a:xfrm>
                <a:off x="0" y="-38100"/>
                <a:ext cx="6604000" cy="3848100"/>
              </a:xfrm>
              <a:prstGeom prst="rect">
                <a:avLst/>
              </a:prstGeom>
            </p:spPr>
            <p:txBody>
              <a:bodyPr lIns="50800" tIns="50800" rIns="50800" bIns="50800" rtlCol="0" anchor="ctr"/>
              <a:lstStyle/>
              <a:p>
                <a:pPr algn="l">
                  <a:lnSpc>
                    <a:spcPts val="1679"/>
                  </a:lnSpc>
                </a:pPr>
                <a:endParaRPr lang="fr-BE" noProof="0" dirty="0"/>
              </a:p>
            </p:txBody>
          </p:sp>
        </p:grpSp>
        <p:sp>
          <p:nvSpPr>
            <p:cNvPr id="40" name="TextBox 40"/>
            <p:cNvSpPr txBox="1"/>
            <p:nvPr/>
          </p:nvSpPr>
          <p:spPr>
            <a:xfrm>
              <a:off x="444500" y="479425"/>
              <a:ext cx="5715000" cy="376555"/>
            </a:xfrm>
            <a:prstGeom prst="rect">
              <a:avLst/>
            </a:prstGeom>
          </p:spPr>
          <p:txBody>
            <a:bodyPr lIns="0" tIns="0" rIns="0" bIns="0" rtlCol="0" anchor="t">
              <a:spAutoFit/>
            </a:bodyPr>
            <a:lstStyle/>
            <a:p>
              <a:pPr algn="l">
                <a:lnSpc>
                  <a:spcPts val="2415"/>
                </a:lnSpc>
              </a:pPr>
              <a:r>
                <a:rPr lang="fr-BE" sz="1725" b="1" spc="138" noProof="0" dirty="0">
                  <a:solidFill>
                    <a:srgbClr val="2979D8"/>
                  </a:solidFill>
                  <a:latin typeface="DM Sans Bold"/>
                  <a:ea typeface="DM Sans Bold"/>
                  <a:cs typeface="DM Sans Bold"/>
                  <a:sym typeface="DM Sans Bold"/>
                </a:rPr>
                <a:t>NASA IMAGE LIBRARY</a:t>
              </a:r>
            </a:p>
          </p:txBody>
        </p:sp>
        <p:sp>
          <p:nvSpPr>
            <p:cNvPr id="41" name="TextBox 41"/>
            <p:cNvSpPr txBox="1"/>
            <p:nvPr/>
          </p:nvSpPr>
          <p:spPr>
            <a:xfrm>
              <a:off x="444500" y="1368425"/>
              <a:ext cx="5715000" cy="906831"/>
            </a:xfrm>
            <a:prstGeom prst="rect">
              <a:avLst/>
            </a:prstGeom>
          </p:spPr>
          <p:txBody>
            <a:bodyPr lIns="0" tIns="0" rIns="0" bIns="0" rtlCol="0" anchor="t">
              <a:spAutoFit/>
            </a:bodyPr>
            <a:lstStyle/>
            <a:p>
              <a:pPr algn="l">
                <a:lnSpc>
                  <a:spcPts val="2733"/>
                </a:lnSpc>
              </a:pPr>
              <a:r>
                <a:rPr lang="fr-BE" sz="2025" dirty="0">
                  <a:solidFill>
                    <a:srgbClr val="0B2447"/>
                  </a:solidFill>
                  <a:latin typeface="DM Sans"/>
                  <a:ea typeface="DM Sans"/>
                  <a:cs typeface="DM Sans"/>
                  <a:sym typeface="DM Sans"/>
                </a:rPr>
                <a:t>I</a:t>
              </a:r>
              <a:r>
                <a:rPr lang="fr-BE" sz="2025" noProof="0" dirty="0" err="1">
                  <a:solidFill>
                    <a:srgbClr val="0B2447"/>
                  </a:solidFill>
                  <a:latin typeface="DM Sans"/>
                  <a:ea typeface="DM Sans"/>
                  <a:cs typeface="DM Sans"/>
                  <a:sym typeface="DM Sans"/>
                </a:rPr>
                <a:t>llustrations</a:t>
              </a:r>
              <a:r>
                <a:rPr lang="fr-BE" sz="2025" noProof="0" dirty="0">
                  <a:solidFill>
                    <a:srgbClr val="0B2447"/>
                  </a:solidFill>
                  <a:latin typeface="DM Sans"/>
                  <a:ea typeface="DM Sans"/>
                  <a:cs typeface="DM Sans"/>
                  <a:sym typeface="DM Sans"/>
                </a:rPr>
                <a:t> réelles lorsque disponibles</a:t>
              </a:r>
            </a:p>
          </p:txBody>
        </p:sp>
      </p:grpSp>
      <p:sp>
        <p:nvSpPr>
          <p:cNvPr id="42" name="TextBox 42"/>
          <p:cNvSpPr txBox="1"/>
          <p:nvPr/>
        </p:nvSpPr>
        <p:spPr>
          <a:xfrm>
            <a:off x="1047750" y="9696450"/>
            <a:ext cx="16192500" cy="222885"/>
          </a:xfrm>
          <a:prstGeom prst="rect">
            <a:avLst/>
          </a:prstGeom>
        </p:spPr>
        <p:txBody>
          <a:bodyPr lIns="0" tIns="0" rIns="0" bIns="0" rtlCol="0" anchor="t">
            <a:spAutoFit/>
          </a:bodyPr>
          <a:lstStyle/>
          <a:p>
            <a:pPr algn="l">
              <a:lnSpc>
                <a:spcPts val="1889"/>
              </a:lnSpc>
            </a:pPr>
            <a:r>
              <a:rPr lang="fr-BE" sz="1350" noProof="0" dirty="0">
                <a:solidFill>
                  <a:srgbClr val="5F7187"/>
                </a:solidFill>
                <a:latin typeface="DM Sans"/>
                <a:ea typeface="DM Sans"/>
                <a:cs typeface="DM Sans"/>
                <a:sym typeface="DM Sans"/>
              </a:rPr>
              <a:t>AndromeSky — TFE Développement Web </a:t>
            </a:r>
            <a:r>
              <a:rPr lang="fr-BE" sz="1350" noProof="0" dirty="0" err="1">
                <a:solidFill>
                  <a:srgbClr val="5F7187"/>
                </a:solidFill>
                <a:latin typeface="DM Sans"/>
                <a:ea typeface="DM Sans"/>
                <a:cs typeface="DM Sans"/>
                <a:sym typeface="DM Sans"/>
              </a:rPr>
              <a:t>Front-End</a:t>
            </a:r>
            <a:r>
              <a:rPr lang="fr-BE" sz="1350" noProof="0" dirty="0">
                <a:solidFill>
                  <a:srgbClr val="5F7187"/>
                </a:solidFill>
                <a:latin typeface="DM Sans"/>
                <a:ea typeface="DM Sans"/>
                <a:cs typeface="DM Sans"/>
                <a:sym typeface="DM Sans"/>
              </a:rPr>
              <a:t>                                      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47750" y="685800"/>
            <a:ext cx="15621000" cy="554736"/>
          </a:xfrm>
          <a:prstGeom prst="rect">
            <a:avLst/>
          </a:prstGeom>
        </p:spPr>
        <p:txBody>
          <a:bodyPr lIns="0" tIns="0" rIns="0" bIns="0" rtlCol="0" anchor="t">
            <a:spAutoFit/>
          </a:bodyPr>
          <a:lstStyle/>
          <a:p>
            <a:pPr algn="l">
              <a:lnSpc>
                <a:spcPts val="4212"/>
              </a:lnSpc>
            </a:pPr>
            <a:r>
              <a:rPr lang="fr-BE" sz="3900" b="1" noProof="0" dirty="0">
                <a:solidFill>
                  <a:srgbClr val="0B2447"/>
                </a:solidFill>
                <a:latin typeface="Sinar Grotesk Bold"/>
                <a:ea typeface="Sinar Grotesk Bold"/>
                <a:cs typeface="Sinar Grotesk Bold"/>
                <a:sym typeface="Sinar Grotesk Bold"/>
              </a:rPr>
              <a:t>Une architecture Angular modulaire pour isoler les responsabilités</a:t>
            </a:r>
          </a:p>
        </p:txBody>
      </p:sp>
      <p:grpSp>
        <p:nvGrpSpPr>
          <p:cNvPr id="3" name="Group 3"/>
          <p:cNvGrpSpPr/>
          <p:nvPr/>
        </p:nvGrpSpPr>
        <p:grpSpPr>
          <a:xfrm>
            <a:off x="1047750" y="1428750"/>
            <a:ext cx="1123950" cy="47625"/>
            <a:chOff x="0" y="0"/>
            <a:chExt cx="1498600" cy="63500"/>
          </a:xfrm>
        </p:grpSpPr>
        <p:sp>
          <p:nvSpPr>
            <p:cNvPr id="4" name="Freeform 4"/>
            <p:cNvSpPr/>
            <p:nvPr/>
          </p:nvSpPr>
          <p:spPr>
            <a:xfrm>
              <a:off x="0" y="0"/>
              <a:ext cx="1498600" cy="63500"/>
            </a:xfrm>
            <a:custGeom>
              <a:avLst/>
              <a:gdLst/>
              <a:ahLst/>
              <a:cxnLst/>
              <a:rect l="l" t="t" r="r" b="b"/>
              <a:pathLst>
                <a:path w="1498600" h="63500">
                  <a:moveTo>
                    <a:pt x="0" y="0"/>
                  </a:moveTo>
                  <a:lnTo>
                    <a:pt x="1498600" y="0"/>
                  </a:lnTo>
                  <a:lnTo>
                    <a:pt x="1498600" y="63500"/>
                  </a:lnTo>
                  <a:lnTo>
                    <a:pt x="0" y="63500"/>
                  </a:lnTo>
                  <a:close/>
                </a:path>
              </a:pathLst>
            </a:custGeom>
            <a:solidFill>
              <a:srgbClr val="2979D8"/>
            </a:solidFill>
            <a:ln cap="sq">
              <a:noFill/>
              <a:prstDash val="solid"/>
              <a:miter/>
            </a:ln>
          </p:spPr>
          <p:txBody>
            <a:bodyPr/>
            <a:lstStyle/>
            <a:p>
              <a:endParaRPr lang="fr-BE" noProof="0" dirty="0"/>
            </a:p>
          </p:txBody>
        </p:sp>
        <p:sp>
          <p:nvSpPr>
            <p:cNvPr id="5" name="TextBox 5"/>
            <p:cNvSpPr txBox="1"/>
            <p:nvPr/>
          </p:nvSpPr>
          <p:spPr>
            <a:xfrm>
              <a:off x="0" y="-38100"/>
              <a:ext cx="1498600" cy="101600"/>
            </a:xfrm>
            <a:prstGeom prst="rect">
              <a:avLst/>
            </a:prstGeom>
          </p:spPr>
          <p:txBody>
            <a:bodyPr lIns="50800" tIns="50800" rIns="50800" bIns="50800" rtlCol="0" anchor="ctr"/>
            <a:lstStyle/>
            <a:p>
              <a:pPr algn="l">
                <a:lnSpc>
                  <a:spcPts val="1679"/>
                </a:lnSpc>
              </a:pPr>
              <a:endParaRPr lang="fr-BE" noProof="0" dirty="0"/>
            </a:p>
          </p:txBody>
        </p:sp>
      </p:grpSp>
      <p:grpSp>
        <p:nvGrpSpPr>
          <p:cNvPr id="6" name="Group 6"/>
          <p:cNvGrpSpPr/>
          <p:nvPr/>
        </p:nvGrpSpPr>
        <p:grpSpPr>
          <a:xfrm>
            <a:off x="1143000" y="3238500"/>
            <a:ext cx="4762500" cy="1809750"/>
            <a:chOff x="0" y="0"/>
            <a:chExt cx="6350000" cy="2413000"/>
          </a:xfrm>
        </p:grpSpPr>
        <p:sp>
          <p:nvSpPr>
            <p:cNvPr id="7" name="Freeform 7"/>
            <p:cNvSpPr/>
            <p:nvPr/>
          </p:nvSpPr>
          <p:spPr>
            <a:xfrm>
              <a:off x="0" y="0"/>
              <a:ext cx="6350000" cy="2413000"/>
            </a:xfrm>
            <a:custGeom>
              <a:avLst/>
              <a:gdLst/>
              <a:ahLst/>
              <a:cxnLst/>
              <a:rect l="l" t="t" r="r" b="b"/>
              <a:pathLst>
                <a:path w="6350000" h="2413000">
                  <a:moveTo>
                    <a:pt x="45720" y="0"/>
                  </a:moveTo>
                  <a:lnTo>
                    <a:pt x="6304280" y="0"/>
                  </a:lnTo>
                  <a:cubicBezTo>
                    <a:pt x="6316406" y="0"/>
                    <a:pt x="6328035" y="4817"/>
                    <a:pt x="6336609" y="13391"/>
                  </a:cubicBezTo>
                  <a:cubicBezTo>
                    <a:pt x="6345183" y="21965"/>
                    <a:pt x="6350000" y="33594"/>
                    <a:pt x="6350000" y="45720"/>
                  </a:cubicBezTo>
                  <a:lnTo>
                    <a:pt x="6350000" y="2367280"/>
                  </a:lnTo>
                  <a:cubicBezTo>
                    <a:pt x="6350000" y="2392531"/>
                    <a:pt x="6329530" y="2413000"/>
                    <a:pt x="6304280" y="2413000"/>
                  </a:cubicBezTo>
                  <a:lnTo>
                    <a:pt x="45720" y="2413000"/>
                  </a:lnTo>
                  <a:cubicBezTo>
                    <a:pt x="20470" y="2413000"/>
                    <a:pt x="0" y="2392531"/>
                    <a:pt x="0" y="2367280"/>
                  </a:cubicBezTo>
                  <a:lnTo>
                    <a:pt x="0" y="45720"/>
                  </a:lnTo>
                  <a:cubicBezTo>
                    <a:pt x="0" y="20470"/>
                    <a:pt x="20470" y="0"/>
                    <a:pt x="45720" y="0"/>
                  </a:cubicBezTo>
                  <a:close/>
                </a:path>
              </a:pathLst>
            </a:custGeom>
            <a:solidFill>
              <a:srgbClr val="2979D8"/>
            </a:solidFill>
            <a:ln cap="sq">
              <a:noFill/>
              <a:prstDash val="solid"/>
              <a:miter/>
            </a:ln>
          </p:spPr>
          <p:txBody>
            <a:bodyPr/>
            <a:lstStyle/>
            <a:p>
              <a:endParaRPr lang="fr-BE" noProof="0" dirty="0"/>
            </a:p>
          </p:txBody>
        </p:sp>
        <p:sp>
          <p:nvSpPr>
            <p:cNvPr id="8" name="TextBox 8"/>
            <p:cNvSpPr txBox="1"/>
            <p:nvPr/>
          </p:nvSpPr>
          <p:spPr>
            <a:xfrm>
              <a:off x="0" y="9525"/>
              <a:ext cx="6350000" cy="2403475"/>
            </a:xfrm>
            <a:prstGeom prst="rect">
              <a:avLst/>
            </a:prstGeom>
          </p:spPr>
          <p:txBody>
            <a:bodyPr lIns="50800" tIns="50800" rIns="50800" bIns="50800" rtlCol="0" anchor="ctr"/>
            <a:lstStyle/>
            <a:p>
              <a:pPr algn="ctr">
                <a:lnSpc>
                  <a:spcPts val="2156"/>
                </a:lnSpc>
              </a:pPr>
              <a:r>
                <a:rPr lang="fr-BE" sz="1875" b="1" noProof="0" dirty="0">
                  <a:solidFill>
                    <a:srgbClr val="FFFFFF"/>
                  </a:solidFill>
                  <a:latin typeface="DM Sans Bold"/>
                  <a:ea typeface="DM Sans Bold"/>
                  <a:cs typeface="DM Sans Bold"/>
                  <a:sym typeface="DM Sans Bold"/>
                </a:rPr>
                <a:t>Composants</a:t>
              </a:r>
            </a:p>
          </p:txBody>
        </p:sp>
      </p:grpSp>
      <p:sp>
        <p:nvSpPr>
          <p:cNvPr id="9" name="AutoShape 9"/>
          <p:cNvSpPr/>
          <p:nvPr/>
        </p:nvSpPr>
        <p:spPr>
          <a:xfrm>
            <a:off x="6000750" y="4143375"/>
            <a:ext cx="619125" cy="0"/>
          </a:xfrm>
          <a:prstGeom prst="line">
            <a:avLst/>
          </a:prstGeom>
          <a:ln w="38100" cap="rnd">
            <a:solidFill>
              <a:srgbClr val="8ED8F8"/>
            </a:solidFill>
            <a:prstDash val="solid"/>
            <a:headEnd type="none" w="sm" len="sm"/>
            <a:tailEnd type="none" w="sm" len="sm"/>
          </a:ln>
        </p:spPr>
        <p:txBody>
          <a:bodyPr/>
          <a:lstStyle/>
          <a:p>
            <a:endParaRPr lang="fr-BE" noProof="0" dirty="0"/>
          </a:p>
        </p:txBody>
      </p:sp>
      <p:grpSp>
        <p:nvGrpSpPr>
          <p:cNvPr id="10" name="Group 10"/>
          <p:cNvGrpSpPr/>
          <p:nvPr/>
        </p:nvGrpSpPr>
        <p:grpSpPr>
          <a:xfrm>
            <a:off x="6762750" y="3238500"/>
            <a:ext cx="4762500" cy="1809750"/>
            <a:chOff x="0" y="0"/>
            <a:chExt cx="6350000" cy="2413000"/>
          </a:xfrm>
        </p:grpSpPr>
        <p:sp>
          <p:nvSpPr>
            <p:cNvPr id="11" name="Freeform 11"/>
            <p:cNvSpPr/>
            <p:nvPr/>
          </p:nvSpPr>
          <p:spPr>
            <a:xfrm>
              <a:off x="0" y="0"/>
              <a:ext cx="6350000" cy="2413000"/>
            </a:xfrm>
            <a:custGeom>
              <a:avLst/>
              <a:gdLst/>
              <a:ahLst/>
              <a:cxnLst/>
              <a:rect l="l" t="t" r="r" b="b"/>
              <a:pathLst>
                <a:path w="6350000" h="2413000">
                  <a:moveTo>
                    <a:pt x="45720" y="0"/>
                  </a:moveTo>
                  <a:lnTo>
                    <a:pt x="6304280" y="0"/>
                  </a:lnTo>
                  <a:cubicBezTo>
                    <a:pt x="6316406" y="0"/>
                    <a:pt x="6328035" y="4817"/>
                    <a:pt x="6336609" y="13391"/>
                  </a:cubicBezTo>
                  <a:cubicBezTo>
                    <a:pt x="6345183" y="21965"/>
                    <a:pt x="6350000" y="33594"/>
                    <a:pt x="6350000" y="45720"/>
                  </a:cubicBezTo>
                  <a:lnTo>
                    <a:pt x="6350000" y="2367280"/>
                  </a:lnTo>
                  <a:cubicBezTo>
                    <a:pt x="6350000" y="2392531"/>
                    <a:pt x="6329530" y="2413000"/>
                    <a:pt x="6304280" y="2413000"/>
                  </a:cubicBezTo>
                  <a:lnTo>
                    <a:pt x="45720" y="2413000"/>
                  </a:lnTo>
                  <a:cubicBezTo>
                    <a:pt x="20470" y="2413000"/>
                    <a:pt x="0" y="2392531"/>
                    <a:pt x="0" y="2367280"/>
                  </a:cubicBezTo>
                  <a:lnTo>
                    <a:pt x="0" y="45720"/>
                  </a:lnTo>
                  <a:cubicBezTo>
                    <a:pt x="0" y="20470"/>
                    <a:pt x="20470" y="0"/>
                    <a:pt x="45720" y="0"/>
                  </a:cubicBezTo>
                  <a:close/>
                </a:path>
              </a:pathLst>
            </a:custGeom>
            <a:solidFill>
              <a:srgbClr val="25C7B7"/>
            </a:solidFill>
            <a:ln cap="sq">
              <a:noFill/>
              <a:prstDash val="solid"/>
              <a:miter/>
            </a:ln>
          </p:spPr>
          <p:txBody>
            <a:bodyPr/>
            <a:lstStyle/>
            <a:p>
              <a:endParaRPr lang="fr-BE" noProof="0" dirty="0"/>
            </a:p>
          </p:txBody>
        </p:sp>
        <p:sp>
          <p:nvSpPr>
            <p:cNvPr id="12" name="TextBox 12"/>
            <p:cNvSpPr txBox="1"/>
            <p:nvPr/>
          </p:nvSpPr>
          <p:spPr>
            <a:xfrm>
              <a:off x="0" y="9525"/>
              <a:ext cx="6350000" cy="2403475"/>
            </a:xfrm>
            <a:prstGeom prst="rect">
              <a:avLst/>
            </a:prstGeom>
          </p:spPr>
          <p:txBody>
            <a:bodyPr lIns="50800" tIns="50800" rIns="50800" bIns="50800" rtlCol="0" anchor="ctr"/>
            <a:lstStyle/>
            <a:p>
              <a:pPr algn="ctr">
                <a:lnSpc>
                  <a:spcPts val="2156"/>
                </a:lnSpc>
              </a:pPr>
              <a:r>
                <a:rPr lang="fr-BE" sz="1875" b="1" noProof="0" dirty="0">
                  <a:solidFill>
                    <a:srgbClr val="FFFFFF"/>
                  </a:solidFill>
                  <a:latin typeface="DM Sans Bold"/>
                  <a:ea typeface="DM Sans Bold"/>
                  <a:cs typeface="DM Sans Bold"/>
                  <a:sym typeface="DM Sans Bold"/>
                </a:rPr>
                <a:t>Services</a:t>
              </a:r>
            </a:p>
          </p:txBody>
        </p:sp>
      </p:grpSp>
      <p:sp>
        <p:nvSpPr>
          <p:cNvPr id="13" name="AutoShape 13"/>
          <p:cNvSpPr/>
          <p:nvPr/>
        </p:nvSpPr>
        <p:spPr>
          <a:xfrm>
            <a:off x="11620500" y="4143375"/>
            <a:ext cx="619125" cy="0"/>
          </a:xfrm>
          <a:prstGeom prst="line">
            <a:avLst/>
          </a:prstGeom>
          <a:ln w="38100" cap="rnd">
            <a:solidFill>
              <a:srgbClr val="8ED8F8"/>
            </a:solidFill>
            <a:prstDash val="solid"/>
            <a:headEnd type="none" w="sm" len="sm"/>
            <a:tailEnd type="none" w="sm" len="sm"/>
          </a:ln>
        </p:spPr>
        <p:txBody>
          <a:bodyPr/>
          <a:lstStyle/>
          <a:p>
            <a:endParaRPr lang="fr-BE" noProof="0" dirty="0"/>
          </a:p>
        </p:txBody>
      </p:sp>
      <p:grpSp>
        <p:nvGrpSpPr>
          <p:cNvPr id="14" name="Group 14"/>
          <p:cNvGrpSpPr/>
          <p:nvPr/>
        </p:nvGrpSpPr>
        <p:grpSpPr>
          <a:xfrm>
            <a:off x="12382500" y="3238500"/>
            <a:ext cx="4762500" cy="1809750"/>
            <a:chOff x="0" y="0"/>
            <a:chExt cx="6350000" cy="2413000"/>
          </a:xfrm>
        </p:grpSpPr>
        <p:sp>
          <p:nvSpPr>
            <p:cNvPr id="15" name="Freeform 15"/>
            <p:cNvSpPr/>
            <p:nvPr/>
          </p:nvSpPr>
          <p:spPr>
            <a:xfrm>
              <a:off x="0" y="0"/>
              <a:ext cx="6350000" cy="2413000"/>
            </a:xfrm>
            <a:custGeom>
              <a:avLst/>
              <a:gdLst/>
              <a:ahLst/>
              <a:cxnLst/>
              <a:rect l="l" t="t" r="r" b="b"/>
              <a:pathLst>
                <a:path w="6350000" h="2413000">
                  <a:moveTo>
                    <a:pt x="45720" y="0"/>
                  </a:moveTo>
                  <a:lnTo>
                    <a:pt x="6304280" y="0"/>
                  </a:lnTo>
                  <a:cubicBezTo>
                    <a:pt x="6316406" y="0"/>
                    <a:pt x="6328035" y="4817"/>
                    <a:pt x="6336609" y="13391"/>
                  </a:cubicBezTo>
                  <a:cubicBezTo>
                    <a:pt x="6345183" y="21965"/>
                    <a:pt x="6350000" y="33594"/>
                    <a:pt x="6350000" y="45720"/>
                  </a:cubicBezTo>
                  <a:lnTo>
                    <a:pt x="6350000" y="2367280"/>
                  </a:lnTo>
                  <a:cubicBezTo>
                    <a:pt x="6350000" y="2392531"/>
                    <a:pt x="6329530" y="2413000"/>
                    <a:pt x="6304280" y="2413000"/>
                  </a:cubicBezTo>
                  <a:lnTo>
                    <a:pt x="45720" y="2413000"/>
                  </a:lnTo>
                  <a:cubicBezTo>
                    <a:pt x="20470" y="2413000"/>
                    <a:pt x="0" y="2392531"/>
                    <a:pt x="0" y="2367280"/>
                  </a:cubicBezTo>
                  <a:lnTo>
                    <a:pt x="0" y="45720"/>
                  </a:lnTo>
                  <a:cubicBezTo>
                    <a:pt x="0" y="20470"/>
                    <a:pt x="20470" y="0"/>
                    <a:pt x="45720" y="0"/>
                  </a:cubicBezTo>
                  <a:close/>
                </a:path>
              </a:pathLst>
            </a:custGeom>
            <a:solidFill>
              <a:srgbClr val="2979D8"/>
            </a:solidFill>
            <a:ln cap="sq">
              <a:noFill/>
              <a:prstDash val="solid"/>
              <a:miter/>
            </a:ln>
          </p:spPr>
          <p:txBody>
            <a:bodyPr/>
            <a:lstStyle/>
            <a:p>
              <a:endParaRPr lang="fr-BE" noProof="0" dirty="0"/>
            </a:p>
          </p:txBody>
        </p:sp>
        <p:sp>
          <p:nvSpPr>
            <p:cNvPr id="16" name="TextBox 16"/>
            <p:cNvSpPr txBox="1"/>
            <p:nvPr/>
          </p:nvSpPr>
          <p:spPr>
            <a:xfrm>
              <a:off x="0" y="9525"/>
              <a:ext cx="6350000" cy="2403475"/>
            </a:xfrm>
            <a:prstGeom prst="rect">
              <a:avLst/>
            </a:prstGeom>
          </p:spPr>
          <p:txBody>
            <a:bodyPr lIns="50800" tIns="50800" rIns="50800" bIns="50800" rtlCol="0" anchor="ctr"/>
            <a:lstStyle/>
            <a:p>
              <a:pPr algn="ctr">
                <a:lnSpc>
                  <a:spcPts val="2156"/>
                </a:lnSpc>
              </a:pPr>
              <a:r>
                <a:rPr lang="fr-BE" sz="1875" b="1" noProof="0" dirty="0">
                  <a:solidFill>
                    <a:srgbClr val="FFFFFF"/>
                  </a:solidFill>
                  <a:latin typeface="DM Sans Bold"/>
                  <a:ea typeface="DM Sans Bold"/>
                  <a:cs typeface="DM Sans Bold"/>
                  <a:sym typeface="DM Sans Bold"/>
                </a:rPr>
                <a:t>Modèles et JSON</a:t>
              </a:r>
            </a:p>
          </p:txBody>
        </p:sp>
      </p:grpSp>
      <p:sp>
        <p:nvSpPr>
          <p:cNvPr id="17" name="TextBox 17"/>
          <p:cNvSpPr txBox="1"/>
          <p:nvPr/>
        </p:nvSpPr>
        <p:spPr>
          <a:xfrm>
            <a:off x="1143000" y="5410200"/>
            <a:ext cx="4762500" cy="300038"/>
          </a:xfrm>
          <a:prstGeom prst="rect">
            <a:avLst/>
          </a:prstGeom>
        </p:spPr>
        <p:txBody>
          <a:bodyPr lIns="0" tIns="0" rIns="0" bIns="0" rtlCol="0" anchor="t">
            <a:spAutoFit/>
          </a:bodyPr>
          <a:lstStyle/>
          <a:p>
            <a:pPr algn="ctr">
              <a:lnSpc>
                <a:spcPts val="2437"/>
              </a:lnSpc>
            </a:pPr>
            <a:r>
              <a:rPr lang="fr-BE" sz="1875" noProof="0" dirty="0">
                <a:solidFill>
                  <a:srgbClr val="5F7187"/>
                </a:solidFill>
                <a:latin typeface="DM Sans"/>
                <a:ea typeface="DM Sans"/>
                <a:cs typeface="DM Sans"/>
                <a:sym typeface="DM Sans"/>
              </a:rPr>
              <a:t>Interface, </a:t>
            </a:r>
            <a:r>
              <a:rPr lang="fr-BE" sz="1875" noProof="0" dirty="0" err="1">
                <a:solidFill>
                  <a:srgbClr val="5F7187"/>
                </a:solidFill>
                <a:latin typeface="DM Sans"/>
                <a:ea typeface="DM Sans"/>
                <a:cs typeface="DM Sans"/>
                <a:sym typeface="DM Sans"/>
              </a:rPr>
              <a:t>SkyMap</a:t>
            </a:r>
            <a:r>
              <a:rPr lang="fr-BE" sz="1875" noProof="0" dirty="0">
                <a:solidFill>
                  <a:srgbClr val="5F7187"/>
                </a:solidFill>
                <a:latin typeface="DM Sans"/>
                <a:ea typeface="DM Sans"/>
                <a:cs typeface="DM Sans"/>
                <a:sym typeface="DM Sans"/>
              </a:rPr>
              <a:t>, panneau, quiz</a:t>
            </a:r>
          </a:p>
        </p:txBody>
      </p:sp>
      <p:sp>
        <p:nvSpPr>
          <p:cNvPr id="18" name="TextBox 18"/>
          <p:cNvSpPr txBox="1"/>
          <p:nvPr/>
        </p:nvSpPr>
        <p:spPr>
          <a:xfrm>
            <a:off x="6762750" y="5410200"/>
            <a:ext cx="4762500" cy="300038"/>
          </a:xfrm>
          <a:prstGeom prst="rect">
            <a:avLst/>
          </a:prstGeom>
        </p:spPr>
        <p:txBody>
          <a:bodyPr lIns="0" tIns="0" rIns="0" bIns="0" rtlCol="0" anchor="t">
            <a:spAutoFit/>
          </a:bodyPr>
          <a:lstStyle/>
          <a:p>
            <a:pPr algn="ctr">
              <a:lnSpc>
                <a:spcPts val="2437"/>
              </a:lnSpc>
            </a:pPr>
            <a:r>
              <a:rPr lang="fr-BE" sz="1875" noProof="0" dirty="0">
                <a:solidFill>
                  <a:srgbClr val="5F7187"/>
                </a:solidFill>
                <a:latin typeface="DM Sans"/>
                <a:ea typeface="DM Sans"/>
                <a:cs typeface="DM Sans"/>
                <a:sym typeface="DM Sans"/>
              </a:rPr>
              <a:t>Logique métier, catalogue, score, APIs</a:t>
            </a:r>
          </a:p>
        </p:txBody>
      </p:sp>
      <p:sp>
        <p:nvSpPr>
          <p:cNvPr id="19" name="TextBox 19"/>
          <p:cNvSpPr txBox="1"/>
          <p:nvPr/>
        </p:nvSpPr>
        <p:spPr>
          <a:xfrm>
            <a:off x="12382500" y="5410200"/>
            <a:ext cx="4762500" cy="604838"/>
          </a:xfrm>
          <a:prstGeom prst="rect">
            <a:avLst/>
          </a:prstGeom>
        </p:spPr>
        <p:txBody>
          <a:bodyPr lIns="0" tIns="0" rIns="0" bIns="0" rtlCol="0" anchor="t">
            <a:spAutoFit/>
          </a:bodyPr>
          <a:lstStyle/>
          <a:p>
            <a:pPr algn="ctr">
              <a:lnSpc>
                <a:spcPts val="2437"/>
              </a:lnSpc>
            </a:pPr>
            <a:r>
              <a:rPr lang="fr-BE" sz="1875" noProof="0" dirty="0">
                <a:solidFill>
                  <a:srgbClr val="5F7187"/>
                </a:solidFill>
                <a:latin typeface="DM Sans"/>
                <a:ea typeface="DM Sans"/>
                <a:cs typeface="DM Sans"/>
                <a:sym typeface="DM Sans"/>
              </a:rPr>
              <a:t>Types &amp; interfaces </a:t>
            </a:r>
            <a:r>
              <a:rPr lang="fr-BE" sz="1875" noProof="0" dirty="0" err="1">
                <a:solidFill>
                  <a:srgbClr val="5F7187"/>
                </a:solidFill>
                <a:latin typeface="DM Sans"/>
                <a:ea typeface="DM Sans"/>
                <a:cs typeface="DM Sans"/>
                <a:sym typeface="DM Sans"/>
              </a:rPr>
              <a:t>TypeScript</a:t>
            </a:r>
            <a:r>
              <a:rPr lang="fr-BE" sz="1875" noProof="0" dirty="0">
                <a:solidFill>
                  <a:srgbClr val="5F7187"/>
                </a:solidFill>
                <a:latin typeface="DM Sans"/>
                <a:ea typeface="DM Sans"/>
                <a:cs typeface="DM Sans"/>
                <a:sym typeface="DM Sans"/>
              </a:rPr>
              <a:t> et données astronomiques</a:t>
            </a:r>
          </a:p>
        </p:txBody>
      </p:sp>
      <p:sp>
        <p:nvSpPr>
          <p:cNvPr id="20" name="TextBox 20"/>
          <p:cNvSpPr txBox="1"/>
          <p:nvPr/>
        </p:nvSpPr>
        <p:spPr>
          <a:xfrm>
            <a:off x="2667000" y="7524750"/>
            <a:ext cx="12954000" cy="373380"/>
          </a:xfrm>
          <a:prstGeom prst="rect">
            <a:avLst/>
          </a:prstGeom>
        </p:spPr>
        <p:txBody>
          <a:bodyPr lIns="0" tIns="0" rIns="0" bIns="0" rtlCol="0" anchor="t">
            <a:spAutoFit/>
          </a:bodyPr>
          <a:lstStyle/>
          <a:p>
            <a:pPr algn="ctr">
              <a:lnSpc>
                <a:spcPts val="3045"/>
              </a:lnSpc>
            </a:pPr>
            <a:r>
              <a:rPr lang="fr-BE" sz="2175" b="1" noProof="0" dirty="0">
                <a:solidFill>
                  <a:srgbClr val="0B2447"/>
                </a:solidFill>
                <a:latin typeface="DM Sans Bold"/>
                <a:ea typeface="DM Sans Bold"/>
                <a:cs typeface="DM Sans Bold"/>
                <a:sym typeface="DM Sans Bold"/>
              </a:rPr>
              <a:t>Angular + </a:t>
            </a:r>
            <a:r>
              <a:rPr lang="fr-BE" sz="2175" b="1" noProof="0" dirty="0" err="1">
                <a:solidFill>
                  <a:srgbClr val="0B2447"/>
                </a:solidFill>
                <a:latin typeface="DM Sans Bold"/>
                <a:ea typeface="DM Sans Bold"/>
                <a:cs typeface="DM Sans Bold"/>
                <a:sym typeface="DM Sans Bold"/>
              </a:rPr>
              <a:t>TypeScript</a:t>
            </a:r>
            <a:r>
              <a:rPr lang="fr-BE" sz="2175" b="1" noProof="0" dirty="0">
                <a:solidFill>
                  <a:srgbClr val="0B2447"/>
                </a:solidFill>
                <a:latin typeface="DM Sans Bold"/>
                <a:ea typeface="DM Sans Bold"/>
                <a:cs typeface="DM Sans Bold"/>
                <a:sym typeface="DM Sans Bold"/>
              </a:rPr>
              <a:t> structurent la SPA ; Aladin Lite apporte la visualisation astronomique.</a:t>
            </a:r>
          </a:p>
        </p:txBody>
      </p:sp>
      <p:sp>
        <p:nvSpPr>
          <p:cNvPr id="21" name="TextBox 21"/>
          <p:cNvSpPr txBox="1"/>
          <p:nvPr/>
        </p:nvSpPr>
        <p:spPr>
          <a:xfrm>
            <a:off x="1047750" y="9696450"/>
            <a:ext cx="16192500" cy="222885"/>
          </a:xfrm>
          <a:prstGeom prst="rect">
            <a:avLst/>
          </a:prstGeom>
        </p:spPr>
        <p:txBody>
          <a:bodyPr lIns="0" tIns="0" rIns="0" bIns="0" rtlCol="0" anchor="t">
            <a:spAutoFit/>
          </a:bodyPr>
          <a:lstStyle/>
          <a:p>
            <a:pPr algn="l">
              <a:lnSpc>
                <a:spcPts val="1889"/>
              </a:lnSpc>
            </a:pPr>
            <a:r>
              <a:rPr lang="fr-BE" sz="1350" noProof="0" dirty="0">
                <a:solidFill>
                  <a:srgbClr val="5F7187"/>
                </a:solidFill>
                <a:latin typeface="DM Sans"/>
                <a:ea typeface="DM Sans"/>
                <a:cs typeface="DM Sans"/>
                <a:sym typeface="DM Sans"/>
              </a:rPr>
              <a:t>AndromeSky — TFE Développement Web </a:t>
            </a:r>
            <a:r>
              <a:rPr lang="fr-BE" sz="1350" noProof="0" dirty="0" err="1">
                <a:solidFill>
                  <a:srgbClr val="5F7187"/>
                </a:solidFill>
                <a:latin typeface="DM Sans"/>
                <a:ea typeface="DM Sans"/>
                <a:cs typeface="DM Sans"/>
                <a:sym typeface="DM Sans"/>
              </a:rPr>
              <a:t>Front-End</a:t>
            </a:r>
            <a:r>
              <a:rPr lang="fr-BE" sz="1350" noProof="0" dirty="0">
                <a:solidFill>
                  <a:srgbClr val="5F7187"/>
                </a:solidFill>
                <a:latin typeface="DM Sans"/>
                <a:ea typeface="DM Sans"/>
                <a:cs typeface="DM Sans"/>
                <a:sym typeface="DM Sans"/>
              </a:rPr>
              <a:t>                                      6</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47750" y="685800"/>
            <a:ext cx="15621000" cy="554736"/>
          </a:xfrm>
          <a:prstGeom prst="rect">
            <a:avLst/>
          </a:prstGeom>
        </p:spPr>
        <p:txBody>
          <a:bodyPr lIns="0" tIns="0" rIns="0" bIns="0" rtlCol="0" anchor="t">
            <a:spAutoFit/>
          </a:bodyPr>
          <a:lstStyle/>
          <a:p>
            <a:pPr algn="l">
              <a:lnSpc>
                <a:spcPts val="4212"/>
              </a:lnSpc>
            </a:pPr>
            <a:r>
              <a:rPr lang="fr-BE" sz="3900" b="1" noProof="0" dirty="0">
                <a:solidFill>
                  <a:srgbClr val="0B2447"/>
                </a:solidFill>
                <a:latin typeface="Sinar Grotesk Bold"/>
                <a:ea typeface="Sinar Grotesk Bold"/>
                <a:cs typeface="Sinar Grotesk Bold"/>
                <a:sym typeface="Sinar Grotesk Bold"/>
              </a:rPr>
              <a:t>Le quiz transforme l’exploration en apprentissage actif</a:t>
            </a:r>
          </a:p>
        </p:txBody>
      </p:sp>
      <p:grpSp>
        <p:nvGrpSpPr>
          <p:cNvPr id="3" name="Group 3"/>
          <p:cNvGrpSpPr/>
          <p:nvPr/>
        </p:nvGrpSpPr>
        <p:grpSpPr>
          <a:xfrm>
            <a:off x="1047750" y="1428750"/>
            <a:ext cx="1123950" cy="47625"/>
            <a:chOff x="0" y="0"/>
            <a:chExt cx="1498600" cy="63500"/>
          </a:xfrm>
        </p:grpSpPr>
        <p:sp>
          <p:nvSpPr>
            <p:cNvPr id="4" name="Freeform 4"/>
            <p:cNvSpPr/>
            <p:nvPr/>
          </p:nvSpPr>
          <p:spPr>
            <a:xfrm>
              <a:off x="0" y="0"/>
              <a:ext cx="1498600" cy="63500"/>
            </a:xfrm>
            <a:custGeom>
              <a:avLst/>
              <a:gdLst/>
              <a:ahLst/>
              <a:cxnLst/>
              <a:rect l="l" t="t" r="r" b="b"/>
              <a:pathLst>
                <a:path w="1498600" h="63500">
                  <a:moveTo>
                    <a:pt x="0" y="0"/>
                  </a:moveTo>
                  <a:lnTo>
                    <a:pt x="1498600" y="0"/>
                  </a:lnTo>
                  <a:lnTo>
                    <a:pt x="1498600" y="63500"/>
                  </a:lnTo>
                  <a:lnTo>
                    <a:pt x="0" y="63500"/>
                  </a:lnTo>
                  <a:close/>
                </a:path>
              </a:pathLst>
            </a:custGeom>
            <a:solidFill>
              <a:srgbClr val="2979D8"/>
            </a:solidFill>
            <a:ln cap="sq">
              <a:noFill/>
              <a:prstDash val="solid"/>
              <a:miter/>
            </a:ln>
          </p:spPr>
          <p:txBody>
            <a:bodyPr/>
            <a:lstStyle/>
            <a:p>
              <a:endParaRPr lang="fr-BE" noProof="0" dirty="0"/>
            </a:p>
          </p:txBody>
        </p:sp>
        <p:sp>
          <p:nvSpPr>
            <p:cNvPr id="5" name="TextBox 5"/>
            <p:cNvSpPr txBox="1"/>
            <p:nvPr/>
          </p:nvSpPr>
          <p:spPr>
            <a:xfrm>
              <a:off x="0" y="-38100"/>
              <a:ext cx="1498600" cy="101600"/>
            </a:xfrm>
            <a:prstGeom prst="rect">
              <a:avLst/>
            </a:prstGeom>
          </p:spPr>
          <p:txBody>
            <a:bodyPr lIns="50800" tIns="50800" rIns="50800" bIns="50800" rtlCol="0" anchor="ctr"/>
            <a:lstStyle/>
            <a:p>
              <a:pPr algn="l">
                <a:lnSpc>
                  <a:spcPts val="1679"/>
                </a:lnSpc>
              </a:pPr>
              <a:endParaRPr lang="fr-BE" noProof="0" dirty="0"/>
            </a:p>
          </p:txBody>
        </p:sp>
      </p:grpSp>
      <p:grpSp>
        <p:nvGrpSpPr>
          <p:cNvPr id="6" name="Group 6"/>
          <p:cNvGrpSpPr/>
          <p:nvPr/>
        </p:nvGrpSpPr>
        <p:grpSpPr>
          <a:xfrm>
            <a:off x="1047750" y="2190750"/>
            <a:ext cx="7715250" cy="6191250"/>
            <a:chOff x="0" y="0"/>
            <a:chExt cx="10287000" cy="8255000"/>
          </a:xfrm>
        </p:grpSpPr>
        <p:grpSp>
          <p:nvGrpSpPr>
            <p:cNvPr id="7" name="Group 7"/>
            <p:cNvGrpSpPr/>
            <p:nvPr/>
          </p:nvGrpSpPr>
          <p:grpSpPr>
            <a:xfrm>
              <a:off x="0" y="0"/>
              <a:ext cx="10287000" cy="8255000"/>
              <a:chOff x="0" y="0"/>
              <a:chExt cx="10287000" cy="8255000"/>
            </a:xfrm>
          </p:grpSpPr>
          <p:sp>
            <p:nvSpPr>
              <p:cNvPr id="8" name="Freeform 8"/>
              <p:cNvSpPr/>
              <p:nvPr/>
            </p:nvSpPr>
            <p:spPr>
              <a:xfrm>
                <a:off x="0" y="0"/>
                <a:ext cx="10287000" cy="8255000"/>
              </a:xfrm>
              <a:custGeom>
                <a:avLst/>
                <a:gdLst/>
                <a:ahLst/>
                <a:cxnLst/>
                <a:rect l="l" t="t" r="r" b="b"/>
                <a:pathLst>
                  <a:path w="10287000" h="8255000">
                    <a:moveTo>
                      <a:pt x="0" y="0"/>
                    </a:moveTo>
                    <a:lnTo>
                      <a:pt x="10287000" y="0"/>
                    </a:lnTo>
                    <a:lnTo>
                      <a:pt x="10287000" y="8255000"/>
                    </a:lnTo>
                    <a:lnTo>
                      <a:pt x="0" y="8255000"/>
                    </a:lnTo>
                    <a:close/>
                  </a:path>
                </a:pathLst>
              </a:custGeom>
              <a:solidFill>
                <a:srgbClr val="EEF7FB"/>
              </a:solidFill>
              <a:ln cap="sq">
                <a:noFill/>
                <a:prstDash val="solid"/>
                <a:miter/>
              </a:ln>
            </p:spPr>
            <p:txBody>
              <a:bodyPr/>
              <a:lstStyle/>
              <a:p>
                <a:endParaRPr lang="fr-BE" noProof="0" dirty="0"/>
              </a:p>
            </p:txBody>
          </p:sp>
          <p:sp>
            <p:nvSpPr>
              <p:cNvPr id="9" name="TextBox 9"/>
              <p:cNvSpPr txBox="1"/>
              <p:nvPr/>
            </p:nvSpPr>
            <p:spPr>
              <a:xfrm>
                <a:off x="0" y="-38100"/>
                <a:ext cx="10287000" cy="8293100"/>
              </a:xfrm>
              <a:prstGeom prst="rect">
                <a:avLst/>
              </a:prstGeom>
            </p:spPr>
            <p:txBody>
              <a:bodyPr lIns="50800" tIns="50800" rIns="50800" bIns="50800" rtlCol="0" anchor="ctr"/>
              <a:lstStyle/>
              <a:p>
                <a:pPr algn="l">
                  <a:lnSpc>
                    <a:spcPts val="1679"/>
                  </a:lnSpc>
                </a:pPr>
                <a:endParaRPr lang="fr-BE" noProof="0" dirty="0"/>
              </a:p>
            </p:txBody>
          </p:sp>
        </p:grpSp>
        <p:grpSp>
          <p:nvGrpSpPr>
            <p:cNvPr id="10" name="Group 10"/>
            <p:cNvGrpSpPr/>
            <p:nvPr/>
          </p:nvGrpSpPr>
          <p:grpSpPr>
            <a:xfrm>
              <a:off x="444500" y="444500"/>
              <a:ext cx="9398000" cy="4826000"/>
              <a:chOff x="0" y="0"/>
              <a:chExt cx="9398000" cy="4826000"/>
            </a:xfrm>
          </p:grpSpPr>
          <p:sp>
            <p:nvSpPr>
              <p:cNvPr id="11" name="Freeform 11"/>
              <p:cNvSpPr/>
              <p:nvPr/>
            </p:nvSpPr>
            <p:spPr>
              <a:xfrm>
                <a:off x="0" y="0"/>
                <a:ext cx="9398000" cy="4826000"/>
              </a:xfrm>
              <a:custGeom>
                <a:avLst/>
                <a:gdLst/>
                <a:ahLst/>
                <a:cxnLst/>
                <a:rect l="l" t="t" r="r" b="b"/>
                <a:pathLst>
                  <a:path w="9398000" h="4826000">
                    <a:moveTo>
                      <a:pt x="0" y="0"/>
                    </a:moveTo>
                    <a:lnTo>
                      <a:pt x="9398000" y="0"/>
                    </a:lnTo>
                    <a:lnTo>
                      <a:pt x="9398000" y="4826000"/>
                    </a:lnTo>
                    <a:lnTo>
                      <a:pt x="0" y="4826000"/>
                    </a:lnTo>
                    <a:close/>
                  </a:path>
                </a:pathLst>
              </a:custGeom>
              <a:solidFill>
                <a:srgbClr val="07162F"/>
              </a:solidFill>
              <a:ln cap="sq">
                <a:noFill/>
                <a:prstDash val="solid"/>
                <a:miter/>
              </a:ln>
            </p:spPr>
            <p:txBody>
              <a:bodyPr/>
              <a:lstStyle/>
              <a:p>
                <a:endParaRPr lang="fr-BE" noProof="0" dirty="0"/>
              </a:p>
            </p:txBody>
          </p:sp>
          <p:sp>
            <p:nvSpPr>
              <p:cNvPr id="12" name="TextBox 12"/>
              <p:cNvSpPr txBox="1"/>
              <p:nvPr/>
            </p:nvSpPr>
            <p:spPr>
              <a:xfrm>
                <a:off x="0" y="-38100"/>
                <a:ext cx="9398000" cy="4864100"/>
              </a:xfrm>
              <a:prstGeom prst="rect">
                <a:avLst/>
              </a:prstGeom>
            </p:spPr>
            <p:txBody>
              <a:bodyPr lIns="50800" tIns="50800" rIns="50800" bIns="50800" rtlCol="0" anchor="ctr"/>
              <a:lstStyle/>
              <a:p>
                <a:pPr algn="l">
                  <a:lnSpc>
                    <a:spcPts val="1679"/>
                  </a:lnSpc>
                </a:pPr>
                <a:endParaRPr lang="fr-BE" noProof="0" dirty="0"/>
              </a:p>
            </p:txBody>
          </p:sp>
        </p:grpSp>
        <p:grpSp>
          <p:nvGrpSpPr>
            <p:cNvPr id="13" name="Group 13"/>
            <p:cNvGrpSpPr/>
            <p:nvPr/>
          </p:nvGrpSpPr>
          <p:grpSpPr>
            <a:xfrm>
              <a:off x="2349500" y="2222500"/>
              <a:ext cx="5588000" cy="1143000"/>
              <a:chOff x="0" y="0"/>
              <a:chExt cx="5588000" cy="1143000"/>
            </a:xfrm>
          </p:grpSpPr>
          <p:sp>
            <p:nvSpPr>
              <p:cNvPr id="14" name="Freeform 14"/>
              <p:cNvSpPr/>
              <p:nvPr/>
            </p:nvSpPr>
            <p:spPr>
              <a:xfrm>
                <a:off x="0" y="0"/>
                <a:ext cx="5588000" cy="1143000"/>
              </a:xfrm>
              <a:custGeom>
                <a:avLst/>
                <a:gdLst/>
                <a:ahLst/>
                <a:cxnLst/>
                <a:rect l="l" t="t" r="r" b="b"/>
                <a:pathLst>
                  <a:path w="5588000" h="1143000">
                    <a:moveTo>
                      <a:pt x="51955" y="0"/>
                    </a:moveTo>
                    <a:lnTo>
                      <a:pt x="5536045" y="0"/>
                    </a:lnTo>
                    <a:cubicBezTo>
                      <a:pt x="5549825" y="0"/>
                      <a:pt x="5563040" y="5474"/>
                      <a:pt x="5572783" y="15217"/>
                    </a:cubicBezTo>
                    <a:cubicBezTo>
                      <a:pt x="5582526" y="24961"/>
                      <a:pt x="5588000" y="38175"/>
                      <a:pt x="5588000" y="51955"/>
                    </a:cubicBezTo>
                    <a:lnTo>
                      <a:pt x="5588000" y="1091045"/>
                    </a:lnTo>
                    <a:cubicBezTo>
                      <a:pt x="5588000" y="1104825"/>
                      <a:pt x="5582526" y="1118040"/>
                      <a:pt x="5572783" y="1127783"/>
                    </a:cubicBezTo>
                    <a:cubicBezTo>
                      <a:pt x="5563040" y="1137526"/>
                      <a:pt x="5549825" y="1143000"/>
                      <a:pt x="5536045" y="1143000"/>
                    </a:cubicBezTo>
                    <a:lnTo>
                      <a:pt x="51955" y="1143000"/>
                    </a:lnTo>
                    <a:cubicBezTo>
                      <a:pt x="38175" y="1143000"/>
                      <a:pt x="24961" y="1137526"/>
                      <a:pt x="15217" y="1127783"/>
                    </a:cubicBezTo>
                    <a:cubicBezTo>
                      <a:pt x="5474" y="1118040"/>
                      <a:pt x="0" y="1104825"/>
                      <a:pt x="0" y="1091045"/>
                    </a:cubicBezTo>
                    <a:lnTo>
                      <a:pt x="0" y="51955"/>
                    </a:lnTo>
                    <a:cubicBezTo>
                      <a:pt x="0" y="38175"/>
                      <a:pt x="5474" y="24961"/>
                      <a:pt x="15217" y="15217"/>
                    </a:cubicBezTo>
                    <a:cubicBezTo>
                      <a:pt x="24961" y="5474"/>
                      <a:pt x="38175" y="0"/>
                      <a:pt x="51955" y="0"/>
                    </a:cubicBezTo>
                    <a:close/>
                  </a:path>
                </a:pathLst>
              </a:custGeom>
              <a:solidFill>
                <a:srgbClr val="2979D8"/>
              </a:solidFill>
              <a:ln cap="sq">
                <a:noFill/>
                <a:prstDash val="solid"/>
                <a:miter/>
              </a:ln>
            </p:spPr>
            <p:txBody>
              <a:bodyPr/>
              <a:lstStyle/>
              <a:p>
                <a:endParaRPr lang="fr-BE" noProof="0" dirty="0"/>
              </a:p>
            </p:txBody>
          </p:sp>
          <p:sp>
            <p:nvSpPr>
              <p:cNvPr id="15" name="TextBox 15"/>
              <p:cNvSpPr txBox="1"/>
              <p:nvPr/>
            </p:nvSpPr>
            <p:spPr>
              <a:xfrm>
                <a:off x="0" y="9525"/>
                <a:ext cx="5588000" cy="1133475"/>
              </a:xfrm>
              <a:prstGeom prst="rect">
                <a:avLst/>
              </a:prstGeom>
            </p:spPr>
            <p:txBody>
              <a:bodyPr lIns="50800" tIns="50800" rIns="50800" bIns="50800" rtlCol="0" anchor="ctr"/>
              <a:lstStyle/>
              <a:p>
                <a:pPr algn="ctr">
                  <a:lnSpc>
                    <a:spcPts val="2156"/>
                  </a:lnSpc>
                </a:pPr>
                <a:r>
                  <a:rPr lang="fr-BE" sz="1875" b="1" noProof="0" dirty="0">
                    <a:solidFill>
                      <a:srgbClr val="FFFFFF"/>
                    </a:solidFill>
                    <a:latin typeface="DM Sans Bold"/>
                    <a:ea typeface="DM Sans Bold"/>
                    <a:cs typeface="DM Sans Bold"/>
                    <a:sym typeface="DM Sans Bold"/>
                  </a:rPr>
                  <a:t>CAPTURE DU QUIZ</a:t>
                </a:r>
              </a:p>
            </p:txBody>
          </p:sp>
        </p:grpSp>
        <p:sp>
          <p:nvSpPr>
            <p:cNvPr id="16" name="TextBox 16"/>
            <p:cNvSpPr txBox="1"/>
            <p:nvPr/>
          </p:nvSpPr>
          <p:spPr>
            <a:xfrm>
              <a:off x="444500" y="5813425"/>
              <a:ext cx="9334500" cy="376555"/>
            </a:xfrm>
            <a:prstGeom prst="rect">
              <a:avLst/>
            </a:prstGeom>
          </p:spPr>
          <p:txBody>
            <a:bodyPr lIns="0" tIns="0" rIns="0" bIns="0" rtlCol="0" anchor="t">
              <a:spAutoFit/>
            </a:bodyPr>
            <a:lstStyle/>
            <a:p>
              <a:pPr algn="l">
                <a:lnSpc>
                  <a:spcPts val="2415"/>
                </a:lnSpc>
              </a:pPr>
              <a:r>
                <a:rPr lang="fr-BE" sz="1725" b="1" spc="138" noProof="0" dirty="0">
                  <a:solidFill>
                    <a:srgbClr val="2979D8"/>
                  </a:solidFill>
                  <a:latin typeface="DM Sans Bold"/>
                  <a:ea typeface="DM Sans Bold"/>
                  <a:cs typeface="DM Sans Bold"/>
                  <a:sym typeface="DM Sans Bold"/>
                </a:rPr>
                <a:t>DEVINER L’OBJET</a:t>
              </a:r>
            </a:p>
          </p:txBody>
        </p:sp>
        <p:sp>
          <p:nvSpPr>
            <p:cNvPr id="17" name="TextBox 17"/>
            <p:cNvSpPr txBox="1"/>
            <p:nvPr/>
          </p:nvSpPr>
          <p:spPr>
            <a:xfrm>
              <a:off x="444500" y="6638925"/>
              <a:ext cx="9334500" cy="445165"/>
            </a:xfrm>
            <a:prstGeom prst="rect">
              <a:avLst/>
            </a:prstGeom>
          </p:spPr>
          <p:txBody>
            <a:bodyPr lIns="0" tIns="0" rIns="0" bIns="0" rtlCol="0" anchor="t">
              <a:spAutoFit/>
            </a:bodyPr>
            <a:lstStyle/>
            <a:p>
              <a:pPr algn="l">
                <a:lnSpc>
                  <a:spcPts val="2733"/>
                </a:lnSpc>
              </a:pPr>
              <a:r>
                <a:rPr lang="fr-BE" sz="2025" noProof="0" dirty="0">
                  <a:solidFill>
                    <a:srgbClr val="0B2447"/>
                  </a:solidFill>
                  <a:latin typeface="DM Sans"/>
                  <a:ea typeface="DM Sans"/>
                  <a:cs typeface="DM Sans"/>
                  <a:sym typeface="DM Sans"/>
                </a:rPr>
                <a:t>QCM, indice qui retire une proposition, bonus de rapidité.</a:t>
              </a:r>
            </a:p>
          </p:txBody>
        </p:sp>
      </p:grpSp>
      <p:grpSp>
        <p:nvGrpSpPr>
          <p:cNvPr id="18" name="Group 18"/>
          <p:cNvGrpSpPr/>
          <p:nvPr/>
        </p:nvGrpSpPr>
        <p:grpSpPr>
          <a:xfrm>
            <a:off x="9286875" y="2190750"/>
            <a:ext cx="7715250" cy="6191250"/>
            <a:chOff x="0" y="0"/>
            <a:chExt cx="10287000" cy="8255000"/>
          </a:xfrm>
        </p:grpSpPr>
        <p:grpSp>
          <p:nvGrpSpPr>
            <p:cNvPr id="19" name="Group 19"/>
            <p:cNvGrpSpPr/>
            <p:nvPr/>
          </p:nvGrpSpPr>
          <p:grpSpPr>
            <a:xfrm>
              <a:off x="0" y="0"/>
              <a:ext cx="10287000" cy="8255000"/>
              <a:chOff x="0" y="0"/>
              <a:chExt cx="10287000" cy="8255000"/>
            </a:xfrm>
          </p:grpSpPr>
          <p:sp>
            <p:nvSpPr>
              <p:cNvPr id="20" name="Freeform 20"/>
              <p:cNvSpPr/>
              <p:nvPr/>
            </p:nvSpPr>
            <p:spPr>
              <a:xfrm>
                <a:off x="0" y="0"/>
                <a:ext cx="10287000" cy="8255000"/>
              </a:xfrm>
              <a:custGeom>
                <a:avLst/>
                <a:gdLst/>
                <a:ahLst/>
                <a:cxnLst/>
                <a:rect l="l" t="t" r="r" b="b"/>
                <a:pathLst>
                  <a:path w="10287000" h="8255000">
                    <a:moveTo>
                      <a:pt x="0" y="0"/>
                    </a:moveTo>
                    <a:lnTo>
                      <a:pt x="10287000" y="0"/>
                    </a:lnTo>
                    <a:lnTo>
                      <a:pt x="10287000" y="8255000"/>
                    </a:lnTo>
                    <a:lnTo>
                      <a:pt x="0" y="8255000"/>
                    </a:lnTo>
                    <a:close/>
                  </a:path>
                </a:pathLst>
              </a:custGeom>
              <a:solidFill>
                <a:srgbClr val="EEF7FB"/>
              </a:solidFill>
              <a:ln cap="sq">
                <a:noFill/>
                <a:prstDash val="solid"/>
                <a:miter/>
              </a:ln>
            </p:spPr>
            <p:txBody>
              <a:bodyPr/>
              <a:lstStyle/>
              <a:p>
                <a:endParaRPr lang="fr-BE" noProof="0" dirty="0"/>
              </a:p>
            </p:txBody>
          </p:sp>
          <p:sp>
            <p:nvSpPr>
              <p:cNvPr id="21" name="TextBox 21"/>
              <p:cNvSpPr txBox="1"/>
              <p:nvPr/>
            </p:nvSpPr>
            <p:spPr>
              <a:xfrm>
                <a:off x="0" y="-38100"/>
                <a:ext cx="10287000" cy="8293100"/>
              </a:xfrm>
              <a:prstGeom prst="rect">
                <a:avLst/>
              </a:prstGeom>
            </p:spPr>
            <p:txBody>
              <a:bodyPr lIns="50800" tIns="50800" rIns="50800" bIns="50800" rtlCol="0" anchor="ctr"/>
              <a:lstStyle/>
              <a:p>
                <a:pPr algn="l">
                  <a:lnSpc>
                    <a:spcPts val="1679"/>
                  </a:lnSpc>
                </a:pPr>
                <a:endParaRPr lang="fr-BE" noProof="0" dirty="0"/>
              </a:p>
            </p:txBody>
          </p:sp>
        </p:grpSp>
        <p:grpSp>
          <p:nvGrpSpPr>
            <p:cNvPr id="22" name="Group 22"/>
            <p:cNvGrpSpPr/>
            <p:nvPr/>
          </p:nvGrpSpPr>
          <p:grpSpPr>
            <a:xfrm>
              <a:off x="444500" y="444500"/>
              <a:ext cx="9398000" cy="4826000"/>
              <a:chOff x="0" y="0"/>
              <a:chExt cx="9398000" cy="4826000"/>
            </a:xfrm>
          </p:grpSpPr>
          <p:sp>
            <p:nvSpPr>
              <p:cNvPr id="23" name="Freeform 23"/>
              <p:cNvSpPr/>
              <p:nvPr/>
            </p:nvSpPr>
            <p:spPr>
              <a:xfrm>
                <a:off x="0" y="0"/>
                <a:ext cx="9398000" cy="4826000"/>
              </a:xfrm>
              <a:custGeom>
                <a:avLst/>
                <a:gdLst/>
                <a:ahLst/>
                <a:cxnLst/>
                <a:rect l="l" t="t" r="r" b="b"/>
                <a:pathLst>
                  <a:path w="9398000" h="4826000">
                    <a:moveTo>
                      <a:pt x="0" y="0"/>
                    </a:moveTo>
                    <a:lnTo>
                      <a:pt x="9398000" y="0"/>
                    </a:lnTo>
                    <a:lnTo>
                      <a:pt x="9398000" y="4826000"/>
                    </a:lnTo>
                    <a:lnTo>
                      <a:pt x="0" y="4826000"/>
                    </a:lnTo>
                    <a:close/>
                  </a:path>
                </a:pathLst>
              </a:custGeom>
              <a:solidFill>
                <a:srgbClr val="07162F"/>
              </a:solidFill>
              <a:ln cap="sq">
                <a:noFill/>
                <a:prstDash val="solid"/>
                <a:miter/>
              </a:ln>
            </p:spPr>
            <p:txBody>
              <a:bodyPr/>
              <a:lstStyle/>
              <a:p>
                <a:endParaRPr lang="fr-BE" noProof="0" dirty="0"/>
              </a:p>
            </p:txBody>
          </p:sp>
          <p:sp>
            <p:nvSpPr>
              <p:cNvPr id="24" name="TextBox 24"/>
              <p:cNvSpPr txBox="1"/>
              <p:nvPr/>
            </p:nvSpPr>
            <p:spPr>
              <a:xfrm>
                <a:off x="0" y="-38100"/>
                <a:ext cx="9398000" cy="4864100"/>
              </a:xfrm>
              <a:prstGeom prst="rect">
                <a:avLst/>
              </a:prstGeom>
            </p:spPr>
            <p:txBody>
              <a:bodyPr lIns="50800" tIns="50800" rIns="50800" bIns="50800" rtlCol="0" anchor="ctr"/>
              <a:lstStyle/>
              <a:p>
                <a:pPr algn="l">
                  <a:lnSpc>
                    <a:spcPts val="1679"/>
                  </a:lnSpc>
                </a:pPr>
                <a:endParaRPr lang="fr-BE" noProof="0" dirty="0"/>
              </a:p>
            </p:txBody>
          </p:sp>
        </p:grpSp>
        <p:grpSp>
          <p:nvGrpSpPr>
            <p:cNvPr id="25" name="Group 25"/>
            <p:cNvGrpSpPr/>
            <p:nvPr/>
          </p:nvGrpSpPr>
          <p:grpSpPr>
            <a:xfrm>
              <a:off x="2349500" y="2222500"/>
              <a:ext cx="5588000" cy="1143000"/>
              <a:chOff x="0" y="0"/>
              <a:chExt cx="5588000" cy="1143000"/>
            </a:xfrm>
          </p:grpSpPr>
          <p:sp>
            <p:nvSpPr>
              <p:cNvPr id="26" name="Freeform 26"/>
              <p:cNvSpPr/>
              <p:nvPr/>
            </p:nvSpPr>
            <p:spPr>
              <a:xfrm>
                <a:off x="0" y="0"/>
                <a:ext cx="5588000" cy="1143000"/>
              </a:xfrm>
              <a:custGeom>
                <a:avLst/>
                <a:gdLst/>
                <a:ahLst/>
                <a:cxnLst/>
                <a:rect l="l" t="t" r="r" b="b"/>
                <a:pathLst>
                  <a:path w="5588000" h="1143000">
                    <a:moveTo>
                      <a:pt x="51955" y="0"/>
                    </a:moveTo>
                    <a:lnTo>
                      <a:pt x="5536045" y="0"/>
                    </a:lnTo>
                    <a:cubicBezTo>
                      <a:pt x="5549825" y="0"/>
                      <a:pt x="5563040" y="5474"/>
                      <a:pt x="5572783" y="15217"/>
                    </a:cubicBezTo>
                    <a:cubicBezTo>
                      <a:pt x="5582526" y="24961"/>
                      <a:pt x="5588000" y="38175"/>
                      <a:pt x="5588000" y="51955"/>
                    </a:cubicBezTo>
                    <a:lnTo>
                      <a:pt x="5588000" y="1091045"/>
                    </a:lnTo>
                    <a:cubicBezTo>
                      <a:pt x="5588000" y="1104825"/>
                      <a:pt x="5582526" y="1118040"/>
                      <a:pt x="5572783" y="1127783"/>
                    </a:cubicBezTo>
                    <a:cubicBezTo>
                      <a:pt x="5563040" y="1137526"/>
                      <a:pt x="5549825" y="1143000"/>
                      <a:pt x="5536045" y="1143000"/>
                    </a:cubicBezTo>
                    <a:lnTo>
                      <a:pt x="51955" y="1143000"/>
                    </a:lnTo>
                    <a:cubicBezTo>
                      <a:pt x="38175" y="1143000"/>
                      <a:pt x="24961" y="1137526"/>
                      <a:pt x="15217" y="1127783"/>
                    </a:cubicBezTo>
                    <a:cubicBezTo>
                      <a:pt x="5474" y="1118040"/>
                      <a:pt x="0" y="1104825"/>
                      <a:pt x="0" y="1091045"/>
                    </a:cubicBezTo>
                    <a:lnTo>
                      <a:pt x="0" y="51955"/>
                    </a:lnTo>
                    <a:cubicBezTo>
                      <a:pt x="0" y="38175"/>
                      <a:pt x="5474" y="24961"/>
                      <a:pt x="15217" y="15217"/>
                    </a:cubicBezTo>
                    <a:cubicBezTo>
                      <a:pt x="24961" y="5474"/>
                      <a:pt x="38175" y="0"/>
                      <a:pt x="51955" y="0"/>
                    </a:cubicBezTo>
                    <a:close/>
                  </a:path>
                </a:pathLst>
              </a:custGeom>
              <a:solidFill>
                <a:srgbClr val="25C7B7"/>
              </a:solidFill>
              <a:ln cap="sq">
                <a:noFill/>
                <a:prstDash val="solid"/>
                <a:miter/>
              </a:ln>
            </p:spPr>
            <p:txBody>
              <a:bodyPr/>
              <a:lstStyle/>
              <a:p>
                <a:endParaRPr lang="fr-BE" noProof="0" dirty="0"/>
              </a:p>
            </p:txBody>
          </p:sp>
          <p:sp>
            <p:nvSpPr>
              <p:cNvPr id="27" name="TextBox 27"/>
              <p:cNvSpPr txBox="1"/>
              <p:nvPr/>
            </p:nvSpPr>
            <p:spPr>
              <a:xfrm>
                <a:off x="0" y="9525"/>
                <a:ext cx="5588000" cy="1133475"/>
              </a:xfrm>
              <a:prstGeom prst="rect">
                <a:avLst/>
              </a:prstGeom>
            </p:spPr>
            <p:txBody>
              <a:bodyPr lIns="50800" tIns="50800" rIns="50800" bIns="50800" rtlCol="0" anchor="ctr"/>
              <a:lstStyle/>
              <a:p>
                <a:pPr algn="ctr">
                  <a:lnSpc>
                    <a:spcPts val="2156"/>
                  </a:lnSpc>
                </a:pPr>
                <a:r>
                  <a:rPr lang="fr-BE" sz="1875" b="1" noProof="0" dirty="0">
                    <a:solidFill>
                      <a:srgbClr val="FFFFFF"/>
                    </a:solidFill>
                    <a:latin typeface="DM Sans Bold"/>
                    <a:ea typeface="DM Sans Bold"/>
                    <a:cs typeface="DM Sans Bold"/>
                    <a:sym typeface="DM Sans Bold"/>
                  </a:rPr>
                  <a:t>CAPTURE DU QUIZ</a:t>
                </a:r>
              </a:p>
            </p:txBody>
          </p:sp>
        </p:grpSp>
        <p:sp>
          <p:nvSpPr>
            <p:cNvPr id="28" name="TextBox 28"/>
            <p:cNvSpPr txBox="1"/>
            <p:nvPr/>
          </p:nvSpPr>
          <p:spPr>
            <a:xfrm>
              <a:off x="444500" y="5813425"/>
              <a:ext cx="9334500" cy="376555"/>
            </a:xfrm>
            <a:prstGeom prst="rect">
              <a:avLst/>
            </a:prstGeom>
          </p:spPr>
          <p:txBody>
            <a:bodyPr lIns="0" tIns="0" rIns="0" bIns="0" rtlCol="0" anchor="t">
              <a:spAutoFit/>
            </a:bodyPr>
            <a:lstStyle/>
            <a:p>
              <a:pPr algn="l">
                <a:lnSpc>
                  <a:spcPts val="2415"/>
                </a:lnSpc>
              </a:pPr>
              <a:r>
                <a:rPr lang="fr-BE" sz="1725" b="1" spc="138" noProof="0" dirty="0">
                  <a:solidFill>
                    <a:srgbClr val="2979D8"/>
                  </a:solidFill>
                  <a:latin typeface="DM Sans Bold"/>
                  <a:ea typeface="DM Sans Bold"/>
                  <a:cs typeface="DM Sans Bold"/>
                  <a:sym typeface="DM Sans Bold"/>
                </a:rPr>
                <a:t>LOCALISER L’OBJET</a:t>
              </a:r>
            </a:p>
          </p:txBody>
        </p:sp>
        <p:sp>
          <p:nvSpPr>
            <p:cNvPr id="29" name="TextBox 29"/>
            <p:cNvSpPr txBox="1"/>
            <p:nvPr/>
          </p:nvSpPr>
          <p:spPr>
            <a:xfrm>
              <a:off x="444500" y="6638925"/>
              <a:ext cx="9334500" cy="434340"/>
            </a:xfrm>
            <a:prstGeom prst="rect">
              <a:avLst/>
            </a:prstGeom>
          </p:spPr>
          <p:txBody>
            <a:bodyPr lIns="0" tIns="0" rIns="0" bIns="0" rtlCol="0" anchor="t">
              <a:spAutoFit/>
            </a:bodyPr>
            <a:lstStyle/>
            <a:p>
              <a:pPr algn="l">
                <a:lnSpc>
                  <a:spcPts val="2733"/>
                </a:lnSpc>
              </a:pPr>
              <a:r>
                <a:rPr lang="fr-BE" sz="2025" noProof="0" dirty="0">
                  <a:solidFill>
                    <a:srgbClr val="0B2447"/>
                  </a:solidFill>
                  <a:latin typeface="DM Sans"/>
                  <a:ea typeface="DM Sans"/>
                  <a:cs typeface="DM Sans"/>
                  <a:sym typeface="DM Sans"/>
                </a:rPr>
                <a:t>Sélection sur la carte, distance affichée et zone d’indice.</a:t>
              </a:r>
            </a:p>
          </p:txBody>
        </p:sp>
      </p:grpSp>
      <p:sp>
        <p:nvSpPr>
          <p:cNvPr id="30" name="TextBox 30"/>
          <p:cNvSpPr txBox="1"/>
          <p:nvPr/>
        </p:nvSpPr>
        <p:spPr>
          <a:xfrm>
            <a:off x="1047750" y="9696450"/>
            <a:ext cx="16192500" cy="222885"/>
          </a:xfrm>
          <a:prstGeom prst="rect">
            <a:avLst/>
          </a:prstGeom>
        </p:spPr>
        <p:txBody>
          <a:bodyPr lIns="0" tIns="0" rIns="0" bIns="0" rtlCol="0" anchor="t">
            <a:spAutoFit/>
          </a:bodyPr>
          <a:lstStyle/>
          <a:p>
            <a:pPr algn="l">
              <a:lnSpc>
                <a:spcPts val="1889"/>
              </a:lnSpc>
            </a:pPr>
            <a:r>
              <a:rPr lang="fr-BE" sz="1350" noProof="0" dirty="0">
                <a:solidFill>
                  <a:srgbClr val="5F7187"/>
                </a:solidFill>
                <a:latin typeface="DM Sans"/>
                <a:ea typeface="DM Sans"/>
                <a:cs typeface="DM Sans"/>
                <a:sym typeface="DM Sans"/>
              </a:rPr>
              <a:t>AndromeSky — TFE Développement Web </a:t>
            </a:r>
            <a:r>
              <a:rPr lang="fr-BE" sz="1350" noProof="0" dirty="0" err="1">
                <a:solidFill>
                  <a:srgbClr val="5F7187"/>
                </a:solidFill>
                <a:latin typeface="DM Sans"/>
                <a:ea typeface="DM Sans"/>
                <a:cs typeface="DM Sans"/>
                <a:sym typeface="DM Sans"/>
              </a:rPr>
              <a:t>Front-End</a:t>
            </a:r>
            <a:r>
              <a:rPr lang="fr-BE" sz="1350" noProof="0" dirty="0">
                <a:solidFill>
                  <a:srgbClr val="5F7187"/>
                </a:solidFill>
                <a:latin typeface="DM Sans"/>
                <a:ea typeface="DM Sans"/>
                <a:cs typeface="DM Sans"/>
                <a:sym typeface="DM Sans"/>
              </a:rPr>
              <a:t>                                      7</a:t>
            </a:r>
          </a:p>
        </p:txBody>
      </p:sp>
      <p:pic>
        <p:nvPicPr>
          <p:cNvPr id="32" name="Image 31">
            <a:extLst>
              <a:ext uri="{FF2B5EF4-FFF2-40B4-BE49-F238E27FC236}">
                <a16:creationId xmlns:a16="http://schemas.microsoft.com/office/drawing/2014/main" id="{FCF3CFA2-BBC5-F7CC-FC3B-DFC04D801602}"/>
              </a:ext>
            </a:extLst>
          </p:cNvPr>
          <p:cNvPicPr>
            <a:picLocks noChangeAspect="1"/>
          </p:cNvPicPr>
          <p:nvPr/>
        </p:nvPicPr>
        <p:blipFill>
          <a:blip r:embed="rId3"/>
          <a:stretch>
            <a:fillRect/>
          </a:stretch>
        </p:blipFill>
        <p:spPr>
          <a:xfrm>
            <a:off x="1247775" y="2452534"/>
            <a:ext cx="7315200" cy="3727636"/>
          </a:xfrm>
          <a:prstGeom prst="roundRect">
            <a:avLst>
              <a:gd name="adj" fmla="val 4339"/>
            </a:avLst>
          </a:prstGeom>
          <a:solidFill>
            <a:srgbClr val="FFFFFF">
              <a:shade val="85000"/>
            </a:srgbClr>
          </a:solidFill>
          <a:ln>
            <a:noFill/>
          </a:ln>
          <a:effectLst>
            <a:reflection blurRad="12700" stA="30000" endPos="28000" dist="5000" dir="5400000" sy="-100000" algn="bl" rotWithShape="0"/>
          </a:effectLst>
        </p:spPr>
      </p:pic>
      <p:pic>
        <p:nvPicPr>
          <p:cNvPr id="34" name="Image 33">
            <a:extLst>
              <a:ext uri="{FF2B5EF4-FFF2-40B4-BE49-F238E27FC236}">
                <a16:creationId xmlns:a16="http://schemas.microsoft.com/office/drawing/2014/main" id="{2E16CA08-D5CD-329D-22DF-94C1CE2C7A5F}"/>
              </a:ext>
            </a:extLst>
          </p:cNvPr>
          <p:cNvPicPr>
            <a:picLocks noChangeAspect="1"/>
          </p:cNvPicPr>
          <p:nvPr/>
        </p:nvPicPr>
        <p:blipFill>
          <a:blip r:embed="rId4"/>
          <a:stretch>
            <a:fillRect/>
          </a:stretch>
        </p:blipFill>
        <p:spPr>
          <a:xfrm>
            <a:off x="9478465" y="2473653"/>
            <a:ext cx="7332070" cy="3727637"/>
          </a:xfrm>
          <a:prstGeom prst="roundRect">
            <a:avLst>
              <a:gd name="adj" fmla="val 4339"/>
            </a:avLst>
          </a:prstGeom>
          <a:solidFill>
            <a:srgbClr val="FFFFFF">
              <a:shade val="85000"/>
            </a:srgbClr>
          </a:solidFill>
          <a:ln>
            <a:noFill/>
          </a:ln>
          <a:effectLst>
            <a:reflection blurRad="12700" stA="30000" endPos="28000" dist="5000" dir="5400000" sy="-100000" algn="bl" rotWithShape="0"/>
          </a:effectLst>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47750" y="685800"/>
            <a:ext cx="15621000" cy="554736"/>
          </a:xfrm>
          <a:prstGeom prst="rect">
            <a:avLst/>
          </a:prstGeom>
        </p:spPr>
        <p:txBody>
          <a:bodyPr lIns="0" tIns="0" rIns="0" bIns="0" rtlCol="0" anchor="t">
            <a:spAutoFit/>
          </a:bodyPr>
          <a:lstStyle/>
          <a:p>
            <a:pPr algn="l">
              <a:lnSpc>
                <a:spcPts val="4212"/>
              </a:lnSpc>
            </a:pPr>
            <a:r>
              <a:rPr lang="fr-BE" sz="3900" b="1" noProof="0" dirty="0">
                <a:solidFill>
                  <a:srgbClr val="0B2447"/>
                </a:solidFill>
                <a:latin typeface="Sinar Grotesk Bold"/>
                <a:ea typeface="Sinar Grotesk Bold"/>
                <a:cs typeface="Sinar Grotesk Bold"/>
                <a:sym typeface="Sinar Grotesk Bold"/>
              </a:rPr>
              <a:t>La stabilité a été priorisée avant l’enrichissement</a:t>
            </a:r>
          </a:p>
        </p:txBody>
      </p:sp>
      <p:grpSp>
        <p:nvGrpSpPr>
          <p:cNvPr id="3" name="Group 3"/>
          <p:cNvGrpSpPr/>
          <p:nvPr/>
        </p:nvGrpSpPr>
        <p:grpSpPr>
          <a:xfrm>
            <a:off x="1047750" y="1428750"/>
            <a:ext cx="1123950" cy="47625"/>
            <a:chOff x="0" y="0"/>
            <a:chExt cx="1498600" cy="63500"/>
          </a:xfrm>
        </p:grpSpPr>
        <p:sp>
          <p:nvSpPr>
            <p:cNvPr id="4" name="Freeform 4"/>
            <p:cNvSpPr/>
            <p:nvPr/>
          </p:nvSpPr>
          <p:spPr>
            <a:xfrm>
              <a:off x="0" y="0"/>
              <a:ext cx="1498600" cy="63500"/>
            </a:xfrm>
            <a:custGeom>
              <a:avLst/>
              <a:gdLst/>
              <a:ahLst/>
              <a:cxnLst/>
              <a:rect l="l" t="t" r="r" b="b"/>
              <a:pathLst>
                <a:path w="1498600" h="63500">
                  <a:moveTo>
                    <a:pt x="0" y="0"/>
                  </a:moveTo>
                  <a:lnTo>
                    <a:pt x="1498600" y="0"/>
                  </a:lnTo>
                  <a:lnTo>
                    <a:pt x="1498600" y="63500"/>
                  </a:lnTo>
                  <a:lnTo>
                    <a:pt x="0" y="63500"/>
                  </a:lnTo>
                  <a:close/>
                </a:path>
              </a:pathLst>
            </a:custGeom>
            <a:solidFill>
              <a:srgbClr val="2979D8"/>
            </a:solidFill>
            <a:ln cap="sq">
              <a:noFill/>
              <a:prstDash val="solid"/>
              <a:miter/>
            </a:ln>
          </p:spPr>
          <p:txBody>
            <a:bodyPr/>
            <a:lstStyle/>
            <a:p>
              <a:endParaRPr lang="fr-BE" noProof="0" dirty="0"/>
            </a:p>
          </p:txBody>
        </p:sp>
        <p:sp>
          <p:nvSpPr>
            <p:cNvPr id="5" name="TextBox 5"/>
            <p:cNvSpPr txBox="1"/>
            <p:nvPr/>
          </p:nvSpPr>
          <p:spPr>
            <a:xfrm>
              <a:off x="0" y="-38100"/>
              <a:ext cx="1498600" cy="101600"/>
            </a:xfrm>
            <a:prstGeom prst="rect">
              <a:avLst/>
            </a:prstGeom>
          </p:spPr>
          <p:txBody>
            <a:bodyPr lIns="50800" tIns="50800" rIns="50800" bIns="50800" rtlCol="0" anchor="ctr"/>
            <a:lstStyle/>
            <a:p>
              <a:pPr algn="l">
                <a:lnSpc>
                  <a:spcPts val="1679"/>
                </a:lnSpc>
              </a:pPr>
              <a:endParaRPr lang="fr-BE" noProof="0" dirty="0"/>
            </a:p>
          </p:txBody>
        </p:sp>
      </p:grpSp>
      <p:grpSp>
        <p:nvGrpSpPr>
          <p:cNvPr id="6" name="Group 6"/>
          <p:cNvGrpSpPr/>
          <p:nvPr/>
        </p:nvGrpSpPr>
        <p:grpSpPr>
          <a:xfrm>
            <a:off x="1047750" y="2333625"/>
            <a:ext cx="15716250" cy="1719739"/>
            <a:chOff x="0" y="0"/>
            <a:chExt cx="20955000" cy="2292985"/>
          </a:xfrm>
        </p:grpSpPr>
        <p:grpSp>
          <p:nvGrpSpPr>
            <p:cNvPr id="7" name="Group 7"/>
            <p:cNvGrpSpPr/>
            <p:nvPr/>
          </p:nvGrpSpPr>
          <p:grpSpPr>
            <a:xfrm>
              <a:off x="0" y="0"/>
              <a:ext cx="20955000" cy="2292985"/>
              <a:chOff x="0" y="0"/>
              <a:chExt cx="20955000" cy="2292985"/>
            </a:xfrm>
          </p:grpSpPr>
          <p:sp>
            <p:nvSpPr>
              <p:cNvPr id="8" name="Freeform 8"/>
              <p:cNvSpPr/>
              <p:nvPr/>
            </p:nvSpPr>
            <p:spPr>
              <a:xfrm>
                <a:off x="0" y="0"/>
                <a:ext cx="20955000" cy="2292985"/>
              </a:xfrm>
              <a:custGeom>
                <a:avLst/>
                <a:gdLst/>
                <a:ahLst/>
                <a:cxnLst/>
                <a:rect l="l" t="t" r="r" b="b"/>
                <a:pathLst>
                  <a:path w="20955000" h="2292985">
                    <a:moveTo>
                      <a:pt x="0" y="0"/>
                    </a:moveTo>
                    <a:lnTo>
                      <a:pt x="20955000" y="0"/>
                    </a:lnTo>
                    <a:lnTo>
                      <a:pt x="20955000" y="2292985"/>
                    </a:lnTo>
                    <a:lnTo>
                      <a:pt x="0" y="2292985"/>
                    </a:lnTo>
                    <a:close/>
                  </a:path>
                </a:pathLst>
              </a:custGeom>
              <a:solidFill>
                <a:srgbClr val="F7FBFD"/>
              </a:solidFill>
              <a:ln cap="sq">
                <a:noFill/>
                <a:prstDash val="solid"/>
                <a:miter/>
              </a:ln>
            </p:spPr>
            <p:txBody>
              <a:bodyPr/>
              <a:lstStyle/>
              <a:p>
                <a:endParaRPr lang="fr-BE" noProof="0" dirty="0"/>
              </a:p>
            </p:txBody>
          </p:sp>
          <p:sp>
            <p:nvSpPr>
              <p:cNvPr id="9" name="TextBox 9"/>
              <p:cNvSpPr txBox="1"/>
              <p:nvPr/>
            </p:nvSpPr>
            <p:spPr>
              <a:xfrm>
                <a:off x="0" y="-38100"/>
                <a:ext cx="20955000" cy="2331085"/>
              </a:xfrm>
              <a:prstGeom prst="rect">
                <a:avLst/>
              </a:prstGeom>
            </p:spPr>
            <p:txBody>
              <a:bodyPr lIns="50800" tIns="50800" rIns="50800" bIns="50800" rtlCol="0" anchor="ctr"/>
              <a:lstStyle/>
              <a:p>
                <a:pPr algn="l">
                  <a:lnSpc>
                    <a:spcPts val="1679"/>
                  </a:lnSpc>
                </a:pPr>
                <a:endParaRPr lang="fr-BE" noProof="0" dirty="0"/>
              </a:p>
            </p:txBody>
          </p:sp>
        </p:grpSp>
        <p:sp>
          <p:nvSpPr>
            <p:cNvPr id="10" name="TextBox 10"/>
            <p:cNvSpPr txBox="1"/>
            <p:nvPr/>
          </p:nvSpPr>
          <p:spPr>
            <a:xfrm>
              <a:off x="444500" y="187325"/>
              <a:ext cx="1524000" cy="795655"/>
            </a:xfrm>
            <a:prstGeom prst="rect">
              <a:avLst/>
            </a:prstGeom>
          </p:spPr>
          <p:txBody>
            <a:bodyPr lIns="0" tIns="0" rIns="0" bIns="0" rtlCol="0" anchor="t">
              <a:spAutoFit/>
            </a:bodyPr>
            <a:lstStyle/>
            <a:p>
              <a:pPr algn="l">
                <a:lnSpc>
                  <a:spcPts val="5040"/>
                </a:lnSpc>
              </a:pPr>
              <a:r>
                <a:rPr lang="fr-BE" sz="3600" b="1" noProof="0" dirty="0">
                  <a:solidFill>
                    <a:srgbClr val="2979D8"/>
                  </a:solidFill>
                  <a:latin typeface="Sinar Grotesk Bold"/>
                  <a:ea typeface="Sinar Grotesk Bold"/>
                  <a:cs typeface="Sinar Grotesk Bold"/>
                  <a:sym typeface="Sinar Grotesk Bold"/>
                </a:rPr>
                <a:t>01</a:t>
              </a:r>
            </a:p>
          </p:txBody>
        </p:sp>
        <p:sp>
          <p:nvSpPr>
            <p:cNvPr id="11" name="TextBox 11"/>
            <p:cNvSpPr txBox="1"/>
            <p:nvPr/>
          </p:nvSpPr>
          <p:spPr>
            <a:xfrm>
              <a:off x="2921000" y="142875"/>
              <a:ext cx="5969000" cy="558165"/>
            </a:xfrm>
            <a:prstGeom prst="rect">
              <a:avLst/>
            </a:prstGeom>
          </p:spPr>
          <p:txBody>
            <a:bodyPr lIns="0" tIns="0" rIns="0" bIns="0" rtlCol="0" anchor="t">
              <a:spAutoFit/>
            </a:bodyPr>
            <a:lstStyle/>
            <a:p>
              <a:pPr algn="l">
                <a:lnSpc>
                  <a:spcPts val="3569"/>
                </a:lnSpc>
              </a:pPr>
              <a:r>
                <a:rPr lang="fr-BE" sz="2550" b="1" noProof="0" dirty="0">
                  <a:solidFill>
                    <a:srgbClr val="0B2447"/>
                  </a:solidFill>
                  <a:latin typeface="Sinar Grotesk Bold"/>
                  <a:ea typeface="Sinar Grotesk Bold"/>
                  <a:cs typeface="Sinar Grotesk Bold"/>
                  <a:sym typeface="Sinar Grotesk Bold"/>
                </a:rPr>
                <a:t>POC Aladin Lite</a:t>
              </a:r>
            </a:p>
          </p:txBody>
        </p:sp>
        <p:sp>
          <p:nvSpPr>
            <p:cNvPr id="12" name="TextBox 12"/>
            <p:cNvSpPr txBox="1"/>
            <p:nvPr/>
          </p:nvSpPr>
          <p:spPr>
            <a:xfrm>
              <a:off x="9398000" y="225425"/>
              <a:ext cx="10541000" cy="906831"/>
            </a:xfrm>
            <a:prstGeom prst="rect">
              <a:avLst/>
            </a:prstGeom>
          </p:spPr>
          <p:txBody>
            <a:bodyPr lIns="0" tIns="0" rIns="0" bIns="0" rtlCol="0" anchor="t">
              <a:spAutoFit/>
            </a:bodyPr>
            <a:lstStyle/>
            <a:p>
              <a:pPr algn="l">
                <a:lnSpc>
                  <a:spcPts val="2733"/>
                </a:lnSpc>
              </a:pPr>
              <a:r>
                <a:rPr lang="fr-BE" sz="2025" noProof="0" dirty="0">
                  <a:solidFill>
                    <a:srgbClr val="0B2447"/>
                  </a:solidFill>
                  <a:latin typeface="DM Sans"/>
                  <a:ea typeface="DM Sans"/>
                  <a:cs typeface="DM Sans"/>
                  <a:sym typeface="DM Sans"/>
                </a:rPr>
                <a:t>Valider affichage, zoom, navigation (drag &amp; drop), coordonnées et centrage</a:t>
              </a:r>
            </a:p>
          </p:txBody>
        </p:sp>
      </p:grpSp>
      <p:grpSp>
        <p:nvGrpSpPr>
          <p:cNvPr id="13" name="Group 13"/>
          <p:cNvGrpSpPr/>
          <p:nvPr/>
        </p:nvGrpSpPr>
        <p:grpSpPr>
          <a:xfrm>
            <a:off x="1047750" y="4476750"/>
            <a:ext cx="15716250" cy="1619250"/>
            <a:chOff x="0" y="0"/>
            <a:chExt cx="20955000" cy="2159000"/>
          </a:xfrm>
        </p:grpSpPr>
        <p:grpSp>
          <p:nvGrpSpPr>
            <p:cNvPr id="14" name="Group 14"/>
            <p:cNvGrpSpPr/>
            <p:nvPr/>
          </p:nvGrpSpPr>
          <p:grpSpPr>
            <a:xfrm>
              <a:off x="0" y="0"/>
              <a:ext cx="20955000" cy="2159000"/>
              <a:chOff x="0" y="0"/>
              <a:chExt cx="20955000" cy="2159000"/>
            </a:xfrm>
          </p:grpSpPr>
          <p:sp>
            <p:nvSpPr>
              <p:cNvPr id="15" name="Freeform 15"/>
              <p:cNvSpPr/>
              <p:nvPr/>
            </p:nvSpPr>
            <p:spPr>
              <a:xfrm>
                <a:off x="0" y="0"/>
                <a:ext cx="20955000" cy="2159000"/>
              </a:xfrm>
              <a:custGeom>
                <a:avLst/>
                <a:gdLst/>
                <a:ahLst/>
                <a:cxnLst/>
                <a:rect l="l" t="t" r="r" b="b"/>
                <a:pathLst>
                  <a:path w="20955000" h="2159000">
                    <a:moveTo>
                      <a:pt x="0" y="0"/>
                    </a:moveTo>
                    <a:lnTo>
                      <a:pt x="20955000" y="0"/>
                    </a:lnTo>
                    <a:lnTo>
                      <a:pt x="20955000" y="2159000"/>
                    </a:lnTo>
                    <a:lnTo>
                      <a:pt x="0" y="2159000"/>
                    </a:lnTo>
                    <a:close/>
                  </a:path>
                </a:pathLst>
              </a:custGeom>
              <a:solidFill>
                <a:srgbClr val="EEF7FB"/>
              </a:solidFill>
              <a:ln cap="sq">
                <a:noFill/>
                <a:prstDash val="solid"/>
                <a:miter/>
              </a:ln>
            </p:spPr>
            <p:txBody>
              <a:bodyPr/>
              <a:lstStyle/>
              <a:p>
                <a:endParaRPr lang="fr-BE" noProof="0" dirty="0"/>
              </a:p>
            </p:txBody>
          </p:sp>
          <p:sp>
            <p:nvSpPr>
              <p:cNvPr id="16" name="TextBox 16"/>
              <p:cNvSpPr txBox="1"/>
              <p:nvPr/>
            </p:nvSpPr>
            <p:spPr>
              <a:xfrm>
                <a:off x="0" y="-38100"/>
                <a:ext cx="20955000" cy="2197100"/>
              </a:xfrm>
              <a:prstGeom prst="rect">
                <a:avLst/>
              </a:prstGeom>
            </p:spPr>
            <p:txBody>
              <a:bodyPr lIns="50800" tIns="50800" rIns="50800" bIns="50800" rtlCol="0" anchor="ctr"/>
              <a:lstStyle/>
              <a:p>
                <a:pPr algn="l">
                  <a:lnSpc>
                    <a:spcPts val="1679"/>
                  </a:lnSpc>
                </a:pPr>
                <a:endParaRPr lang="fr-BE" noProof="0" dirty="0"/>
              </a:p>
            </p:txBody>
          </p:sp>
        </p:grpSp>
        <p:sp>
          <p:nvSpPr>
            <p:cNvPr id="17" name="TextBox 17"/>
            <p:cNvSpPr txBox="1"/>
            <p:nvPr/>
          </p:nvSpPr>
          <p:spPr>
            <a:xfrm>
              <a:off x="444500" y="187325"/>
              <a:ext cx="1524000" cy="795655"/>
            </a:xfrm>
            <a:prstGeom prst="rect">
              <a:avLst/>
            </a:prstGeom>
          </p:spPr>
          <p:txBody>
            <a:bodyPr lIns="0" tIns="0" rIns="0" bIns="0" rtlCol="0" anchor="t">
              <a:spAutoFit/>
            </a:bodyPr>
            <a:lstStyle/>
            <a:p>
              <a:pPr algn="l">
                <a:lnSpc>
                  <a:spcPts val="5040"/>
                </a:lnSpc>
              </a:pPr>
              <a:r>
                <a:rPr lang="fr-BE" sz="3600" b="1" noProof="0" dirty="0">
                  <a:solidFill>
                    <a:srgbClr val="25C7B7"/>
                  </a:solidFill>
                  <a:latin typeface="Sinar Grotesk Bold"/>
                  <a:ea typeface="Sinar Grotesk Bold"/>
                  <a:cs typeface="Sinar Grotesk Bold"/>
                  <a:sym typeface="Sinar Grotesk Bold"/>
                </a:rPr>
                <a:t>02</a:t>
              </a:r>
            </a:p>
          </p:txBody>
        </p:sp>
        <p:sp>
          <p:nvSpPr>
            <p:cNvPr id="18" name="TextBox 18"/>
            <p:cNvSpPr txBox="1"/>
            <p:nvPr/>
          </p:nvSpPr>
          <p:spPr>
            <a:xfrm>
              <a:off x="2921000" y="142875"/>
              <a:ext cx="5969000" cy="558165"/>
            </a:xfrm>
            <a:prstGeom prst="rect">
              <a:avLst/>
            </a:prstGeom>
          </p:spPr>
          <p:txBody>
            <a:bodyPr lIns="0" tIns="0" rIns="0" bIns="0" rtlCol="0" anchor="t">
              <a:spAutoFit/>
            </a:bodyPr>
            <a:lstStyle/>
            <a:p>
              <a:pPr algn="l">
                <a:lnSpc>
                  <a:spcPts val="3569"/>
                </a:lnSpc>
              </a:pPr>
              <a:r>
                <a:rPr lang="fr-BE" sz="2550" b="1" noProof="0" dirty="0">
                  <a:solidFill>
                    <a:srgbClr val="0B2447"/>
                  </a:solidFill>
                  <a:latin typeface="Sinar Grotesk Bold"/>
                  <a:ea typeface="Sinar Grotesk Bold"/>
                  <a:cs typeface="Sinar Grotesk Bold"/>
                  <a:sym typeface="Sinar Grotesk Bold"/>
                </a:rPr>
                <a:t>Données externes</a:t>
              </a:r>
            </a:p>
          </p:txBody>
        </p:sp>
        <p:sp>
          <p:nvSpPr>
            <p:cNvPr id="19" name="TextBox 19"/>
            <p:cNvSpPr txBox="1"/>
            <p:nvPr/>
          </p:nvSpPr>
          <p:spPr>
            <a:xfrm>
              <a:off x="9398000" y="225425"/>
              <a:ext cx="10541000" cy="891540"/>
            </a:xfrm>
            <a:prstGeom prst="rect">
              <a:avLst/>
            </a:prstGeom>
          </p:spPr>
          <p:txBody>
            <a:bodyPr lIns="0" tIns="0" rIns="0" bIns="0" rtlCol="0" anchor="t">
              <a:spAutoFit/>
            </a:bodyPr>
            <a:lstStyle/>
            <a:p>
              <a:pPr algn="l">
                <a:lnSpc>
                  <a:spcPts val="2733"/>
                </a:lnSpc>
              </a:pPr>
              <a:r>
                <a:rPr lang="fr-BE" sz="2025" noProof="0" dirty="0">
                  <a:solidFill>
                    <a:srgbClr val="0B2447"/>
                  </a:solidFill>
                  <a:latin typeface="DM Sans"/>
                  <a:ea typeface="DM Sans"/>
                  <a:cs typeface="DM Sans"/>
                  <a:sym typeface="DM Sans"/>
                </a:rPr>
                <a:t>Gérer les ambiguïtés Wikipédia/NASA par alias, catégories et score de pertinence</a:t>
              </a:r>
            </a:p>
          </p:txBody>
        </p:sp>
      </p:grpSp>
      <p:grpSp>
        <p:nvGrpSpPr>
          <p:cNvPr id="20" name="Group 20"/>
          <p:cNvGrpSpPr/>
          <p:nvPr/>
        </p:nvGrpSpPr>
        <p:grpSpPr>
          <a:xfrm>
            <a:off x="1047750" y="6619875"/>
            <a:ext cx="15716250" cy="1619250"/>
            <a:chOff x="0" y="0"/>
            <a:chExt cx="20955000" cy="2159000"/>
          </a:xfrm>
        </p:grpSpPr>
        <p:grpSp>
          <p:nvGrpSpPr>
            <p:cNvPr id="21" name="Group 21"/>
            <p:cNvGrpSpPr/>
            <p:nvPr/>
          </p:nvGrpSpPr>
          <p:grpSpPr>
            <a:xfrm>
              <a:off x="0" y="0"/>
              <a:ext cx="20955000" cy="2159000"/>
              <a:chOff x="0" y="0"/>
              <a:chExt cx="20955000" cy="2159000"/>
            </a:xfrm>
          </p:grpSpPr>
          <p:sp>
            <p:nvSpPr>
              <p:cNvPr id="22" name="Freeform 22"/>
              <p:cNvSpPr/>
              <p:nvPr/>
            </p:nvSpPr>
            <p:spPr>
              <a:xfrm>
                <a:off x="0" y="0"/>
                <a:ext cx="20955000" cy="2159000"/>
              </a:xfrm>
              <a:custGeom>
                <a:avLst/>
                <a:gdLst/>
                <a:ahLst/>
                <a:cxnLst/>
                <a:rect l="l" t="t" r="r" b="b"/>
                <a:pathLst>
                  <a:path w="20955000" h="2159000">
                    <a:moveTo>
                      <a:pt x="0" y="0"/>
                    </a:moveTo>
                    <a:lnTo>
                      <a:pt x="20955000" y="0"/>
                    </a:lnTo>
                    <a:lnTo>
                      <a:pt x="20955000" y="2159000"/>
                    </a:lnTo>
                    <a:lnTo>
                      <a:pt x="0" y="2159000"/>
                    </a:lnTo>
                    <a:close/>
                  </a:path>
                </a:pathLst>
              </a:custGeom>
              <a:solidFill>
                <a:srgbClr val="F7FBFD"/>
              </a:solidFill>
              <a:ln cap="sq">
                <a:noFill/>
                <a:prstDash val="solid"/>
                <a:miter/>
              </a:ln>
            </p:spPr>
            <p:txBody>
              <a:bodyPr/>
              <a:lstStyle/>
              <a:p>
                <a:endParaRPr lang="fr-BE" noProof="0" dirty="0"/>
              </a:p>
            </p:txBody>
          </p:sp>
          <p:sp>
            <p:nvSpPr>
              <p:cNvPr id="23" name="TextBox 23"/>
              <p:cNvSpPr txBox="1"/>
              <p:nvPr/>
            </p:nvSpPr>
            <p:spPr>
              <a:xfrm>
                <a:off x="0" y="-38100"/>
                <a:ext cx="20955000" cy="2197100"/>
              </a:xfrm>
              <a:prstGeom prst="rect">
                <a:avLst/>
              </a:prstGeom>
            </p:spPr>
            <p:txBody>
              <a:bodyPr lIns="50800" tIns="50800" rIns="50800" bIns="50800" rtlCol="0" anchor="ctr"/>
              <a:lstStyle/>
              <a:p>
                <a:pPr algn="l">
                  <a:lnSpc>
                    <a:spcPts val="1679"/>
                  </a:lnSpc>
                </a:pPr>
                <a:endParaRPr lang="fr-BE" noProof="0" dirty="0"/>
              </a:p>
            </p:txBody>
          </p:sp>
        </p:grpSp>
        <p:sp>
          <p:nvSpPr>
            <p:cNvPr id="24" name="TextBox 24"/>
            <p:cNvSpPr txBox="1"/>
            <p:nvPr/>
          </p:nvSpPr>
          <p:spPr>
            <a:xfrm>
              <a:off x="444500" y="187325"/>
              <a:ext cx="1524000" cy="795655"/>
            </a:xfrm>
            <a:prstGeom prst="rect">
              <a:avLst/>
            </a:prstGeom>
          </p:spPr>
          <p:txBody>
            <a:bodyPr lIns="0" tIns="0" rIns="0" bIns="0" rtlCol="0" anchor="t">
              <a:spAutoFit/>
            </a:bodyPr>
            <a:lstStyle/>
            <a:p>
              <a:pPr algn="l">
                <a:lnSpc>
                  <a:spcPts val="5040"/>
                </a:lnSpc>
              </a:pPr>
              <a:r>
                <a:rPr lang="fr-BE" sz="3600" b="1" noProof="0" dirty="0">
                  <a:solidFill>
                    <a:srgbClr val="2979D8"/>
                  </a:solidFill>
                  <a:latin typeface="Sinar Grotesk Bold"/>
                  <a:ea typeface="Sinar Grotesk Bold"/>
                  <a:cs typeface="Sinar Grotesk Bold"/>
                  <a:sym typeface="Sinar Grotesk Bold"/>
                </a:rPr>
                <a:t>03</a:t>
              </a:r>
            </a:p>
          </p:txBody>
        </p:sp>
        <p:sp>
          <p:nvSpPr>
            <p:cNvPr id="25" name="TextBox 25"/>
            <p:cNvSpPr txBox="1"/>
            <p:nvPr/>
          </p:nvSpPr>
          <p:spPr>
            <a:xfrm>
              <a:off x="2921000" y="142875"/>
              <a:ext cx="5969000" cy="558165"/>
            </a:xfrm>
            <a:prstGeom prst="rect">
              <a:avLst/>
            </a:prstGeom>
          </p:spPr>
          <p:txBody>
            <a:bodyPr lIns="0" tIns="0" rIns="0" bIns="0" rtlCol="0" anchor="t">
              <a:spAutoFit/>
            </a:bodyPr>
            <a:lstStyle/>
            <a:p>
              <a:pPr algn="l">
                <a:lnSpc>
                  <a:spcPts val="3569"/>
                </a:lnSpc>
              </a:pPr>
              <a:r>
                <a:rPr lang="fr-BE" sz="2550" b="1" noProof="0" dirty="0">
                  <a:solidFill>
                    <a:srgbClr val="0B2447"/>
                  </a:solidFill>
                  <a:latin typeface="Sinar Grotesk Bold"/>
                  <a:ea typeface="Sinar Grotesk Bold"/>
                  <a:cs typeface="Sinar Grotesk Bold"/>
                  <a:sym typeface="Sinar Grotesk Bold"/>
                </a:rPr>
                <a:t>Vocabulaire &amp; UX</a:t>
              </a:r>
            </a:p>
          </p:txBody>
        </p:sp>
        <p:sp>
          <p:nvSpPr>
            <p:cNvPr id="26" name="TextBox 26"/>
            <p:cNvSpPr txBox="1"/>
            <p:nvPr/>
          </p:nvSpPr>
          <p:spPr>
            <a:xfrm>
              <a:off x="9398000" y="225425"/>
              <a:ext cx="10541000" cy="906831"/>
            </a:xfrm>
            <a:prstGeom prst="rect">
              <a:avLst/>
            </a:prstGeom>
          </p:spPr>
          <p:txBody>
            <a:bodyPr lIns="0" tIns="0" rIns="0" bIns="0" rtlCol="0" anchor="t">
              <a:spAutoFit/>
            </a:bodyPr>
            <a:lstStyle/>
            <a:p>
              <a:pPr algn="l">
                <a:lnSpc>
                  <a:spcPts val="2733"/>
                </a:lnSpc>
              </a:pPr>
              <a:r>
                <a:rPr lang="fr-BE" sz="2025" dirty="0">
                  <a:solidFill>
                    <a:srgbClr val="0B2447"/>
                  </a:solidFill>
                  <a:latin typeface="DM Sans"/>
                  <a:ea typeface="DM Sans"/>
                  <a:cs typeface="DM Sans"/>
                  <a:sym typeface="DM Sans"/>
                </a:rPr>
                <a:t>L</a:t>
              </a:r>
              <a:r>
                <a:rPr lang="fr-BE" sz="2025" noProof="0" dirty="0">
                  <a:solidFill>
                    <a:srgbClr val="0B2447"/>
                  </a:solidFill>
                  <a:latin typeface="DM Sans"/>
                  <a:ea typeface="DM Sans"/>
                  <a:cs typeface="DM Sans"/>
                  <a:sym typeface="DM Sans"/>
                </a:rPr>
                <a:t>es désignations de catalogue comme M41 ou HR restent techniques ; c’est un axe d’amélioration assumé.</a:t>
              </a:r>
            </a:p>
          </p:txBody>
        </p:sp>
      </p:grpSp>
      <p:sp>
        <p:nvSpPr>
          <p:cNvPr id="27" name="TextBox 27"/>
          <p:cNvSpPr txBox="1"/>
          <p:nvPr/>
        </p:nvSpPr>
        <p:spPr>
          <a:xfrm>
            <a:off x="1047750" y="9696450"/>
            <a:ext cx="16192500" cy="222885"/>
          </a:xfrm>
          <a:prstGeom prst="rect">
            <a:avLst/>
          </a:prstGeom>
        </p:spPr>
        <p:txBody>
          <a:bodyPr lIns="0" tIns="0" rIns="0" bIns="0" rtlCol="0" anchor="t">
            <a:spAutoFit/>
          </a:bodyPr>
          <a:lstStyle/>
          <a:p>
            <a:pPr algn="l">
              <a:lnSpc>
                <a:spcPts val="1889"/>
              </a:lnSpc>
            </a:pPr>
            <a:r>
              <a:rPr lang="fr-BE" sz="1350" noProof="0" dirty="0">
                <a:solidFill>
                  <a:srgbClr val="5F7187"/>
                </a:solidFill>
                <a:latin typeface="DM Sans"/>
                <a:ea typeface="DM Sans"/>
                <a:cs typeface="DM Sans"/>
                <a:sym typeface="DM Sans"/>
              </a:rPr>
              <a:t>AndromeSky — TFE Développement Web </a:t>
            </a:r>
            <a:r>
              <a:rPr lang="fr-BE" sz="1350" noProof="0" dirty="0" err="1">
                <a:solidFill>
                  <a:srgbClr val="5F7187"/>
                </a:solidFill>
                <a:latin typeface="DM Sans"/>
                <a:ea typeface="DM Sans"/>
                <a:cs typeface="DM Sans"/>
                <a:sym typeface="DM Sans"/>
              </a:rPr>
              <a:t>Front-End</a:t>
            </a:r>
            <a:r>
              <a:rPr lang="fr-BE" sz="1350" noProof="0" dirty="0">
                <a:solidFill>
                  <a:srgbClr val="5F7187"/>
                </a:solidFill>
                <a:latin typeface="DM Sans"/>
                <a:ea typeface="DM Sans"/>
                <a:cs typeface="DM Sans"/>
                <a:sym typeface="DM Sans"/>
              </a:rPr>
              <a:t>                                      8</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47750" y="685800"/>
            <a:ext cx="15621000" cy="554736"/>
          </a:xfrm>
          <a:prstGeom prst="rect">
            <a:avLst/>
          </a:prstGeom>
        </p:spPr>
        <p:txBody>
          <a:bodyPr lIns="0" tIns="0" rIns="0" bIns="0" rtlCol="0" anchor="t">
            <a:spAutoFit/>
          </a:bodyPr>
          <a:lstStyle/>
          <a:p>
            <a:pPr algn="l">
              <a:lnSpc>
                <a:spcPts val="4212"/>
              </a:lnSpc>
            </a:pPr>
            <a:r>
              <a:rPr lang="fr-BE" sz="3900" b="1" noProof="0" dirty="0">
                <a:solidFill>
                  <a:srgbClr val="0B2447"/>
                </a:solidFill>
                <a:latin typeface="Sinar Grotesk Bold"/>
                <a:ea typeface="Sinar Grotesk Bold"/>
                <a:cs typeface="Sinar Grotesk Bold"/>
                <a:sym typeface="Sinar Grotesk Bold"/>
              </a:rPr>
              <a:t>Démonstration : un parcours en moins de deux minutes</a:t>
            </a:r>
          </a:p>
        </p:txBody>
      </p:sp>
      <p:grpSp>
        <p:nvGrpSpPr>
          <p:cNvPr id="3" name="Group 3"/>
          <p:cNvGrpSpPr/>
          <p:nvPr/>
        </p:nvGrpSpPr>
        <p:grpSpPr>
          <a:xfrm>
            <a:off x="1047750" y="1428750"/>
            <a:ext cx="1123950" cy="47625"/>
            <a:chOff x="0" y="0"/>
            <a:chExt cx="1498600" cy="63500"/>
          </a:xfrm>
        </p:grpSpPr>
        <p:sp>
          <p:nvSpPr>
            <p:cNvPr id="4" name="Freeform 4"/>
            <p:cNvSpPr/>
            <p:nvPr/>
          </p:nvSpPr>
          <p:spPr>
            <a:xfrm>
              <a:off x="0" y="0"/>
              <a:ext cx="1498600" cy="63500"/>
            </a:xfrm>
            <a:custGeom>
              <a:avLst/>
              <a:gdLst/>
              <a:ahLst/>
              <a:cxnLst/>
              <a:rect l="l" t="t" r="r" b="b"/>
              <a:pathLst>
                <a:path w="1498600" h="63500">
                  <a:moveTo>
                    <a:pt x="0" y="0"/>
                  </a:moveTo>
                  <a:lnTo>
                    <a:pt x="1498600" y="0"/>
                  </a:lnTo>
                  <a:lnTo>
                    <a:pt x="1498600" y="63500"/>
                  </a:lnTo>
                  <a:lnTo>
                    <a:pt x="0" y="63500"/>
                  </a:lnTo>
                  <a:close/>
                </a:path>
              </a:pathLst>
            </a:custGeom>
            <a:solidFill>
              <a:srgbClr val="2979D8"/>
            </a:solidFill>
            <a:ln cap="sq">
              <a:noFill/>
              <a:prstDash val="solid"/>
              <a:miter/>
            </a:ln>
          </p:spPr>
          <p:txBody>
            <a:bodyPr/>
            <a:lstStyle/>
            <a:p>
              <a:endParaRPr lang="fr-BE" noProof="0" dirty="0"/>
            </a:p>
          </p:txBody>
        </p:sp>
        <p:sp>
          <p:nvSpPr>
            <p:cNvPr id="5" name="TextBox 5"/>
            <p:cNvSpPr txBox="1"/>
            <p:nvPr/>
          </p:nvSpPr>
          <p:spPr>
            <a:xfrm>
              <a:off x="0" y="-38100"/>
              <a:ext cx="1498600" cy="101600"/>
            </a:xfrm>
            <a:prstGeom prst="rect">
              <a:avLst/>
            </a:prstGeom>
          </p:spPr>
          <p:txBody>
            <a:bodyPr lIns="50800" tIns="50800" rIns="50800" bIns="50800" rtlCol="0" anchor="ctr"/>
            <a:lstStyle/>
            <a:p>
              <a:pPr algn="l">
                <a:lnSpc>
                  <a:spcPts val="1679"/>
                </a:lnSpc>
              </a:pPr>
              <a:endParaRPr lang="fr-BE" noProof="0" dirty="0"/>
            </a:p>
          </p:txBody>
        </p:sp>
      </p:grpSp>
      <p:grpSp>
        <p:nvGrpSpPr>
          <p:cNvPr id="6" name="Group 6"/>
          <p:cNvGrpSpPr/>
          <p:nvPr/>
        </p:nvGrpSpPr>
        <p:grpSpPr>
          <a:xfrm>
            <a:off x="1794552" y="4357688"/>
            <a:ext cx="3026243" cy="1571625"/>
            <a:chOff x="0" y="0"/>
            <a:chExt cx="4034991" cy="2095500"/>
          </a:xfrm>
        </p:grpSpPr>
        <p:sp>
          <p:nvSpPr>
            <p:cNvPr id="7" name="Freeform 7"/>
            <p:cNvSpPr/>
            <p:nvPr/>
          </p:nvSpPr>
          <p:spPr>
            <a:xfrm>
              <a:off x="0" y="0"/>
              <a:ext cx="4034991" cy="2095500"/>
            </a:xfrm>
            <a:custGeom>
              <a:avLst/>
              <a:gdLst/>
              <a:ahLst/>
              <a:cxnLst/>
              <a:rect l="l" t="t" r="r" b="b"/>
              <a:pathLst>
                <a:path w="4034991" h="2095500">
                  <a:moveTo>
                    <a:pt x="71951" y="0"/>
                  </a:moveTo>
                  <a:lnTo>
                    <a:pt x="3963040" y="0"/>
                  </a:lnTo>
                  <a:cubicBezTo>
                    <a:pt x="4002777" y="0"/>
                    <a:pt x="4034991" y="32214"/>
                    <a:pt x="4034991" y="71951"/>
                  </a:cubicBezTo>
                  <a:lnTo>
                    <a:pt x="4034991" y="2023549"/>
                  </a:lnTo>
                  <a:cubicBezTo>
                    <a:pt x="4034991" y="2042632"/>
                    <a:pt x="4027410" y="2060933"/>
                    <a:pt x="4013917" y="2074426"/>
                  </a:cubicBezTo>
                  <a:cubicBezTo>
                    <a:pt x="4000424" y="2087919"/>
                    <a:pt x="3982122" y="2095500"/>
                    <a:pt x="3963040" y="2095500"/>
                  </a:cubicBezTo>
                  <a:lnTo>
                    <a:pt x="71951" y="2095500"/>
                  </a:lnTo>
                  <a:cubicBezTo>
                    <a:pt x="52868" y="2095500"/>
                    <a:pt x="34567" y="2087919"/>
                    <a:pt x="21074" y="2074426"/>
                  </a:cubicBezTo>
                  <a:cubicBezTo>
                    <a:pt x="7581" y="2060933"/>
                    <a:pt x="0" y="2042632"/>
                    <a:pt x="0" y="2023549"/>
                  </a:cubicBezTo>
                  <a:lnTo>
                    <a:pt x="0" y="71951"/>
                  </a:lnTo>
                  <a:cubicBezTo>
                    <a:pt x="0" y="52868"/>
                    <a:pt x="7581" y="34567"/>
                    <a:pt x="21074" y="21074"/>
                  </a:cubicBezTo>
                  <a:cubicBezTo>
                    <a:pt x="34567" y="7581"/>
                    <a:pt x="52868" y="0"/>
                    <a:pt x="71951" y="0"/>
                  </a:cubicBezTo>
                  <a:close/>
                </a:path>
              </a:pathLst>
            </a:custGeom>
            <a:solidFill>
              <a:srgbClr val="2979D8"/>
            </a:solidFill>
            <a:ln cap="sq">
              <a:noFill/>
              <a:prstDash val="solid"/>
              <a:miter/>
            </a:ln>
          </p:spPr>
          <p:txBody>
            <a:bodyPr/>
            <a:lstStyle/>
            <a:p>
              <a:endParaRPr lang="fr-BE" noProof="0" dirty="0"/>
            </a:p>
          </p:txBody>
        </p:sp>
        <p:sp>
          <p:nvSpPr>
            <p:cNvPr id="8" name="TextBox 8"/>
            <p:cNvSpPr txBox="1"/>
            <p:nvPr/>
          </p:nvSpPr>
          <p:spPr>
            <a:xfrm>
              <a:off x="0" y="9525"/>
              <a:ext cx="4034991" cy="2085975"/>
            </a:xfrm>
            <a:prstGeom prst="rect">
              <a:avLst/>
            </a:prstGeom>
          </p:spPr>
          <p:txBody>
            <a:bodyPr lIns="50800" tIns="50800" rIns="50800" bIns="50800" rtlCol="0" anchor="ctr"/>
            <a:lstStyle/>
            <a:p>
              <a:pPr algn="ctr">
                <a:lnSpc>
                  <a:spcPts val="2156"/>
                </a:lnSpc>
              </a:pPr>
              <a:r>
                <a:rPr lang="fr-BE" sz="1875" b="1" noProof="0" dirty="0">
                  <a:solidFill>
                    <a:srgbClr val="FFFFFF"/>
                  </a:solidFill>
                  <a:latin typeface="DM Sans Bold"/>
                  <a:ea typeface="DM Sans Bold"/>
                  <a:cs typeface="DM Sans Bold"/>
                  <a:sym typeface="DM Sans Bold"/>
                </a:rPr>
                <a:t>1</a:t>
              </a:r>
            </a:p>
            <a:p>
              <a:pPr algn="ctr">
                <a:lnSpc>
                  <a:spcPct val="150000"/>
                </a:lnSpc>
              </a:pPr>
              <a:r>
                <a:rPr lang="fr-BE" sz="1875" b="1" noProof="0" dirty="0">
                  <a:solidFill>
                    <a:srgbClr val="FFFFFF"/>
                  </a:solidFill>
                  <a:latin typeface="DM Sans Bold"/>
                  <a:ea typeface="DM Sans Bold"/>
                  <a:cs typeface="DM Sans Bold"/>
                  <a:sym typeface="DM Sans Bold"/>
                </a:rPr>
                <a:t>Recherche</a:t>
              </a:r>
            </a:p>
          </p:txBody>
        </p:sp>
      </p:grpSp>
      <p:sp>
        <p:nvSpPr>
          <p:cNvPr id="9" name="AutoShape 9"/>
          <p:cNvSpPr/>
          <p:nvPr/>
        </p:nvSpPr>
        <p:spPr>
          <a:xfrm>
            <a:off x="4907260" y="5138738"/>
            <a:ext cx="691713" cy="0"/>
          </a:xfrm>
          <a:prstGeom prst="line">
            <a:avLst/>
          </a:prstGeom>
          <a:ln w="38100" cap="rnd">
            <a:solidFill>
              <a:srgbClr val="8ED8F8"/>
            </a:solidFill>
            <a:prstDash val="solid"/>
            <a:headEnd type="none" w="sm" len="sm"/>
            <a:tailEnd type="none" w="sm" len="sm"/>
          </a:ln>
        </p:spPr>
        <p:txBody>
          <a:bodyPr/>
          <a:lstStyle/>
          <a:p>
            <a:endParaRPr lang="fr-BE" noProof="0" dirty="0"/>
          </a:p>
        </p:txBody>
      </p:sp>
      <p:grpSp>
        <p:nvGrpSpPr>
          <p:cNvPr id="10" name="Group 10"/>
          <p:cNvGrpSpPr/>
          <p:nvPr/>
        </p:nvGrpSpPr>
        <p:grpSpPr>
          <a:xfrm>
            <a:off x="5685436" y="4357688"/>
            <a:ext cx="3026243" cy="1571625"/>
            <a:chOff x="0" y="0"/>
            <a:chExt cx="4034991" cy="2095500"/>
          </a:xfrm>
        </p:grpSpPr>
        <p:sp>
          <p:nvSpPr>
            <p:cNvPr id="11" name="Freeform 11"/>
            <p:cNvSpPr/>
            <p:nvPr/>
          </p:nvSpPr>
          <p:spPr>
            <a:xfrm>
              <a:off x="0" y="0"/>
              <a:ext cx="4034991" cy="2095500"/>
            </a:xfrm>
            <a:custGeom>
              <a:avLst/>
              <a:gdLst/>
              <a:ahLst/>
              <a:cxnLst/>
              <a:rect l="l" t="t" r="r" b="b"/>
              <a:pathLst>
                <a:path w="4034991" h="2095500">
                  <a:moveTo>
                    <a:pt x="71951" y="0"/>
                  </a:moveTo>
                  <a:lnTo>
                    <a:pt x="3963040" y="0"/>
                  </a:lnTo>
                  <a:cubicBezTo>
                    <a:pt x="4002777" y="0"/>
                    <a:pt x="4034991" y="32214"/>
                    <a:pt x="4034991" y="71951"/>
                  </a:cubicBezTo>
                  <a:lnTo>
                    <a:pt x="4034991" y="2023549"/>
                  </a:lnTo>
                  <a:cubicBezTo>
                    <a:pt x="4034991" y="2042632"/>
                    <a:pt x="4027410" y="2060933"/>
                    <a:pt x="4013917" y="2074426"/>
                  </a:cubicBezTo>
                  <a:cubicBezTo>
                    <a:pt x="4000424" y="2087919"/>
                    <a:pt x="3982122" y="2095500"/>
                    <a:pt x="3963040" y="2095500"/>
                  </a:cubicBezTo>
                  <a:lnTo>
                    <a:pt x="71951" y="2095500"/>
                  </a:lnTo>
                  <a:cubicBezTo>
                    <a:pt x="52868" y="2095500"/>
                    <a:pt x="34567" y="2087919"/>
                    <a:pt x="21074" y="2074426"/>
                  </a:cubicBezTo>
                  <a:cubicBezTo>
                    <a:pt x="7581" y="2060933"/>
                    <a:pt x="0" y="2042632"/>
                    <a:pt x="0" y="2023549"/>
                  </a:cubicBezTo>
                  <a:lnTo>
                    <a:pt x="0" y="71951"/>
                  </a:lnTo>
                  <a:cubicBezTo>
                    <a:pt x="0" y="52868"/>
                    <a:pt x="7581" y="34567"/>
                    <a:pt x="21074" y="21074"/>
                  </a:cubicBezTo>
                  <a:cubicBezTo>
                    <a:pt x="34567" y="7581"/>
                    <a:pt x="52868" y="0"/>
                    <a:pt x="71951" y="0"/>
                  </a:cubicBezTo>
                  <a:close/>
                </a:path>
              </a:pathLst>
            </a:custGeom>
            <a:solidFill>
              <a:srgbClr val="2979D8"/>
            </a:solidFill>
            <a:ln cap="sq">
              <a:noFill/>
              <a:prstDash val="solid"/>
              <a:miter/>
            </a:ln>
          </p:spPr>
          <p:txBody>
            <a:bodyPr/>
            <a:lstStyle/>
            <a:p>
              <a:endParaRPr lang="fr-BE" noProof="0" dirty="0"/>
            </a:p>
          </p:txBody>
        </p:sp>
        <p:sp>
          <p:nvSpPr>
            <p:cNvPr id="12" name="TextBox 12"/>
            <p:cNvSpPr txBox="1"/>
            <p:nvPr/>
          </p:nvSpPr>
          <p:spPr>
            <a:xfrm>
              <a:off x="0" y="9525"/>
              <a:ext cx="4034991" cy="2085975"/>
            </a:xfrm>
            <a:prstGeom prst="rect">
              <a:avLst/>
            </a:prstGeom>
          </p:spPr>
          <p:txBody>
            <a:bodyPr lIns="50800" tIns="50800" rIns="50800" bIns="50800" rtlCol="0" anchor="ctr"/>
            <a:lstStyle/>
            <a:p>
              <a:pPr algn="ctr">
                <a:lnSpc>
                  <a:spcPct val="150000"/>
                </a:lnSpc>
              </a:pPr>
              <a:r>
                <a:rPr lang="fr-BE" sz="1875" b="1" noProof="0" dirty="0">
                  <a:solidFill>
                    <a:srgbClr val="FFFFFF"/>
                  </a:solidFill>
                  <a:latin typeface="DM Sans Bold"/>
                  <a:ea typeface="DM Sans Bold"/>
                  <a:cs typeface="DM Sans Bold"/>
                  <a:sym typeface="DM Sans Bold"/>
                </a:rPr>
                <a:t>2  </a:t>
              </a:r>
            </a:p>
            <a:p>
              <a:pPr algn="ctr">
                <a:lnSpc>
                  <a:spcPct val="150000"/>
                </a:lnSpc>
              </a:pPr>
              <a:r>
                <a:rPr lang="fr-BE" sz="1875" b="1" noProof="0" dirty="0">
                  <a:solidFill>
                    <a:srgbClr val="FFFFFF"/>
                  </a:solidFill>
                  <a:latin typeface="DM Sans Bold"/>
                  <a:ea typeface="DM Sans Bold"/>
                  <a:cs typeface="DM Sans Bold"/>
                  <a:sym typeface="DM Sans Bold"/>
                </a:rPr>
                <a:t>Compréhension</a:t>
              </a:r>
            </a:p>
          </p:txBody>
        </p:sp>
      </p:grpSp>
      <p:sp>
        <p:nvSpPr>
          <p:cNvPr id="13" name="AutoShape 13"/>
          <p:cNvSpPr/>
          <p:nvPr/>
        </p:nvSpPr>
        <p:spPr>
          <a:xfrm>
            <a:off x="8798144" y="5138738"/>
            <a:ext cx="691713" cy="0"/>
          </a:xfrm>
          <a:prstGeom prst="line">
            <a:avLst/>
          </a:prstGeom>
          <a:ln w="38100" cap="rnd">
            <a:solidFill>
              <a:srgbClr val="8ED8F8"/>
            </a:solidFill>
            <a:prstDash val="solid"/>
            <a:headEnd type="none" w="sm" len="sm"/>
            <a:tailEnd type="none" w="sm" len="sm"/>
          </a:ln>
        </p:spPr>
        <p:txBody>
          <a:bodyPr/>
          <a:lstStyle/>
          <a:p>
            <a:endParaRPr lang="fr-BE" noProof="0" dirty="0"/>
          </a:p>
        </p:txBody>
      </p:sp>
      <p:grpSp>
        <p:nvGrpSpPr>
          <p:cNvPr id="14" name="Group 14"/>
          <p:cNvGrpSpPr/>
          <p:nvPr/>
        </p:nvGrpSpPr>
        <p:grpSpPr>
          <a:xfrm>
            <a:off x="9576320" y="4357688"/>
            <a:ext cx="3026243" cy="1571625"/>
            <a:chOff x="0" y="0"/>
            <a:chExt cx="4034991" cy="2095500"/>
          </a:xfrm>
        </p:grpSpPr>
        <p:sp>
          <p:nvSpPr>
            <p:cNvPr id="15" name="Freeform 15"/>
            <p:cNvSpPr/>
            <p:nvPr/>
          </p:nvSpPr>
          <p:spPr>
            <a:xfrm>
              <a:off x="0" y="0"/>
              <a:ext cx="4034991" cy="2095500"/>
            </a:xfrm>
            <a:custGeom>
              <a:avLst/>
              <a:gdLst/>
              <a:ahLst/>
              <a:cxnLst/>
              <a:rect l="l" t="t" r="r" b="b"/>
              <a:pathLst>
                <a:path w="4034991" h="2095500">
                  <a:moveTo>
                    <a:pt x="71951" y="0"/>
                  </a:moveTo>
                  <a:lnTo>
                    <a:pt x="3963040" y="0"/>
                  </a:lnTo>
                  <a:cubicBezTo>
                    <a:pt x="4002777" y="0"/>
                    <a:pt x="4034991" y="32214"/>
                    <a:pt x="4034991" y="71951"/>
                  </a:cubicBezTo>
                  <a:lnTo>
                    <a:pt x="4034991" y="2023549"/>
                  </a:lnTo>
                  <a:cubicBezTo>
                    <a:pt x="4034991" y="2042632"/>
                    <a:pt x="4027410" y="2060933"/>
                    <a:pt x="4013917" y="2074426"/>
                  </a:cubicBezTo>
                  <a:cubicBezTo>
                    <a:pt x="4000424" y="2087919"/>
                    <a:pt x="3982122" y="2095500"/>
                    <a:pt x="3963040" y="2095500"/>
                  </a:cubicBezTo>
                  <a:lnTo>
                    <a:pt x="71951" y="2095500"/>
                  </a:lnTo>
                  <a:cubicBezTo>
                    <a:pt x="52868" y="2095500"/>
                    <a:pt x="34567" y="2087919"/>
                    <a:pt x="21074" y="2074426"/>
                  </a:cubicBezTo>
                  <a:cubicBezTo>
                    <a:pt x="7581" y="2060933"/>
                    <a:pt x="0" y="2042632"/>
                    <a:pt x="0" y="2023549"/>
                  </a:cubicBezTo>
                  <a:lnTo>
                    <a:pt x="0" y="71951"/>
                  </a:lnTo>
                  <a:cubicBezTo>
                    <a:pt x="0" y="52868"/>
                    <a:pt x="7581" y="34567"/>
                    <a:pt x="21074" y="21074"/>
                  </a:cubicBezTo>
                  <a:cubicBezTo>
                    <a:pt x="34567" y="7581"/>
                    <a:pt x="52868" y="0"/>
                    <a:pt x="71951" y="0"/>
                  </a:cubicBezTo>
                  <a:close/>
                </a:path>
              </a:pathLst>
            </a:custGeom>
            <a:solidFill>
              <a:srgbClr val="2979D8"/>
            </a:solidFill>
            <a:ln cap="sq">
              <a:noFill/>
              <a:prstDash val="solid"/>
              <a:miter/>
            </a:ln>
          </p:spPr>
          <p:txBody>
            <a:bodyPr/>
            <a:lstStyle/>
            <a:p>
              <a:endParaRPr lang="fr-BE" noProof="0" dirty="0"/>
            </a:p>
          </p:txBody>
        </p:sp>
        <p:sp>
          <p:nvSpPr>
            <p:cNvPr id="16" name="TextBox 16"/>
            <p:cNvSpPr txBox="1"/>
            <p:nvPr/>
          </p:nvSpPr>
          <p:spPr>
            <a:xfrm>
              <a:off x="0" y="9525"/>
              <a:ext cx="4034991" cy="2085975"/>
            </a:xfrm>
            <a:prstGeom prst="rect">
              <a:avLst/>
            </a:prstGeom>
          </p:spPr>
          <p:txBody>
            <a:bodyPr lIns="50800" tIns="50800" rIns="50800" bIns="50800" rtlCol="0" anchor="ctr"/>
            <a:lstStyle/>
            <a:p>
              <a:pPr algn="ctr">
                <a:lnSpc>
                  <a:spcPts val="2156"/>
                </a:lnSpc>
              </a:pPr>
              <a:r>
                <a:rPr lang="fr-BE" sz="1875" b="1" noProof="0" dirty="0">
                  <a:solidFill>
                    <a:srgbClr val="FFFFFF"/>
                  </a:solidFill>
                  <a:latin typeface="DM Sans Bold"/>
                  <a:ea typeface="DM Sans Bold"/>
                  <a:cs typeface="DM Sans Bold"/>
                  <a:sym typeface="DM Sans Bold"/>
                </a:rPr>
                <a:t>3  </a:t>
              </a:r>
            </a:p>
            <a:p>
              <a:pPr algn="ctr">
                <a:lnSpc>
                  <a:spcPct val="150000"/>
                </a:lnSpc>
              </a:pPr>
              <a:r>
                <a:rPr lang="fr-BE" sz="1875" b="1" noProof="0" dirty="0">
                  <a:solidFill>
                    <a:srgbClr val="FFFFFF"/>
                  </a:solidFill>
                  <a:latin typeface="DM Sans Bold"/>
                  <a:ea typeface="DM Sans Bold"/>
                  <a:cs typeface="DM Sans Bold"/>
                  <a:sym typeface="DM Sans Bold"/>
                </a:rPr>
                <a:t>Repérage</a:t>
              </a:r>
            </a:p>
          </p:txBody>
        </p:sp>
      </p:grpSp>
      <p:sp>
        <p:nvSpPr>
          <p:cNvPr id="17" name="AutoShape 17"/>
          <p:cNvSpPr/>
          <p:nvPr/>
        </p:nvSpPr>
        <p:spPr>
          <a:xfrm>
            <a:off x="12689028" y="5138738"/>
            <a:ext cx="691713" cy="0"/>
          </a:xfrm>
          <a:prstGeom prst="line">
            <a:avLst/>
          </a:prstGeom>
          <a:ln w="38100" cap="rnd">
            <a:solidFill>
              <a:srgbClr val="8ED8F8"/>
            </a:solidFill>
            <a:prstDash val="solid"/>
            <a:headEnd type="none" w="sm" len="sm"/>
            <a:tailEnd type="none" w="sm" len="sm"/>
          </a:ln>
        </p:spPr>
        <p:txBody>
          <a:bodyPr/>
          <a:lstStyle/>
          <a:p>
            <a:endParaRPr lang="fr-BE" noProof="0" dirty="0"/>
          </a:p>
        </p:txBody>
      </p:sp>
      <p:grpSp>
        <p:nvGrpSpPr>
          <p:cNvPr id="18" name="Group 18"/>
          <p:cNvGrpSpPr/>
          <p:nvPr/>
        </p:nvGrpSpPr>
        <p:grpSpPr>
          <a:xfrm>
            <a:off x="13467205" y="4357688"/>
            <a:ext cx="3026243" cy="1571625"/>
            <a:chOff x="0" y="0"/>
            <a:chExt cx="4034991" cy="2095500"/>
          </a:xfrm>
        </p:grpSpPr>
        <p:sp>
          <p:nvSpPr>
            <p:cNvPr id="19" name="Freeform 19"/>
            <p:cNvSpPr/>
            <p:nvPr/>
          </p:nvSpPr>
          <p:spPr>
            <a:xfrm>
              <a:off x="0" y="0"/>
              <a:ext cx="4034991" cy="2095500"/>
            </a:xfrm>
            <a:custGeom>
              <a:avLst/>
              <a:gdLst/>
              <a:ahLst/>
              <a:cxnLst/>
              <a:rect l="l" t="t" r="r" b="b"/>
              <a:pathLst>
                <a:path w="4034991" h="2095500">
                  <a:moveTo>
                    <a:pt x="71951" y="0"/>
                  </a:moveTo>
                  <a:lnTo>
                    <a:pt x="3963040" y="0"/>
                  </a:lnTo>
                  <a:cubicBezTo>
                    <a:pt x="4002777" y="0"/>
                    <a:pt x="4034991" y="32214"/>
                    <a:pt x="4034991" y="71951"/>
                  </a:cubicBezTo>
                  <a:lnTo>
                    <a:pt x="4034991" y="2023549"/>
                  </a:lnTo>
                  <a:cubicBezTo>
                    <a:pt x="4034991" y="2042632"/>
                    <a:pt x="4027410" y="2060933"/>
                    <a:pt x="4013917" y="2074426"/>
                  </a:cubicBezTo>
                  <a:cubicBezTo>
                    <a:pt x="4000424" y="2087919"/>
                    <a:pt x="3982122" y="2095500"/>
                    <a:pt x="3963040" y="2095500"/>
                  </a:cubicBezTo>
                  <a:lnTo>
                    <a:pt x="71951" y="2095500"/>
                  </a:lnTo>
                  <a:cubicBezTo>
                    <a:pt x="52868" y="2095500"/>
                    <a:pt x="34567" y="2087919"/>
                    <a:pt x="21074" y="2074426"/>
                  </a:cubicBezTo>
                  <a:cubicBezTo>
                    <a:pt x="7581" y="2060933"/>
                    <a:pt x="0" y="2042632"/>
                    <a:pt x="0" y="2023549"/>
                  </a:cubicBezTo>
                  <a:lnTo>
                    <a:pt x="0" y="71951"/>
                  </a:lnTo>
                  <a:cubicBezTo>
                    <a:pt x="0" y="52868"/>
                    <a:pt x="7581" y="34567"/>
                    <a:pt x="21074" y="21074"/>
                  </a:cubicBezTo>
                  <a:cubicBezTo>
                    <a:pt x="34567" y="7581"/>
                    <a:pt x="52868" y="0"/>
                    <a:pt x="71951" y="0"/>
                  </a:cubicBezTo>
                  <a:close/>
                </a:path>
              </a:pathLst>
            </a:custGeom>
            <a:solidFill>
              <a:srgbClr val="25C7B7"/>
            </a:solidFill>
            <a:ln cap="sq">
              <a:noFill/>
              <a:prstDash val="solid"/>
              <a:miter/>
            </a:ln>
          </p:spPr>
          <p:txBody>
            <a:bodyPr/>
            <a:lstStyle/>
            <a:p>
              <a:endParaRPr lang="fr-BE" noProof="0" dirty="0"/>
            </a:p>
          </p:txBody>
        </p:sp>
        <p:sp>
          <p:nvSpPr>
            <p:cNvPr id="20" name="TextBox 20"/>
            <p:cNvSpPr txBox="1"/>
            <p:nvPr/>
          </p:nvSpPr>
          <p:spPr>
            <a:xfrm>
              <a:off x="0" y="9525"/>
              <a:ext cx="4034991" cy="2085975"/>
            </a:xfrm>
            <a:prstGeom prst="rect">
              <a:avLst/>
            </a:prstGeom>
          </p:spPr>
          <p:txBody>
            <a:bodyPr lIns="50800" tIns="50800" rIns="50800" bIns="50800" rtlCol="0" anchor="ctr"/>
            <a:lstStyle/>
            <a:p>
              <a:pPr algn="ctr">
                <a:lnSpc>
                  <a:spcPts val="2156"/>
                </a:lnSpc>
              </a:pPr>
              <a:r>
                <a:rPr lang="fr-BE" sz="1875" b="1" noProof="0" dirty="0">
                  <a:solidFill>
                    <a:srgbClr val="FFFFFF"/>
                  </a:solidFill>
                  <a:latin typeface="DM Sans Bold"/>
                  <a:ea typeface="DM Sans Bold"/>
                  <a:cs typeface="DM Sans Bold"/>
                  <a:sym typeface="DM Sans Bold"/>
                </a:rPr>
                <a:t>4  </a:t>
              </a:r>
            </a:p>
            <a:p>
              <a:pPr algn="ctr">
                <a:lnSpc>
                  <a:spcPct val="150000"/>
                </a:lnSpc>
              </a:pPr>
              <a:r>
                <a:rPr lang="fr-BE" sz="1875" b="1" noProof="0" dirty="0">
                  <a:solidFill>
                    <a:srgbClr val="FFFFFF"/>
                  </a:solidFill>
                  <a:latin typeface="DM Sans Bold"/>
                  <a:ea typeface="DM Sans Bold"/>
                  <a:cs typeface="DM Sans Bold"/>
                  <a:sym typeface="DM Sans Bold"/>
                </a:rPr>
                <a:t>Mise en pratique</a:t>
              </a:r>
            </a:p>
          </p:txBody>
        </p:sp>
      </p:grpSp>
      <p:sp>
        <p:nvSpPr>
          <p:cNvPr id="21" name="TextBox 21"/>
          <p:cNvSpPr txBox="1"/>
          <p:nvPr/>
        </p:nvSpPr>
        <p:spPr>
          <a:xfrm>
            <a:off x="1047750" y="9696450"/>
            <a:ext cx="16192500" cy="222885"/>
          </a:xfrm>
          <a:prstGeom prst="rect">
            <a:avLst/>
          </a:prstGeom>
        </p:spPr>
        <p:txBody>
          <a:bodyPr lIns="0" tIns="0" rIns="0" bIns="0" rtlCol="0" anchor="t">
            <a:spAutoFit/>
          </a:bodyPr>
          <a:lstStyle/>
          <a:p>
            <a:pPr algn="l">
              <a:lnSpc>
                <a:spcPts val="1889"/>
              </a:lnSpc>
            </a:pPr>
            <a:r>
              <a:rPr lang="fr-BE" sz="1350" noProof="0" dirty="0">
                <a:solidFill>
                  <a:srgbClr val="5F7187"/>
                </a:solidFill>
                <a:latin typeface="DM Sans"/>
                <a:ea typeface="DM Sans"/>
                <a:cs typeface="DM Sans"/>
                <a:sym typeface="DM Sans"/>
              </a:rPr>
              <a:t>AndromeSky — TFE Développement Web </a:t>
            </a:r>
            <a:r>
              <a:rPr lang="fr-BE" sz="1350" noProof="0" dirty="0" err="1">
                <a:solidFill>
                  <a:srgbClr val="5F7187"/>
                </a:solidFill>
                <a:latin typeface="DM Sans"/>
                <a:ea typeface="DM Sans"/>
                <a:cs typeface="DM Sans"/>
                <a:sym typeface="DM Sans"/>
              </a:rPr>
              <a:t>Front-End</a:t>
            </a:r>
            <a:r>
              <a:rPr lang="fr-BE" sz="1350" noProof="0" dirty="0">
                <a:solidFill>
                  <a:srgbClr val="5F7187"/>
                </a:solidFill>
                <a:latin typeface="DM Sans"/>
                <a:ea typeface="DM Sans"/>
                <a:cs typeface="DM Sans"/>
                <a:sym typeface="DM Sans"/>
              </a:rPr>
              <a:t>                                      9</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47750" y="685800"/>
            <a:ext cx="15621000" cy="554736"/>
          </a:xfrm>
          <a:prstGeom prst="rect">
            <a:avLst/>
          </a:prstGeom>
        </p:spPr>
        <p:txBody>
          <a:bodyPr lIns="0" tIns="0" rIns="0" bIns="0" rtlCol="0" anchor="t">
            <a:spAutoFit/>
          </a:bodyPr>
          <a:lstStyle/>
          <a:p>
            <a:pPr algn="l">
              <a:lnSpc>
                <a:spcPts val="4212"/>
              </a:lnSpc>
            </a:pPr>
            <a:r>
              <a:rPr lang="fr-BE" sz="3900" b="1" noProof="0" dirty="0">
                <a:solidFill>
                  <a:srgbClr val="0B2447"/>
                </a:solidFill>
                <a:latin typeface="Sinar Grotesk Bold"/>
                <a:ea typeface="Sinar Grotesk Bold"/>
                <a:cs typeface="Sinar Grotesk Bold"/>
                <a:sym typeface="Sinar Grotesk Bold"/>
              </a:rPr>
              <a:t>Des perspectives claires, sans changer le cœur du produit</a:t>
            </a:r>
          </a:p>
        </p:txBody>
      </p:sp>
      <p:grpSp>
        <p:nvGrpSpPr>
          <p:cNvPr id="3" name="Group 3"/>
          <p:cNvGrpSpPr/>
          <p:nvPr/>
        </p:nvGrpSpPr>
        <p:grpSpPr>
          <a:xfrm>
            <a:off x="1047750" y="1428750"/>
            <a:ext cx="1123950" cy="47625"/>
            <a:chOff x="0" y="0"/>
            <a:chExt cx="1498600" cy="63500"/>
          </a:xfrm>
        </p:grpSpPr>
        <p:sp>
          <p:nvSpPr>
            <p:cNvPr id="4" name="Freeform 4"/>
            <p:cNvSpPr/>
            <p:nvPr/>
          </p:nvSpPr>
          <p:spPr>
            <a:xfrm>
              <a:off x="0" y="0"/>
              <a:ext cx="1498600" cy="63500"/>
            </a:xfrm>
            <a:custGeom>
              <a:avLst/>
              <a:gdLst/>
              <a:ahLst/>
              <a:cxnLst/>
              <a:rect l="l" t="t" r="r" b="b"/>
              <a:pathLst>
                <a:path w="1498600" h="63500">
                  <a:moveTo>
                    <a:pt x="0" y="0"/>
                  </a:moveTo>
                  <a:lnTo>
                    <a:pt x="1498600" y="0"/>
                  </a:lnTo>
                  <a:lnTo>
                    <a:pt x="1498600" y="63500"/>
                  </a:lnTo>
                  <a:lnTo>
                    <a:pt x="0" y="63500"/>
                  </a:lnTo>
                  <a:close/>
                </a:path>
              </a:pathLst>
            </a:custGeom>
            <a:solidFill>
              <a:srgbClr val="2979D8"/>
            </a:solidFill>
            <a:ln cap="sq">
              <a:noFill/>
              <a:prstDash val="solid"/>
              <a:miter/>
            </a:ln>
          </p:spPr>
          <p:txBody>
            <a:bodyPr/>
            <a:lstStyle/>
            <a:p>
              <a:endParaRPr lang="fr-BE" noProof="0" dirty="0"/>
            </a:p>
          </p:txBody>
        </p:sp>
        <p:sp>
          <p:nvSpPr>
            <p:cNvPr id="5" name="TextBox 5"/>
            <p:cNvSpPr txBox="1"/>
            <p:nvPr/>
          </p:nvSpPr>
          <p:spPr>
            <a:xfrm>
              <a:off x="0" y="-38100"/>
              <a:ext cx="1498600" cy="101600"/>
            </a:xfrm>
            <a:prstGeom prst="rect">
              <a:avLst/>
            </a:prstGeom>
          </p:spPr>
          <p:txBody>
            <a:bodyPr lIns="50800" tIns="50800" rIns="50800" bIns="50800" rtlCol="0" anchor="ctr"/>
            <a:lstStyle/>
            <a:p>
              <a:pPr algn="l">
                <a:lnSpc>
                  <a:spcPts val="1679"/>
                </a:lnSpc>
              </a:pPr>
              <a:endParaRPr lang="fr-BE" noProof="0" dirty="0"/>
            </a:p>
          </p:txBody>
        </p:sp>
      </p:grpSp>
      <p:grpSp>
        <p:nvGrpSpPr>
          <p:cNvPr id="6" name="Group 6"/>
          <p:cNvGrpSpPr/>
          <p:nvPr/>
        </p:nvGrpSpPr>
        <p:grpSpPr>
          <a:xfrm>
            <a:off x="1047750" y="2190750"/>
            <a:ext cx="7524750" cy="2476500"/>
            <a:chOff x="0" y="0"/>
            <a:chExt cx="10033000" cy="3302000"/>
          </a:xfrm>
        </p:grpSpPr>
        <p:grpSp>
          <p:nvGrpSpPr>
            <p:cNvPr id="7" name="Group 7"/>
            <p:cNvGrpSpPr/>
            <p:nvPr/>
          </p:nvGrpSpPr>
          <p:grpSpPr>
            <a:xfrm>
              <a:off x="0" y="0"/>
              <a:ext cx="10033000" cy="3302000"/>
              <a:chOff x="0" y="0"/>
              <a:chExt cx="10033000" cy="3302000"/>
            </a:xfrm>
          </p:grpSpPr>
          <p:sp>
            <p:nvSpPr>
              <p:cNvPr id="8" name="Freeform 8"/>
              <p:cNvSpPr/>
              <p:nvPr/>
            </p:nvSpPr>
            <p:spPr>
              <a:xfrm>
                <a:off x="0" y="0"/>
                <a:ext cx="10033000" cy="3302000"/>
              </a:xfrm>
              <a:custGeom>
                <a:avLst/>
                <a:gdLst/>
                <a:ahLst/>
                <a:cxnLst/>
                <a:rect l="l" t="t" r="r" b="b"/>
                <a:pathLst>
                  <a:path w="10033000" h="3302000">
                    <a:moveTo>
                      <a:pt x="0" y="0"/>
                    </a:moveTo>
                    <a:lnTo>
                      <a:pt x="10033000" y="0"/>
                    </a:lnTo>
                    <a:lnTo>
                      <a:pt x="10033000" y="3302000"/>
                    </a:lnTo>
                    <a:lnTo>
                      <a:pt x="0" y="3302000"/>
                    </a:lnTo>
                    <a:close/>
                  </a:path>
                </a:pathLst>
              </a:custGeom>
              <a:solidFill>
                <a:srgbClr val="F7FBFD"/>
              </a:solidFill>
              <a:ln cap="sq">
                <a:noFill/>
                <a:prstDash val="solid"/>
                <a:miter/>
              </a:ln>
            </p:spPr>
            <p:txBody>
              <a:bodyPr/>
              <a:lstStyle/>
              <a:p>
                <a:endParaRPr lang="fr-BE" noProof="0" dirty="0"/>
              </a:p>
            </p:txBody>
          </p:sp>
          <p:sp>
            <p:nvSpPr>
              <p:cNvPr id="9" name="TextBox 9"/>
              <p:cNvSpPr txBox="1"/>
              <p:nvPr/>
            </p:nvSpPr>
            <p:spPr>
              <a:xfrm>
                <a:off x="0" y="-38100"/>
                <a:ext cx="10033000" cy="3340100"/>
              </a:xfrm>
              <a:prstGeom prst="rect">
                <a:avLst/>
              </a:prstGeom>
            </p:spPr>
            <p:txBody>
              <a:bodyPr lIns="50800" tIns="50800" rIns="50800" bIns="50800" rtlCol="0" anchor="ctr"/>
              <a:lstStyle/>
              <a:p>
                <a:pPr algn="l">
                  <a:lnSpc>
                    <a:spcPts val="1679"/>
                  </a:lnSpc>
                </a:pPr>
                <a:endParaRPr lang="fr-BE" noProof="0" dirty="0"/>
              </a:p>
            </p:txBody>
          </p:sp>
        </p:grpSp>
        <p:sp>
          <p:nvSpPr>
            <p:cNvPr id="10" name="TextBox 10"/>
            <p:cNvSpPr txBox="1"/>
            <p:nvPr/>
          </p:nvSpPr>
          <p:spPr>
            <a:xfrm>
              <a:off x="444500" y="415925"/>
              <a:ext cx="1016000" cy="376555"/>
            </a:xfrm>
            <a:prstGeom prst="rect">
              <a:avLst/>
            </a:prstGeom>
          </p:spPr>
          <p:txBody>
            <a:bodyPr lIns="0" tIns="0" rIns="0" bIns="0" rtlCol="0" anchor="t">
              <a:spAutoFit/>
            </a:bodyPr>
            <a:lstStyle/>
            <a:p>
              <a:pPr algn="l">
                <a:lnSpc>
                  <a:spcPts val="2415"/>
                </a:lnSpc>
              </a:pPr>
              <a:r>
                <a:rPr lang="fr-BE" sz="1725" b="1" spc="138" noProof="0" dirty="0">
                  <a:solidFill>
                    <a:srgbClr val="2979D8"/>
                  </a:solidFill>
                  <a:latin typeface="DM Sans Bold"/>
                  <a:ea typeface="DM Sans Bold"/>
                  <a:cs typeface="DM Sans Bold"/>
                  <a:sym typeface="DM Sans Bold"/>
                </a:rPr>
                <a:t>01</a:t>
              </a:r>
            </a:p>
          </p:txBody>
        </p:sp>
        <p:sp>
          <p:nvSpPr>
            <p:cNvPr id="11" name="TextBox 11"/>
            <p:cNvSpPr txBox="1"/>
            <p:nvPr/>
          </p:nvSpPr>
          <p:spPr>
            <a:xfrm>
              <a:off x="444500" y="1095375"/>
              <a:ext cx="8890000" cy="558165"/>
            </a:xfrm>
            <a:prstGeom prst="rect">
              <a:avLst/>
            </a:prstGeom>
          </p:spPr>
          <p:txBody>
            <a:bodyPr lIns="0" tIns="0" rIns="0" bIns="0" rtlCol="0" anchor="t">
              <a:spAutoFit/>
            </a:bodyPr>
            <a:lstStyle/>
            <a:p>
              <a:pPr algn="l">
                <a:lnSpc>
                  <a:spcPts val="3569"/>
                </a:lnSpc>
              </a:pPr>
              <a:r>
                <a:rPr lang="fr-BE" sz="2550" b="1" noProof="0" dirty="0">
                  <a:solidFill>
                    <a:srgbClr val="0B2447"/>
                  </a:solidFill>
                  <a:latin typeface="Sinar Grotesk Bold"/>
                  <a:ea typeface="Sinar Grotesk Bold"/>
                  <a:cs typeface="Sinar Grotesk Bold"/>
                  <a:sym typeface="Sinar Grotesk Bold"/>
                </a:rPr>
                <a:t>Compte et classement</a:t>
              </a:r>
            </a:p>
          </p:txBody>
        </p:sp>
        <p:sp>
          <p:nvSpPr>
            <p:cNvPr id="12" name="TextBox 12"/>
            <p:cNvSpPr txBox="1"/>
            <p:nvPr/>
          </p:nvSpPr>
          <p:spPr>
            <a:xfrm>
              <a:off x="444500" y="1939925"/>
              <a:ext cx="8890000" cy="906831"/>
            </a:xfrm>
            <a:prstGeom prst="rect">
              <a:avLst/>
            </a:prstGeom>
          </p:spPr>
          <p:txBody>
            <a:bodyPr lIns="0" tIns="0" rIns="0" bIns="0" rtlCol="0" anchor="t">
              <a:spAutoFit/>
            </a:bodyPr>
            <a:lstStyle/>
            <a:p>
              <a:pPr algn="l">
                <a:lnSpc>
                  <a:spcPts val="2733"/>
                </a:lnSpc>
              </a:pPr>
              <a:r>
                <a:rPr lang="fr-BE" sz="2025" dirty="0">
                  <a:solidFill>
                    <a:srgbClr val="0B2447"/>
                  </a:solidFill>
                  <a:latin typeface="DM Sans"/>
                  <a:ea typeface="DM Sans"/>
                  <a:cs typeface="DM Sans"/>
                  <a:sym typeface="DM Sans"/>
                </a:rPr>
                <a:t>P</a:t>
              </a:r>
              <a:r>
                <a:rPr lang="fr-BE" sz="2025" noProof="0" dirty="0" err="1">
                  <a:solidFill>
                    <a:srgbClr val="0B2447"/>
                  </a:solidFill>
                  <a:latin typeface="DM Sans"/>
                  <a:ea typeface="DM Sans"/>
                  <a:cs typeface="DM Sans"/>
                  <a:sym typeface="DM Sans"/>
                </a:rPr>
                <a:t>rogression</a:t>
              </a:r>
              <a:r>
                <a:rPr lang="fr-BE" sz="2025" noProof="0" dirty="0">
                  <a:solidFill>
                    <a:srgbClr val="0B2447"/>
                  </a:solidFill>
                  <a:latin typeface="DM Sans"/>
                  <a:ea typeface="DM Sans"/>
                  <a:cs typeface="DM Sans"/>
                  <a:sym typeface="DM Sans"/>
                </a:rPr>
                <a:t> cross-</a:t>
              </a:r>
              <a:r>
                <a:rPr lang="fr-BE" sz="2025" noProof="0" dirty="0" err="1">
                  <a:solidFill>
                    <a:srgbClr val="0B2447"/>
                  </a:solidFill>
                  <a:latin typeface="DM Sans"/>
                  <a:ea typeface="DM Sans"/>
                  <a:cs typeface="DM Sans"/>
                  <a:sym typeface="DM Sans"/>
                </a:rPr>
                <a:t>devices</a:t>
              </a:r>
              <a:r>
                <a:rPr lang="fr-BE" sz="2025" noProof="0" dirty="0">
                  <a:solidFill>
                    <a:srgbClr val="0B2447"/>
                  </a:solidFill>
                  <a:latin typeface="DM Sans"/>
                  <a:ea typeface="DM Sans"/>
                  <a:cs typeface="DM Sans"/>
                  <a:sym typeface="DM Sans"/>
                </a:rPr>
                <a:t> et comparaisons des scores entre utilisateurs</a:t>
              </a:r>
            </a:p>
          </p:txBody>
        </p:sp>
      </p:grpSp>
      <p:grpSp>
        <p:nvGrpSpPr>
          <p:cNvPr id="13" name="Group 13"/>
          <p:cNvGrpSpPr/>
          <p:nvPr/>
        </p:nvGrpSpPr>
        <p:grpSpPr>
          <a:xfrm>
            <a:off x="9144000" y="2190750"/>
            <a:ext cx="7524750" cy="2476500"/>
            <a:chOff x="0" y="0"/>
            <a:chExt cx="10033000" cy="3302000"/>
          </a:xfrm>
        </p:grpSpPr>
        <p:grpSp>
          <p:nvGrpSpPr>
            <p:cNvPr id="14" name="Group 14"/>
            <p:cNvGrpSpPr/>
            <p:nvPr/>
          </p:nvGrpSpPr>
          <p:grpSpPr>
            <a:xfrm>
              <a:off x="0" y="0"/>
              <a:ext cx="10033000" cy="3302000"/>
              <a:chOff x="0" y="0"/>
              <a:chExt cx="10033000" cy="3302000"/>
            </a:xfrm>
          </p:grpSpPr>
          <p:sp>
            <p:nvSpPr>
              <p:cNvPr id="15" name="Freeform 15"/>
              <p:cNvSpPr/>
              <p:nvPr/>
            </p:nvSpPr>
            <p:spPr>
              <a:xfrm>
                <a:off x="0" y="0"/>
                <a:ext cx="10033000" cy="3302000"/>
              </a:xfrm>
              <a:custGeom>
                <a:avLst/>
                <a:gdLst/>
                <a:ahLst/>
                <a:cxnLst/>
                <a:rect l="l" t="t" r="r" b="b"/>
                <a:pathLst>
                  <a:path w="10033000" h="3302000">
                    <a:moveTo>
                      <a:pt x="0" y="0"/>
                    </a:moveTo>
                    <a:lnTo>
                      <a:pt x="10033000" y="0"/>
                    </a:lnTo>
                    <a:lnTo>
                      <a:pt x="10033000" y="3302000"/>
                    </a:lnTo>
                    <a:lnTo>
                      <a:pt x="0" y="3302000"/>
                    </a:lnTo>
                    <a:close/>
                  </a:path>
                </a:pathLst>
              </a:custGeom>
              <a:solidFill>
                <a:srgbClr val="F7FBFD"/>
              </a:solidFill>
              <a:ln cap="sq">
                <a:noFill/>
                <a:prstDash val="solid"/>
                <a:miter/>
              </a:ln>
            </p:spPr>
            <p:txBody>
              <a:bodyPr/>
              <a:lstStyle/>
              <a:p>
                <a:endParaRPr lang="fr-BE" noProof="0" dirty="0"/>
              </a:p>
            </p:txBody>
          </p:sp>
          <p:sp>
            <p:nvSpPr>
              <p:cNvPr id="16" name="TextBox 16"/>
              <p:cNvSpPr txBox="1"/>
              <p:nvPr/>
            </p:nvSpPr>
            <p:spPr>
              <a:xfrm>
                <a:off x="0" y="-38100"/>
                <a:ext cx="10033000" cy="3340100"/>
              </a:xfrm>
              <a:prstGeom prst="rect">
                <a:avLst/>
              </a:prstGeom>
            </p:spPr>
            <p:txBody>
              <a:bodyPr lIns="50800" tIns="50800" rIns="50800" bIns="50800" rtlCol="0" anchor="ctr"/>
              <a:lstStyle/>
              <a:p>
                <a:pPr algn="l">
                  <a:lnSpc>
                    <a:spcPts val="1679"/>
                  </a:lnSpc>
                </a:pPr>
                <a:endParaRPr lang="fr-BE" noProof="0" dirty="0"/>
              </a:p>
            </p:txBody>
          </p:sp>
        </p:grpSp>
        <p:sp>
          <p:nvSpPr>
            <p:cNvPr id="17" name="TextBox 17"/>
            <p:cNvSpPr txBox="1"/>
            <p:nvPr/>
          </p:nvSpPr>
          <p:spPr>
            <a:xfrm>
              <a:off x="444500" y="415925"/>
              <a:ext cx="1016000" cy="376555"/>
            </a:xfrm>
            <a:prstGeom prst="rect">
              <a:avLst/>
            </a:prstGeom>
          </p:spPr>
          <p:txBody>
            <a:bodyPr lIns="0" tIns="0" rIns="0" bIns="0" rtlCol="0" anchor="t">
              <a:spAutoFit/>
            </a:bodyPr>
            <a:lstStyle/>
            <a:p>
              <a:pPr algn="l">
                <a:lnSpc>
                  <a:spcPts val="2415"/>
                </a:lnSpc>
              </a:pPr>
              <a:r>
                <a:rPr lang="fr-BE" sz="1725" b="1" spc="138" noProof="0" dirty="0">
                  <a:solidFill>
                    <a:srgbClr val="2979D8"/>
                  </a:solidFill>
                  <a:latin typeface="DM Sans Bold"/>
                  <a:ea typeface="DM Sans Bold"/>
                  <a:cs typeface="DM Sans Bold"/>
                  <a:sym typeface="DM Sans Bold"/>
                </a:rPr>
                <a:t>02</a:t>
              </a:r>
            </a:p>
          </p:txBody>
        </p:sp>
        <p:sp>
          <p:nvSpPr>
            <p:cNvPr id="18" name="TextBox 18"/>
            <p:cNvSpPr txBox="1"/>
            <p:nvPr/>
          </p:nvSpPr>
          <p:spPr>
            <a:xfrm>
              <a:off x="444500" y="1095375"/>
              <a:ext cx="8890000" cy="558165"/>
            </a:xfrm>
            <a:prstGeom prst="rect">
              <a:avLst/>
            </a:prstGeom>
          </p:spPr>
          <p:txBody>
            <a:bodyPr lIns="0" tIns="0" rIns="0" bIns="0" rtlCol="0" anchor="t">
              <a:spAutoFit/>
            </a:bodyPr>
            <a:lstStyle/>
            <a:p>
              <a:pPr algn="l">
                <a:lnSpc>
                  <a:spcPts val="3569"/>
                </a:lnSpc>
              </a:pPr>
              <a:r>
                <a:rPr lang="fr-BE" sz="2550" b="1" noProof="0" dirty="0">
                  <a:solidFill>
                    <a:srgbClr val="0B2447"/>
                  </a:solidFill>
                  <a:latin typeface="Sinar Grotesk Bold"/>
                  <a:ea typeface="Sinar Grotesk Bold"/>
                  <a:cs typeface="Sinar Grotesk Bold"/>
                  <a:sym typeface="Sinar Grotesk Bold"/>
                </a:rPr>
                <a:t>Catalogue et filtres</a:t>
              </a:r>
            </a:p>
          </p:txBody>
        </p:sp>
        <p:sp>
          <p:nvSpPr>
            <p:cNvPr id="19" name="TextBox 19"/>
            <p:cNvSpPr txBox="1"/>
            <p:nvPr/>
          </p:nvSpPr>
          <p:spPr>
            <a:xfrm>
              <a:off x="444500" y="1939925"/>
              <a:ext cx="8890000" cy="891540"/>
            </a:xfrm>
            <a:prstGeom prst="rect">
              <a:avLst/>
            </a:prstGeom>
          </p:spPr>
          <p:txBody>
            <a:bodyPr lIns="0" tIns="0" rIns="0" bIns="0" rtlCol="0" anchor="t">
              <a:spAutoFit/>
            </a:bodyPr>
            <a:lstStyle/>
            <a:p>
              <a:pPr algn="l">
                <a:lnSpc>
                  <a:spcPts val="2733"/>
                </a:lnSpc>
              </a:pPr>
              <a:r>
                <a:rPr lang="fr-BE" sz="2025" noProof="0" dirty="0">
                  <a:solidFill>
                    <a:srgbClr val="0B2447"/>
                  </a:solidFill>
                  <a:latin typeface="DM Sans"/>
                  <a:ea typeface="DM Sans"/>
                  <a:cs typeface="DM Sans"/>
                  <a:sym typeface="DM Sans"/>
                </a:rPr>
                <a:t>NGC, Caldwell, filtres par type et davantage de noms usuels</a:t>
              </a:r>
            </a:p>
          </p:txBody>
        </p:sp>
      </p:grpSp>
      <p:grpSp>
        <p:nvGrpSpPr>
          <p:cNvPr id="20" name="Group 20"/>
          <p:cNvGrpSpPr/>
          <p:nvPr/>
        </p:nvGrpSpPr>
        <p:grpSpPr>
          <a:xfrm>
            <a:off x="1047750" y="5143500"/>
            <a:ext cx="7524750" cy="2476500"/>
            <a:chOff x="0" y="0"/>
            <a:chExt cx="10033000" cy="3302000"/>
          </a:xfrm>
        </p:grpSpPr>
        <p:grpSp>
          <p:nvGrpSpPr>
            <p:cNvPr id="21" name="Group 21"/>
            <p:cNvGrpSpPr/>
            <p:nvPr/>
          </p:nvGrpSpPr>
          <p:grpSpPr>
            <a:xfrm>
              <a:off x="0" y="0"/>
              <a:ext cx="10033000" cy="3302000"/>
              <a:chOff x="0" y="0"/>
              <a:chExt cx="10033000" cy="3302000"/>
            </a:xfrm>
          </p:grpSpPr>
          <p:sp>
            <p:nvSpPr>
              <p:cNvPr id="22" name="Freeform 22"/>
              <p:cNvSpPr/>
              <p:nvPr/>
            </p:nvSpPr>
            <p:spPr>
              <a:xfrm>
                <a:off x="0" y="0"/>
                <a:ext cx="10033000" cy="3302000"/>
              </a:xfrm>
              <a:custGeom>
                <a:avLst/>
                <a:gdLst/>
                <a:ahLst/>
                <a:cxnLst/>
                <a:rect l="l" t="t" r="r" b="b"/>
                <a:pathLst>
                  <a:path w="10033000" h="3302000">
                    <a:moveTo>
                      <a:pt x="0" y="0"/>
                    </a:moveTo>
                    <a:lnTo>
                      <a:pt x="10033000" y="0"/>
                    </a:lnTo>
                    <a:lnTo>
                      <a:pt x="10033000" y="3302000"/>
                    </a:lnTo>
                    <a:lnTo>
                      <a:pt x="0" y="3302000"/>
                    </a:lnTo>
                    <a:close/>
                  </a:path>
                </a:pathLst>
              </a:custGeom>
              <a:solidFill>
                <a:srgbClr val="F7FBFD"/>
              </a:solidFill>
              <a:ln cap="sq">
                <a:noFill/>
                <a:prstDash val="solid"/>
                <a:miter/>
              </a:ln>
            </p:spPr>
            <p:txBody>
              <a:bodyPr/>
              <a:lstStyle/>
              <a:p>
                <a:endParaRPr lang="fr-BE" noProof="0" dirty="0"/>
              </a:p>
            </p:txBody>
          </p:sp>
          <p:sp>
            <p:nvSpPr>
              <p:cNvPr id="23" name="TextBox 23"/>
              <p:cNvSpPr txBox="1"/>
              <p:nvPr/>
            </p:nvSpPr>
            <p:spPr>
              <a:xfrm>
                <a:off x="0" y="-38100"/>
                <a:ext cx="10033000" cy="3340100"/>
              </a:xfrm>
              <a:prstGeom prst="rect">
                <a:avLst/>
              </a:prstGeom>
            </p:spPr>
            <p:txBody>
              <a:bodyPr lIns="50800" tIns="50800" rIns="50800" bIns="50800" rtlCol="0" anchor="ctr"/>
              <a:lstStyle/>
              <a:p>
                <a:pPr algn="l">
                  <a:lnSpc>
                    <a:spcPts val="1679"/>
                  </a:lnSpc>
                </a:pPr>
                <a:endParaRPr lang="fr-BE" noProof="0" dirty="0"/>
              </a:p>
            </p:txBody>
          </p:sp>
        </p:grpSp>
        <p:sp>
          <p:nvSpPr>
            <p:cNvPr id="24" name="TextBox 24"/>
            <p:cNvSpPr txBox="1"/>
            <p:nvPr/>
          </p:nvSpPr>
          <p:spPr>
            <a:xfrm>
              <a:off x="444500" y="415925"/>
              <a:ext cx="1016000" cy="376555"/>
            </a:xfrm>
            <a:prstGeom prst="rect">
              <a:avLst/>
            </a:prstGeom>
          </p:spPr>
          <p:txBody>
            <a:bodyPr lIns="0" tIns="0" rIns="0" bIns="0" rtlCol="0" anchor="t">
              <a:spAutoFit/>
            </a:bodyPr>
            <a:lstStyle/>
            <a:p>
              <a:pPr algn="l">
                <a:lnSpc>
                  <a:spcPts val="2415"/>
                </a:lnSpc>
              </a:pPr>
              <a:r>
                <a:rPr lang="fr-BE" sz="1725" b="1" spc="138" noProof="0" dirty="0">
                  <a:solidFill>
                    <a:srgbClr val="2979D8"/>
                  </a:solidFill>
                  <a:latin typeface="DM Sans Bold"/>
                  <a:ea typeface="DM Sans Bold"/>
                  <a:cs typeface="DM Sans Bold"/>
                  <a:sym typeface="DM Sans Bold"/>
                </a:rPr>
                <a:t>03</a:t>
              </a:r>
            </a:p>
          </p:txBody>
        </p:sp>
        <p:sp>
          <p:nvSpPr>
            <p:cNvPr id="25" name="TextBox 25"/>
            <p:cNvSpPr txBox="1"/>
            <p:nvPr/>
          </p:nvSpPr>
          <p:spPr>
            <a:xfrm>
              <a:off x="444500" y="1095375"/>
              <a:ext cx="8890000" cy="558165"/>
            </a:xfrm>
            <a:prstGeom prst="rect">
              <a:avLst/>
            </a:prstGeom>
          </p:spPr>
          <p:txBody>
            <a:bodyPr lIns="0" tIns="0" rIns="0" bIns="0" rtlCol="0" anchor="t">
              <a:spAutoFit/>
            </a:bodyPr>
            <a:lstStyle/>
            <a:p>
              <a:pPr algn="l">
                <a:lnSpc>
                  <a:spcPts val="3569"/>
                </a:lnSpc>
              </a:pPr>
              <a:r>
                <a:rPr lang="fr-BE" sz="2550" b="1" noProof="0" dirty="0">
                  <a:solidFill>
                    <a:srgbClr val="0B2447"/>
                  </a:solidFill>
                  <a:latin typeface="Sinar Grotesk Bold"/>
                  <a:ea typeface="Sinar Grotesk Bold"/>
                  <a:cs typeface="Sinar Grotesk Bold"/>
                  <a:sym typeface="Sinar Grotesk Bold"/>
                </a:rPr>
                <a:t>Ciel en temps réel &amp; repères terrestre</a:t>
              </a:r>
            </a:p>
          </p:txBody>
        </p:sp>
        <p:sp>
          <p:nvSpPr>
            <p:cNvPr id="26" name="TextBox 26"/>
            <p:cNvSpPr txBox="1"/>
            <p:nvPr/>
          </p:nvSpPr>
          <p:spPr>
            <a:xfrm>
              <a:off x="444500" y="1939925"/>
              <a:ext cx="8890000" cy="445165"/>
            </a:xfrm>
            <a:prstGeom prst="rect">
              <a:avLst/>
            </a:prstGeom>
          </p:spPr>
          <p:txBody>
            <a:bodyPr lIns="0" tIns="0" rIns="0" bIns="0" rtlCol="0" anchor="t">
              <a:spAutoFit/>
            </a:bodyPr>
            <a:lstStyle/>
            <a:p>
              <a:pPr algn="l">
                <a:lnSpc>
                  <a:spcPts val="2733"/>
                </a:lnSpc>
              </a:pPr>
              <a:r>
                <a:rPr lang="fr-BE" sz="2025" dirty="0">
                  <a:solidFill>
                    <a:srgbClr val="0B2447"/>
                  </a:solidFill>
                  <a:latin typeface="DM Sans"/>
                  <a:ea typeface="DM Sans"/>
                  <a:cs typeface="DM Sans"/>
                  <a:sym typeface="DM Sans"/>
                </a:rPr>
                <a:t>V</a:t>
              </a:r>
              <a:r>
                <a:rPr lang="fr-BE" sz="2025" noProof="0" dirty="0" err="1">
                  <a:solidFill>
                    <a:srgbClr val="0B2447"/>
                  </a:solidFill>
                  <a:latin typeface="DM Sans"/>
                  <a:ea typeface="DM Sans"/>
                  <a:cs typeface="DM Sans"/>
                  <a:sym typeface="DM Sans"/>
                </a:rPr>
                <a:t>isibilité</a:t>
              </a:r>
              <a:r>
                <a:rPr lang="fr-BE" sz="2025" noProof="0" dirty="0">
                  <a:solidFill>
                    <a:srgbClr val="0B2447"/>
                  </a:solidFill>
                  <a:latin typeface="DM Sans"/>
                  <a:ea typeface="DM Sans"/>
                  <a:cs typeface="DM Sans"/>
                  <a:sym typeface="DM Sans"/>
                </a:rPr>
                <a:t> du moment et intégration des planètes</a:t>
              </a:r>
            </a:p>
          </p:txBody>
        </p:sp>
      </p:grpSp>
      <p:grpSp>
        <p:nvGrpSpPr>
          <p:cNvPr id="27" name="Group 27"/>
          <p:cNvGrpSpPr/>
          <p:nvPr/>
        </p:nvGrpSpPr>
        <p:grpSpPr>
          <a:xfrm>
            <a:off x="9144000" y="5143500"/>
            <a:ext cx="7524750" cy="2476500"/>
            <a:chOff x="0" y="0"/>
            <a:chExt cx="10033000" cy="3302000"/>
          </a:xfrm>
        </p:grpSpPr>
        <p:grpSp>
          <p:nvGrpSpPr>
            <p:cNvPr id="28" name="Group 28"/>
            <p:cNvGrpSpPr/>
            <p:nvPr/>
          </p:nvGrpSpPr>
          <p:grpSpPr>
            <a:xfrm>
              <a:off x="0" y="0"/>
              <a:ext cx="10033000" cy="3302000"/>
              <a:chOff x="0" y="0"/>
              <a:chExt cx="10033000" cy="3302000"/>
            </a:xfrm>
          </p:grpSpPr>
          <p:sp>
            <p:nvSpPr>
              <p:cNvPr id="29" name="Freeform 29"/>
              <p:cNvSpPr/>
              <p:nvPr/>
            </p:nvSpPr>
            <p:spPr>
              <a:xfrm>
                <a:off x="0" y="0"/>
                <a:ext cx="10033000" cy="3302000"/>
              </a:xfrm>
              <a:custGeom>
                <a:avLst/>
                <a:gdLst/>
                <a:ahLst/>
                <a:cxnLst/>
                <a:rect l="l" t="t" r="r" b="b"/>
                <a:pathLst>
                  <a:path w="10033000" h="3302000">
                    <a:moveTo>
                      <a:pt x="0" y="0"/>
                    </a:moveTo>
                    <a:lnTo>
                      <a:pt x="10033000" y="0"/>
                    </a:lnTo>
                    <a:lnTo>
                      <a:pt x="10033000" y="3302000"/>
                    </a:lnTo>
                    <a:lnTo>
                      <a:pt x="0" y="3302000"/>
                    </a:lnTo>
                    <a:close/>
                  </a:path>
                </a:pathLst>
              </a:custGeom>
              <a:solidFill>
                <a:srgbClr val="EEF7FB"/>
              </a:solidFill>
              <a:ln cap="sq">
                <a:noFill/>
                <a:prstDash val="solid"/>
                <a:miter/>
              </a:ln>
            </p:spPr>
            <p:txBody>
              <a:bodyPr/>
              <a:lstStyle/>
              <a:p>
                <a:endParaRPr lang="fr-BE" noProof="0" dirty="0"/>
              </a:p>
            </p:txBody>
          </p:sp>
          <p:sp>
            <p:nvSpPr>
              <p:cNvPr id="30" name="TextBox 30"/>
              <p:cNvSpPr txBox="1"/>
              <p:nvPr/>
            </p:nvSpPr>
            <p:spPr>
              <a:xfrm>
                <a:off x="0" y="-38100"/>
                <a:ext cx="10033000" cy="3340100"/>
              </a:xfrm>
              <a:prstGeom prst="rect">
                <a:avLst/>
              </a:prstGeom>
            </p:spPr>
            <p:txBody>
              <a:bodyPr lIns="50800" tIns="50800" rIns="50800" bIns="50800" rtlCol="0" anchor="ctr"/>
              <a:lstStyle/>
              <a:p>
                <a:pPr algn="l">
                  <a:lnSpc>
                    <a:spcPts val="1679"/>
                  </a:lnSpc>
                </a:pPr>
                <a:endParaRPr lang="fr-BE" noProof="0" dirty="0"/>
              </a:p>
            </p:txBody>
          </p:sp>
        </p:grpSp>
        <p:sp>
          <p:nvSpPr>
            <p:cNvPr id="31" name="TextBox 31"/>
            <p:cNvSpPr txBox="1"/>
            <p:nvPr/>
          </p:nvSpPr>
          <p:spPr>
            <a:xfrm>
              <a:off x="444500" y="415925"/>
              <a:ext cx="1016000" cy="376555"/>
            </a:xfrm>
            <a:prstGeom prst="rect">
              <a:avLst/>
            </a:prstGeom>
          </p:spPr>
          <p:txBody>
            <a:bodyPr lIns="0" tIns="0" rIns="0" bIns="0" rtlCol="0" anchor="t">
              <a:spAutoFit/>
            </a:bodyPr>
            <a:lstStyle/>
            <a:p>
              <a:pPr algn="l">
                <a:lnSpc>
                  <a:spcPts val="2415"/>
                </a:lnSpc>
              </a:pPr>
              <a:r>
                <a:rPr lang="fr-BE" sz="1725" b="1" spc="138" noProof="0" dirty="0">
                  <a:solidFill>
                    <a:srgbClr val="2979D8"/>
                  </a:solidFill>
                  <a:latin typeface="DM Sans Bold"/>
                  <a:ea typeface="DM Sans Bold"/>
                  <a:cs typeface="DM Sans Bold"/>
                  <a:sym typeface="DM Sans Bold"/>
                </a:rPr>
                <a:t>04</a:t>
              </a:r>
            </a:p>
          </p:txBody>
        </p:sp>
        <p:sp>
          <p:nvSpPr>
            <p:cNvPr id="32" name="TextBox 32"/>
            <p:cNvSpPr txBox="1"/>
            <p:nvPr/>
          </p:nvSpPr>
          <p:spPr>
            <a:xfrm>
              <a:off x="444500" y="1095375"/>
              <a:ext cx="8890000" cy="558165"/>
            </a:xfrm>
            <a:prstGeom prst="rect">
              <a:avLst/>
            </a:prstGeom>
          </p:spPr>
          <p:txBody>
            <a:bodyPr lIns="0" tIns="0" rIns="0" bIns="0" rtlCol="0" anchor="t">
              <a:spAutoFit/>
            </a:bodyPr>
            <a:lstStyle/>
            <a:p>
              <a:pPr algn="l">
                <a:lnSpc>
                  <a:spcPts val="3569"/>
                </a:lnSpc>
              </a:pPr>
              <a:r>
                <a:rPr lang="fr-BE" sz="2550" b="1" noProof="0" dirty="0">
                  <a:solidFill>
                    <a:srgbClr val="0B2447"/>
                  </a:solidFill>
                  <a:latin typeface="Sinar Grotesk Bold"/>
                  <a:ea typeface="Sinar Grotesk Bold"/>
                  <a:cs typeface="Sinar Grotesk Bold"/>
                  <a:sym typeface="Sinar Grotesk Bold"/>
                </a:rPr>
                <a:t>Données futures</a:t>
              </a:r>
            </a:p>
          </p:txBody>
        </p:sp>
        <p:sp>
          <p:nvSpPr>
            <p:cNvPr id="33" name="TextBox 33"/>
            <p:cNvSpPr txBox="1"/>
            <p:nvPr/>
          </p:nvSpPr>
          <p:spPr>
            <a:xfrm>
              <a:off x="444500" y="1939925"/>
              <a:ext cx="8890000" cy="906831"/>
            </a:xfrm>
            <a:prstGeom prst="rect">
              <a:avLst/>
            </a:prstGeom>
          </p:spPr>
          <p:txBody>
            <a:bodyPr lIns="0" tIns="0" rIns="0" bIns="0" rtlCol="0" anchor="t">
              <a:spAutoFit/>
            </a:bodyPr>
            <a:lstStyle/>
            <a:p>
              <a:pPr algn="l">
                <a:lnSpc>
                  <a:spcPts val="2733"/>
                </a:lnSpc>
              </a:pPr>
              <a:r>
                <a:rPr lang="fr-BE" sz="2025" dirty="0">
                  <a:solidFill>
                    <a:srgbClr val="0B2447"/>
                  </a:solidFill>
                  <a:latin typeface="DM Sans"/>
                  <a:ea typeface="DM Sans"/>
                  <a:cs typeface="DM Sans"/>
                  <a:sym typeface="DM Sans"/>
                </a:rPr>
                <a:t>N</a:t>
              </a:r>
              <a:r>
                <a:rPr lang="fr-BE" sz="2025" noProof="0" dirty="0" err="1">
                  <a:solidFill>
                    <a:srgbClr val="0B2447"/>
                  </a:solidFill>
                  <a:latin typeface="DM Sans"/>
                  <a:ea typeface="DM Sans"/>
                  <a:cs typeface="DM Sans"/>
                  <a:sym typeface="DM Sans"/>
                </a:rPr>
                <a:t>ouvelles</a:t>
              </a:r>
              <a:r>
                <a:rPr lang="fr-BE" sz="2025" noProof="0" dirty="0">
                  <a:solidFill>
                    <a:srgbClr val="0B2447"/>
                  </a:solidFill>
                  <a:latin typeface="DM Sans"/>
                  <a:ea typeface="DM Sans"/>
                  <a:cs typeface="DM Sans"/>
                  <a:sym typeface="DM Sans"/>
                </a:rPr>
                <a:t> sources publiques, missions et catalogues, lexique de l’astronomie</a:t>
              </a:r>
            </a:p>
          </p:txBody>
        </p:sp>
      </p:grpSp>
      <p:sp>
        <p:nvSpPr>
          <p:cNvPr id="34" name="TextBox 34"/>
          <p:cNvSpPr txBox="1"/>
          <p:nvPr/>
        </p:nvSpPr>
        <p:spPr>
          <a:xfrm>
            <a:off x="2286000" y="8248650"/>
            <a:ext cx="13716000" cy="274320"/>
          </a:xfrm>
          <a:prstGeom prst="rect">
            <a:avLst/>
          </a:prstGeom>
        </p:spPr>
        <p:txBody>
          <a:bodyPr lIns="0" tIns="0" rIns="0" bIns="0" rtlCol="0" anchor="t">
            <a:spAutoFit/>
          </a:bodyPr>
          <a:lstStyle/>
          <a:p>
            <a:pPr algn="ctr">
              <a:lnSpc>
                <a:spcPts val="2204"/>
              </a:lnSpc>
            </a:pPr>
            <a:r>
              <a:rPr lang="fr-BE" sz="1575" noProof="0" dirty="0">
                <a:solidFill>
                  <a:srgbClr val="5F7187"/>
                </a:solidFill>
                <a:latin typeface="DM Sans"/>
                <a:ea typeface="DM Sans"/>
                <a:cs typeface="DM Sans"/>
                <a:sym typeface="DM Sans"/>
              </a:rPr>
              <a:t>Roman : lancé le 30 août 2026, un futur potentiel apport de données à grand champ à surveiller.</a:t>
            </a:r>
          </a:p>
        </p:txBody>
      </p:sp>
      <p:sp>
        <p:nvSpPr>
          <p:cNvPr id="35" name="TextBox 35"/>
          <p:cNvSpPr txBox="1"/>
          <p:nvPr/>
        </p:nvSpPr>
        <p:spPr>
          <a:xfrm>
            <a:off x="1047750" y="9696450"/>
            <a:ext cx="16192500" cy="222885"/>
          </a:xfrm>
          <a:prstGeom prst="rect">
            <a:avLst/>
          </a:prstGeom>
        </p:spPr>
        <p:txBody>
          <a:bodyPr lIns="0" tIns="0" rIns="0" bIns="0" rtlCol="0" anchor="t">
            <a:spAutoFit/>
          </a:bodyPr>
          <a:lstStyle/>
          <a:p>
            <a:pPr algn="l">
              <a:lnSpc>
                <a:spcPts val="1889"/>
              </a:lnSpc>
            </a:pPr>
            <a:r>
              <a:rPr lang="fr-BE" sz="1350" noProof="0" dirty="0">
                <a:solidFill>
                  <a:srgbClr val="5F7187"/>
                </a:solidFill>
                <a:latin typeface="DM Sans"/>
                <a:ea typeface="DM Sans"/>
                <a:cs typeface="DM Sans"/>
                <a:sym typeface="DM Sans"/>
              </a:rPr>
              <a:t>AndromeSky — TFE Développement Web </a:t>
            </a:r>
            <a:r>
              <a:rPr lang="fr-BE" sz="1350" noProof="0" dirty="0" err="1">
                <a:solidFill>
                  <a:srgbClr val="5F7187"/>
                </a:solidFill>
                <a:latin typeface="DM Sans"/>
                <a:ea typeface="DM Sans"/>
                <a:cs typeface="DM Sans"/>
                <a:sym typeface="DM Sans"/>
              </a:rPr>
              <a:t>Front-End</a:t>
            </a:r>
            <a:r>
              <a:rPr lang="fr-BE" sz="1350" noProof="0" dirty="0">
                <a:solidFill>
                  <a:srgbClr val="5F7187"/>
                </a:solidFill>
                <a:latin typeface="DM Sans"/>
                <a:ea typeface="DM Sans"/>
                <a:cs typeface="DM Sans"/>
                <a:sym typeface="DM Sans"/>
              </a:rPr>
              <a:t>                                      10</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162F"/>
        </a:solidFill>
        <a:effectLst/>
      </p:bgPr>
    </p:bg>
    <p:spTree>
      <p:nvGrpSpPr>
        <p:cNvPr id="1" name=""/>
        <p:cNvGrpSpPr/>
        <p:nvPr/>
      </p:nvGrpSpPr>
      <p:grpSpPr>
        <a:xfrm>
          <a:off x="0" y="0"/>
          <a:ext cx="0" cy="0"/>
          <a:chOff x="0" y="0"/>
          <a:chExt cx="0" cy="0"/>
        </a:xfrm>
      </p:grpSpPr>
      <p:sp>
        <p:nvSpPr>
          <p:cNvPr id="2" name="Freeform 2"/>
          <p:cNvSpPr/>
          <p:nvPr/>
        </p:nvSpPr>
        <p:spPr>
          <a:xfrm>
            <a:off x="10763250" y="0"/>
            <a:ext cx="7524750" cy="10287000"/>
          </a:xfrm>
          <a:custGeom>
            <a:avLst/>
            <a:gdLst/>
            <a:ahLst/>
            <a:cxnLst/>
            <a:rect l="l" t="t" r="r" b="b"/>
            <a:pathLst>
              <a:path w="7524750" h="10287000">
                <a:moveTo>
                  <a:pt x="0" y="0"/>
                </a:moveTo>
                <a:lnTo>
                  <a:pt x="7524750" y="0"/>
                </a:lnTo>
                <a:lnTo>
                  <a:pt x="7524750" y="10287000"/>
                </a:lnTo>
                <a:lnTo>
                  <a:pt x="0" y="10287000"/>
                </a:lnTo>
                <a:lnTo>
                  <a:pt x="0" y="0"/>
                </a:lnTo>
                <a:close/>
              </a:path>
            </a:pathLst>
          </a:custGeom>
          <a:blipFill>
            <a:blip r:embed="rId3"/>
            <a:stretch>
              <a:fillRect l="-71518" r="-71518"/>
            </a:stretch>
          </a:blipFill>
          <a:ln cap="sq">
            <a:noFill/>
            <a:prstDash val="solid"/>
            <a:miter/>
          </a:ln>
        </p:spPr>
        <p:txBody>
          <a:bodyPr/>
          <a:lstStyle/>
          <a:p>
            <a:endParaRPr lang="fr-BE" noProof="0" dirty="0"/>
          </a:p>
        </p:txBody>
      </p:sp>
      <p:grpSp>
        <p:nvGrpSpPr>
          <p:cNvPr id="3" name="Group 3"/>
          <p:cNvGrpSpPr/>
          <p:nvPr/>
        </p:nvGrpSpPr>
        <p:grpSpPr>
          <a:xfrm>
            <a:off x="10287000" y="0"/>
            <a:ext cx="8001000" cy="10287000"/>
            <a:chOff x="0" y="0"/>
            <a:chExt cx="10668000" cy="13716000"/>
          </a:xfrm>
        </p:grpSpPr>
        <p:sp>
          <p:nvSpPr>
            <p:cNvPr id="4" name="Freeform 4"/>
            <p:cNvSpPr/>
            <p:nvPr/>
          </p:nvSpPr>
          <p:spPr>
            <a:xfrm>
              <a:off x="0" y="0"/>
              <a:ext cx="10668000" cy="13716000"/>
            </a:xfrm>
            <a:custGeom>
              <a:avLst/>
              <a:gdLst/>
              <a:ahLst/>
              <a:cxnLst/>
              <a:rect l="l" t="t" r="r" b="b"/>
              <a:pathLst>
                <a:path w="10668000" h="13716000">
                  <a:moveTo>
                    <a:pt x="0" y="0"/>
                  </a:moveTo>
                  <a:lnTo>
                    <a:pt x="10668000" y="0"/>
                  </a:lnTo>
                  <a:lnTo>
                    <a:pt x="10668000" y="13716000"/>
                  </a:lnTo>
                  <a:lnTo>
                    <a:pt x="0" y="13716000"/>
                  </a:lnTo>
                  <a:close/>
                </a:path>
              </a:pathLst>
            </a:custGeom>
            <a:solidFill>
              <a:srgbClr val="07162F">
                <a:alpha val="34902"/>
              </a:srgbClr>
            </a:solidFill>
            <a:ln cap="sq">
              <a:noFill/>
              <a:prstDash val="solid"/>
              <a:miter/>
            </a:ln>
          </p:spPr>
          <p:txBody>
            <a:bodyPr/>
            <a:lstStyle/>
            <a:p>
              <a:endParaRPr lang="fr-BE" noProof="0" dirty="0"/>
            </a:p>
          </p:txBody>
        </p:sp>
        <p:sp>
          <p:nvSpPr>
            <p:cNvPr id="5" name="TextBox 5"/>
            <p:cNvSpPr txBox="1"/>
            <p:nvPr/>
          </p:nvSpPr>
          <p:spPr>
            <a:xfrm>
              <a:off x="0" y="-38100"/>
              <a:ext cx="10668000" cy="13754100"/>
            </a:xfrm>
            <a:prstGeom prst="rect">
              <a:avLst/>
            </a:prstGeom>
          </p:spPr>
          <p:txBody>
            <a:bodyPr lIns="50800" tIns="50800" rIns="50800" bIns="50800" rtlCol="0" anchor="ctr"/>
            <a:lstStyle/>
            <a:p>
              <a:pPr algn="l">
                <a:lnSpc>
                  <a:spcPts val="1679"/>
                </a:lnSpc>
              </a:pPr>
              <a:endParaRPr lang="fr-BE" noProof="0" dirty="0"/>
            </a:p>
          </p:txBody>
        </p:sp>
      </p:grpSp>
      <p:sp>
        <p:nvSpPr>
          <p:cNvPr id="6" name="TextBox 6"/>
          <p:cNvSpPr txBox="1"/>
          <p:nvPr/>
        </p:nvSpPr>
        <p:spPr>
          <a:xfrm>
            <a:off x="1047750" y="685800"/>
            <a:ext cx="15621000" cy="554736"/>
          </a:xfrm>
          <a:prstGeom prst="rect">
            <a:avLst/>
          </a:prstGeom>
        </p:spPr>
        <p:txBody>
          <a:bodyPr lIns="0" tIns="0" rIns="0" bIns="0" rtlCol="0" anchor="t">
            <a:spAutoFit/>
          </a:bodyPr>
          <a:lstStyle/>
          <a:p>
            <a:pPr algn="l">
              <a:lnSpc>
                <a:spcPts val="4212"/>
              </a:lnSpc>
            </a:pPr>
            <a:r>
              <a:rPr lang="fr-BE" sz="3900" b="1" noProof="0" dirty="0">
                <a:solidFill>
                  <a:srgbClr val="FFFFFF"/>
                </a:solidFill>
                <a:latin typeface="Sinar Grotesk Bold"/>
                <a:ea typeface="Sinar Grotesk Bold"/>
                <a:cs typeface="Sinar Grotesk Bold"/>
                <a:sym typeface="Sinar Grotesk Bold"/>
              </a:rPr>
              <a:t>Bilan</a:t>
            </a:r>
          </a:p>
        </p:txBody>
      </p:sp>
      <p:grpSp>
        <p:nvGrpSpPr>
          <p:cNvPr id="7" name="Group 7"/>
          <p:cNvGrpSpPr/>
          <p:nvPr/>
        </p:nvGrpSpPr>
        <p:grpSpPr>
          <a:xfrm>
            <a:off x="1047750" y="1428750"/>
            <a:ext cx="1123950" cy="47625"/>
            <a:chOff x="0" y="0"/>
            <a:chExt cx="1498600" cy="63500"/>
          </a:xfrm>
        </p:grpSpPr>
        <p:sp>
          <p:nvSpPr>
            <p:cNvPr id="8" name="Freeform 8"/>
            <p:cNvSpPr/>
            <p:nvPr/>
          </p:nvSpPr>
          <p:spPr>
            <a:xfrm>
              <a:off x="0" y="0"/>
              <a:ext cx="1498600" cy="63500"/>
            </a:xfrm>
            <a:custGeom>
              <a:avLst/>
              <a:gdLst/>
              <a:ahLst/>
              <a:cxnLst/>
              <a:rect l="l" t="t" r="r" b="b"/>
              <a:pathLst>
                <a:path w="1498600" h="63500">
                  <a:moveTo>
                    <a:pt x="0" y="0"/>
                  </a:moveTo>
                  <a:lnTo>
                    <a:pt x="1498600" y="0"/>
                  </a:lnTo>
                  <a:lnTo>
                    <a:pt x="1498600" y="63500"/>
                  </a:lnTo>
                  <a:lnTo>
                    <a:pt x="0" y="63500"/>
                  </a:lnTo>
                  <a:close/>
                </a:path>
              </a:pathLst>
            </a:custGeom>
            <a:solidFill>
              <a:srgbClr val="25C7B7"/>
            </a:solidFill>
            <a:ln cap="sq">
              <a:noFill/>
              <a:prstDash val="solid"/>
              <a:miter/>
            </a:ln>
          </p:spPr>
          <p:txBody>
            <a:bodyPr/>
            <a:lstStyle/>
            <a:p>
              <a:endParaRPr lang="fr-BE" noProof="0" dirty="0"/>
            </a:p>
          </p:txBody>
        </p:sp>
        <p:sp>
          <p:nvSpPr>
            <p:cNvPr id="9" name="TextBox 9"/>
            <p:cNvSpPr txBox="1"/>
            <p:nvPr/>
          </p:nvSpPr>
          <p:spPr>
            <a:xfrm>
              <a:off x="0" y="-38100"/>
              <a:ext cx="1498600" cy="101600"/>
            </a:xfrm>
            <a:prstGeom prst="rect">
              <a:avLst/>
            </a:prstGeom>
          </p:spPr>
          <p:txBody>
            <a:bodyPr lIns="50800" tIns="50800" rIns="50800" bIns="50800" rtlCol="0" anchor="ctr"/>
            <a:lstStyle/>
            <a:p>
              <a:pPr algn="l">
                <a:lnSpc>
                  <a:spcPts val="1679"/>
                </a:lnSpc>
              </a:pPr>
              <a:endParaRPr lang="fr-BE" noProof="0" dirty="0"/>
            </a:p>
          </p:txBody>
        </p:sp>
      </p:grpSp>
      <p:sp>
        <p:nvSpPr>
          <p:cNvPr id="10" name="TextBox 10"/>
          <p:cNvSpPr txBox="1"/>
          <p:nvPr/>
        </p:nvSpPr>
        <p:spPr>
          <a:xfrm>
            <a:off x="1047750" y="2247900"/>
            <a:ext cx="8858250" cy="1386840"/>
          </a:xfrm>
          <a:prstGeom prst="rect">
            <a:avLst/>
          </a:prstGeom>
        </p:spPr>
        <p:txBody>
          <a:bodyPr lIns="0" tIns="0" rIns="0" bIns="0" rtlCol="0" anchor="t">
            <a:spAutoFit/>
          </a:bodyPr>
          <a:lstStyle/>
          <a:p>
            <a:pPr algn="l">
              <a:lnSpc>
                <a:spcPts val="5445"/>
              </a:lnSpc>
            </a:pPr>
            <a:r>
              <a:rPr lang="fr-BE" sz="4950" b="1" noProof="0" dirty="0">
                <a:solidFill>
                  <a:srgbClr val="FFFFFF"/>
                </a:solidFill>
                <a:latin typeface="Sinar Grotesk Bold"/>
                <a:ea typeface="Sinar Grotesk Bold"/>
                <a:cs typeface="Sinar Grotesk Bold"/>
                <a:sym typeface="Sinar Grotesk Bold"/>
              </a:rPr>
              <a:t>Un MVP fonctionnel</a:t>
            </a:r>
          </a:p>
          <a:p>
            <a:pPr algn="l">
              <a:lnSpc>
                <a:spcPts val="5445"/>
              </a:lnSpc>
            </a:pPr>
            <a:r>
              <a:rPr lang="fr-BE" sz="4950" b="1" noProof="0" dirty="0">
                <a:solidFill>
                  <a:srgbClr val="FFFFFF"/>
                </a:solidFill>
                <a:latin typeface="Sinar Grotesk Bold"/>
                <a:ea typeface="Sinar Grotesk Bold"/>
                <a:cs typeface="Sinar Grotesk Bold"/>
                <a:sym typeface="Sinar Grotesk Bold"/>
              </a:rPr>
              <a:t>et une base évolutive.</a:t>
            </a:r>
          </a:p>
        </p:txBody>
      </p:sp>
      <p:sp>
        <p:nvSpPr>
          <p:cNvPr id="11" name="TextBox 11"/>
          <p:cNvSpPr txBox="1"/>
          <p:nvPr/>
        </p:nvSpPr>
        <p:spPr>
          <a:xfrm>
            <a:off x="1095375" y="4314825"/>
            <a:ext cx="8572500" cy="2047399"/>
          </a:xfrm>
          <a:prstGeom prst="rect">
            <a:avLst/>
          </a:prstGeom>
        </p:spPr>
        <p:txBody>
          <a:bodyPr lIns="0" tIns="0" rIns="0" bIns="0" rtlCol="0" anchor="t">
            <a:spAutoFit/>
          </a:bodyPr>
          <a:lstStyle/>
          <a:p>
            <a:pPr algn="l">
              <a:lnSpc>
                <a:spcPts val="2733"/>
              </a:lnSpc>
            </a:pPr>
            <a:r>
              <a:rPr lang="fr-BE" sz="2025" noProof="0" dirty="0">
                <a:solidFill>
                  <a:srgbClr val="8ED8F8"/>
                </a:solidFill>
                <a:latin typeface="DM Sans"/>
                <a:ea typeface="DM Sans"/>
                <a:cs typeface="DM Sans"/>
                <a:sym typeface="DM Sans"/>
              </a:rPr>
              <a:t>Carte interactive, contenu enrichi et quiz opérationnels.</a:t>
            </a:r>
          </a:p>
          <a:p>
            <a:pPr algn="l">
              <a:lnSpc>
                <a:spcPts val="2733"/>
              </a:lnSpc>
            </a:pPr>
            <a:endParaRPr lang="fr-BE" sz="2025" noProof="0" dirty="0">
              <a:solidFill>
                <a:srgbClr val="8ED8F8"/>
              </a:solidFill>
              <a:latin typeface="DM Sans"/>
              <a:ea typeface="DM Sans"/>
              <a:cs typeface="DM Sans"/>
              <a:sym typeface="DM Sans"/>
            </a:endParaRPr>
          </a:p>
          <a:p>
            <a:pPr algn="l">
              <a:lnSpc>
                <a:spcPts val="2733"/>
              </a:lnSpc>
            </a:pPr>
            <a:r>
              <a:rPr lang="fr-BE" sz="2025" noProof="0" dirty="0">
                <a:solidFill>
                  <a:srgbClr val="8ED8F8"/>
                </a:solidFill>
                <a:latin typeface="DM Sans"/>
                <a:ea typeface="DM Sans"/>
                <a:cs typeface="DM Sans"/>
                <a:sym typeface="DM Sans"/>
              </a:rPr>
              <a:t>Architecture modulaire Angular et données locales maîtrisées.</a:t>
            </a:r>
          </a:p>
          <a:p>
            <a:pPr algn="l">
              <a:lnSpc>
                <a:spcPts val="2733"/>
              </a:lnSpc>
            </a:pPr>
            <a:endParaRPr lang="fr-BE" sz="2025" noProof="0" dirty="0">
              <a:solidFill>
                <a:srgbClr val="8ED8F8"/>
              </a:solidFill>
              <a:latin typeface="DM Sans"/>
              <a:ea typeface="DM Sans"/>
              <a:cs typeface="DM Sans"/>
              <a:sym typeface="DM Sans"/>
            </a:endParaRPr>
          </a:p>
          <a:p>
            <a:pPr algn="l">
              <a:lnSpc>
                <a:spcPts val="2733"/>
              </a:lnSpc>
            </a:pPr>
            <a:r>
              <a:rPr lang="fr-BE" sz="2025" noProof="0" dirty="0">
                <a:solidFill>
                  <a:srgbClr val="8ED8F8"/>
                </a:solidFill>
                <a:latin typeface="DM Sans"/>
                <a:ea typeface="DM Sans"/>
                <a:cs typeface="DM Sans"/>
                <a:sym typeface="DM Sans"/>
              </a:rPr>
              <a:t>Une expérience de découverte visuelle, avec des limites identifiées et des évolutions concrètes.</a:t>
            </a:r>
          </a:p>
        </p:txBody>
      </p:sp>
      <p:sp>
        <p:nvSpPr>
          <p:cNvPr id="13" name="TextBox 13"/>
          <p:cNvSpPr txBox="1"/>
          <p:nvPr/>
        </p:nvSpPr>
        <p:spPr>
          <a:xfrm>
            <a:off x="11663817" y="6189025"/>
            <a:ext cx="5915771" cy="758190"/>
          </a:xfrm>
          <a:prstGeom prst="rect">
            <a:avLst/>
          </a:prstGeom>
        </p:spPr>
        <p:txBody>
          <a:bodyPr lIns="0" tIns="0" rIns="0" bIns="0" rtlCol="0" anchor="t">
            <a:spAutoFit/>
          </a:bodyPr>
          <a:lstStyle/>
          <a:p>
            <a:pPr algn="ctr">
              <a:lnSpc>
                <a:spcPts val="5535"/>
              </a:lnSpc>
            </a:pPr>
            <a:r>
              <a:rPr lang="fr-BE" sz="6150" b="1" noProof="0" dirty="0">
                <a:solidFill>
                  <a:srgbClr val="FFFFFF"/>
                </a:solidFill>
                <a:latin typeface="Sinar Grotesk Bold"/>
                <a:ea typeface="Sinar Grotesk Bold"/>
                <a:cs typeface="Sinar Grotesk Bold"/>
                <a:sym typeface="Sinar Grotesk Bold"/>
              </a:rPr>
              <a:t>ANDROMESKY</a:t>
            </a:r>
          </a:p>
        </p:txBody>
      </p:sp>
      <p:sp>
        <p:nvSpPr>
          <p:cNvPr id="14" name="TextBox 14"/>
          <p:cNvSpPr txBox="1"/>
          <p:nvPr/>
        </p:nvSpPr>
        <p:spPr>
          <a:xfrm>
            <a:off x="1047750" y="9696450"/>
            <a:ext cx="16192500" cy="222885"/>
          </a:xfrm>
          <a:prstGeom prst="rect">
            <a:avLst/>
          </a:prstGeom>
        </p:spPr>
        <p:txBody>
          <a:bodyPr lIns="0" tIns="0" rIns="0" bIns="0" rtlCol="0" anchor="t">
            <a:spAutoFit/>
          </a:bodyPr>
          <a:lstStyle/>
          <a:p>
            <a:pPr algn="l">
              <a:lnSpc>
                <a:spcPts val="1889"/>
              </a:lnSpc>
            </a:pPr>
            <a:r>
              <a:rPr lang="fr-BE" sz="1350" noProof="0" dirty="0">
                <a:solidFill>
                  <a:srgbClr val="8ED8F8"/>
                </a:solidFill>
                <a:latin typeface="DM Sans"/>
                <a:ea typeface="DM Sans"/>
                <a:cs typeface="DM Sans"/>
                <a:sym typeface="DM Sans"/>
              </a:rPr>
              <a:t>AndromeSky — TFE Développement Web </a:t>
            </a:r>
            <a:r>
              <a:rPr lang="fr-BE" sz="1350" noProof="0" dirty="0" err="1">
                <a:solidFill>
                  <a:srgbClr val="8ED8F8"/>
                </a:solidFill>
                <a:latin typeface="DM Sans"/>
                <a:ea typeface="DM Sans"/>
                <a:cs typeface="DM Sans"/>
                <a:sym typeface="DM Sans"/>
              </a:rPr>
              <a:t>Front-End</a:t>
            </a:r>
            <a:r>
              <a:rPr lang="fr-BE" sz="1350" noProof="0" dirty="0">
                <a:solidFill>
                  <a:srgbClr val="8ED8F8"/>
                </a:solidFill>
                <a:latin typeface="DM Sans"/>
                <a:ea typeface="DM Sans"/>
                <a:cs typeface="DM Sans"/>
                <a:sym typeface="DM Sans"/>
              </a:rPr>
              <a:t>                                      11</a:t>
            </a:r>
          </a:p>
        </p:txBody>
      </p:sp>
      <p:pic>
        <p:nvPicPr>
          <p:cNvPr id="16" name="Image 15">
            <a:hlinkClick r:id="rId4"/>
            <a:extLst>
              <a:ext uri="{FF2B5EF4-FFF2-40B4-BE49-F238E27FC236}">
                <a16:creationId xmlns:a16="http://schemas.microsoft.com/office/drawing/2014/main" id="{D4161687-C2AE-381A-3007-181A3DFEBA6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276725" y="6667500"/>
            <a:ext cx="2400300" cy="2400300"/>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pic>
        <p:nvPicPr>
          <p:cNvPr id="18" name="Graphique 17">
            <a:extLst>
              <a:ext uri="{FF2B5EF4-FFF2-40B4-BE49-F238E27FC236}">
                <a16:creationId xmlns:a16="http://schemas.microsoft.com/office/drawing/2014/main" id="{C49F4C2F-A9D5-EAA9-89CA-C2F2356BC71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106400" y="2749236"/>
            <a:ext cx="3030603" cy="303060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289</TotalTime>
  <Words>2048</Words>
  <Application>Microsoft Office PowerPoint</Application>
  <PresentationFormat>Personnalisé</PresentationFormat>
  <Paragraphs>183</Paragraphs>
  <Slides>11</Slides>
  <Notes>11</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11</vt:i4>
      </vt:variant>
    </vt:vector>
  </HeadingPairs>
  <TitlesOfParts>
    <vt:vector size="17" baseType="lpstr">
      <vt:lpstr>Calibri</vt:lpstr>
      <vt:lpstr>Sinar Grotesk Bold</vt:lpstr>
      <vt:lpstr>Arial</vt:lpstr>
      <vt:lpstr>DM Sans</vt:lpstr>
      <vt:lpstr>DM Sans Bold</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TFE-presentation</dc:title>
  <dc:creator>Florian Marchal</dc:creator>
  <cp:lastModifiedBy>Florian Marchal</cp:lastModifiedBy>
  <cp:revision>5</cp:revision>
  <dcterms:created xsi:type="dcterms:W3CDTF">2006-08-16T00:00:00Z</dcterms:created>
  <dcterms:modified xsi:type="dcterms:W3CDTF">2026-09-03T14:09:22Z</dcterms:modified>
  <dc:identifier>DAHUEjN-9Tc</dc:identifier>
</cp:coreProperties>
</file>