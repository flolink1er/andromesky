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  <p:embeddedFont>
      <p:font typeface="Sinar Grotesk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53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2500" y="0"/>
            <a:ext cx="9715500" cy="10287000"/>
          </a:xfrm>
          <a:custGeom>
            <a:avLst/>
            <a:gdLst/>
            <a:ahLst/>
            <a:cxnLst/>
            <a:rect l="l" t="t" r="r" b="b"/>
            <a:pathLst>
              <a:path w="9715500" h="10287000">
                <a:moveTo>
                  <a:pt x="0" y="0"/>
                </a:moveTo>
                <a:lnTo>
                  <a:pt x="9715500" y="0"/>
                </a:lnTo>
                <a:lnTo>
                  <a:pt x="9715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117" r="-4411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7810500" y="0"/>
            <a:ext cx="4000500" cy="10287000"/>
            <a:chOff x="0" y="0"/>
            <a:chExt cx="533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34000" cy="13716000"/>
            </a:xfrm>
            <a:custGeom>
              <a:avLst/>
              <a:gdLst/>
              <a:ahLst/>
              <a:cxnLst/>
              <a:rect l="l" t="t" r="r" b="b"/>
              <a:pathLst>
                <a:path w="5334000" h="13716000">
                  <a:moveTo>
                    <a:pt x="0" y="0"/>
                  </a:moveTo>
                  <a:lnTo>
                    <a:pt x="5334000" y="0"/>
                  </a:lnTo>
                  <a:lnTo>
                    <a:pt x="533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62F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33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971550"/>
            <a:ext cx="5715000" cy="29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fr-BE" sz="1725" b="1" spc="138" noProof="0" dirty="0">
                <a:solidFill>
                  <a:srgbClr val="8ED8F8"/>
                </a:solidFill>
                <a:latin typeface="DM Sans Bold"/>
                <a:ea typeface="DM Sans Bold"/>
                <a:cs typeface="DM Sans Bold"/>
                <a:sym typeface="DM Sans Bold"/>
              </a:rPr>
              <a:t>Défense du 03 septembre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2695575"/>
            <a:ext cx="8572500" cy="14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fr-BE" sz="8400" b="1" noProof="0" dirty="0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AndromeSky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5375" y="4333875"/>
            <a:ext cx="7524750" cy="89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fr-BE" sz="2925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Explorer le ciel, comprendre ses objets</a:t>
            </a:r>
          </a:p>
          <a:p>
            <a:pPr algn="l">
              <a:lnSpc>
                <a:spcPts val="3656"/>
              </a:lnSpc>
            </a:pPr>
            <a:r>
              <a:rPr lang="fr-BE" sz="2925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et apprendre en jouant.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5375" y="6562725"/>
            <a:ext cx="6953250" cy="69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fr-BE" sz="1875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Travail de fin d’études — Florian Marchal</a:t>
            </a:r>
          </a:p>
          <a:p>
            <a:pPr algn="l">
              <a:lnSpc>
                <a:spcPts val="2812"/>
              </a:lnSpc>
            </a:pPr>
            <a:r>
              <a:rPr lang="fr-BE" sz="1875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Développement Web </a:t>
            </a:r>
            <a:r>
              <a:rPr lang="fr-BE" sz="1875" noProof="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875" noProof="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— IFAPME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Un sujet à la croisée de mes intérêts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16676" y="2013299"/>
            <a:ext cx="5369842" cy="4512469"/>
            <a:chOff x="0" y="-47625"/>
            <a:chExt cx="7159789" cy="60166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9789" cy="5969000"/>
            </a:xfrm>
            <a:custGeom>
              <a:avLst/>
              <a:gdLst/>
              <a:ahLst/>
              <a:cxnLst/>
              <a:rect l="l" t="t" r="r" b="b"/>
              <a:pathLst>
                <a:path w="7159789" h="5969000">
                  <a:moveTo>
                    <a:pt x="3579894" y="0"/>
                  </a:moveTo>
                  <a:cubicBezTo>
                    <a:pt x="5557015" y="0"/>
                    <a:pt x="7159789" y="1336206"/>
                    <a:pt x="7159789" y="2984500"/>
                  </a:cubicBezTo>
                  <a:cubicBezTo>
                    <a:pt x="7159789" y="4632794"/>
                    <a:pt x="5557015" y="5969000"/>
                    <a:pt x="3579894" y="5969000"/>
                  </a:cubicBezTo>
                  <a:cubicBezTo>
                    <a:pt x="1602773" y="5969000"/>
                    <a:pt x="0" y="4632794"/>
                    <a:pt x="0" y="2984500"/>
                  </a:cubicBezTo>
                  <a:cubicBezTo>
                    <a:pt x="0" y="1336206"/>
                    <a:pt x="1602773" y="0"/>
                    <a:pt x="3579894" y="0"/>
                  </a:cubicBezTo>
                  <a:close/>
                </a:path>
              </a:pathLst>
            </a:custGeom>
            <a:solidFill>
              <a:srgbClr val="2979D8">
                <a:alpha val="8784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567" y="-47625"/>
              <a:ext cx="2797011" cy="601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9"/>
                </a:lnSpc>
              </a:pPr>
              <a:r>
                <a:rPr lang="fr-BE" sz="2400" b="1" noProof="0" dirty="0">
                  <a:solidFill>
                    <a:srgbClr val="FFFFFF">
                      <a:alpha val="87843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Science</a:t>
              </a:r>
            </a:p>
            <a:p>
              <a:pPr algn="ctr">
                <a:lnSpc>
                  <a:spcPts val="3569"/>
                </a:lnSpc>
              </a:pPr>
              <a:r>
                <a:rPr lang="fr-BE" sz="2400" b="1" noProof="0" dirty="0">
                  <a:solidFill>
                    <a:srgbClr val="FFFFFF">
                      <a:alpha val="87843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&amp;</a:t>
              </a:r>
            </a:p>
            <a:p>
              <a:pPr algn="ctr">
                <a:lnSpc>
                  <a:spcPts val="3569"/>
                </a:lnSpc>
              </a:pPr>
              <a:r>
                <a:rPr lang="fr-BE" sz="2400" b="1" noProof="0" dirty="0">
                  <a:solidFill>
                    <a:srgbClr val="FFFFFF">
                      <a:alpha val="87843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Astronomie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29983" y="2006156"/>
            <a:ext cx="5369842" cy="4519613"/>
            <a:chOff x="0" y="-57149"/>
            <a:chExt cx="7159789" cy="60261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59789" cy="5969000"/>
            </a:xfrm>
            <a:custGeom>
              <a:avLst/>
              <a:gdLst/>
              <a:ahLst/>
              <a:cxnLst/>
              <a:rect l="l" t="t" r="r" b="b"/>
              <a:pathLst>
                <a:path w="7159789" h="5969000">
                  <a:moveTo>
                    <a:pt x="3579894" y="0"/>
                  </a:moveTo>
                  <a:cubicBezTo>
                    <a:pt x="5557015" y="0"/>
                    <a:pt x="7159789" y="1336206"/>
                    <a:pt x="7159789" y="2984500"/>
                  </a:cubicBezTo>
                  <a:cubicBezTo>
                    <a:pt x="7159789" y="4632794"/>
                    <a:pt x="5557015" y="5969000"/>
                    <a:pt x="3579894" y="5969000"/>
                  </a:cubicBezTo>
                  <a:cubicBezTo>
                    <a:pt x="1602773" y="5969000"/>
                    <a:pt x="0" y="4632794"/>
                    <a:pt x="0" y="2984500"/>
                  </a:cubicBezTo>
                  <a:cubicBezTo>
                    <a:pt x="0" y="1336206"/>
                    <a:pt x="1602773" y="0"/>
                    <a:pt x="3579894" y="0"/>
                  </a:cubicBezTo>
                  <a:close/>
                </a:path>
              </a:pathLst>
            </a:custGeom>
            <a:solidFill>
              <a:srgbClr val="25C7B7">
                <a:alpha val="8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74423" y="-57149"/>
              <a:ext cx="3251200" cy="6026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fr-BE" sz="2400" b="1" noProof="0" dirty="0">
                  <a:solidFill>
                    <a:srgbClr val="FFFFFF">
                      <a:alpha val="82745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Développement     </a:t>
              </a:r>
            </a:p>
            <a:p>
              <a:pPr algn="ctr">
                <a:lnSpc>
                  <a:spcPts val="3359"/>
                </a:lnSpc>
              </a:pPr>
              <a:r>
                <a:rPr lang="fr-BE" sz="2400" b="1" noProof="0" dirty="0" err="1">
                  <a:solidFill>
                    <a:srgbClr val="FFFFFF">
                      <a:alpha val="82745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front-end</a:t>
              </a:r>
              <a:r>
                <a:rPr lang="fr-BE" sz="2400" b="1" noProof="0" dirty="0">
                  <a:solidFill>
                    <a:srgbClr val="FFFFFF">
                      <a:alpha val="82745"/>
                    </a:srgbClr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    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29983" y="3906869"/>
            <a:ext cx="1989297" cy="79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fr-BE" sz="2000" b="1" noProof="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AndromeSky</a:t>
            </a:r>
          </a:p>
          <a:p>
            <a:pPr algn="ctr">
              <a:lnSpc>
                <a:spcPct val="150000"/>
              </a:lnSpc>
            </a:pPr>
            <a:r>
              <a:rPr lang="fr-BE" sz="1200" noProof="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Une expérience visuelle</a:t>
            </a:r>
          </a:p>
          <a:p>
            <a:pPr algn="ctr">
              <a:lnSpc>
                <a:spcPct val="150000"/>
              </a:lnSpc>
            </a:pPr>
            <a:r>
              <a:rPr lang="fr-BE" sz="1200" noProof="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et pédagogique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14500" y="7334250"/>
            <a:ext cx="7048500" cy="1428750"/>
            <a:chOff x="0" y="0"/>
            <a:chExt cx="9398000" cy="1905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398000" cy="1905000"/>
              <a:chOff x="0" y="0"/>
              <a:chExt cx="9398000" cy="1905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398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9398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81000" y="225425"/>
              <a:ext cx="863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Créer une interface visuelle et interactive, plus lisible que des outils très denses.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25000" y="7334250"/>
            <a:ext cx="7048500" cy="1428750"/>
            <a:chOff x="0" y="0"/>
            <a:chExt cx="9398000" cy="1905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398000" cy="1905000"/>
              <a:chOff x="0" y="0"/>
              <a:chExt cx="9398000" cy="1905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398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9398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225425"/>
              <a:ext cx="863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Mettre en pratique Angular, les APIs et l’architecture SPA.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Trois objectifs ont guidé chaque décision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571750"/>
            <a:ext cx="4953000" cy="3714750"/>
            <a:chOff x="0" y="0"/>
            <a:chExt cx="6604000" cy="4953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6604000" cy="114300"/>
              <a:chOff x="0" y="0"/>
              <a:chExt cx="6604000" cy="1143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04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143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2979D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604000" cy="152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44500" y="415925"/>
              <a:ext cx="152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500" y="1457325"/>
              <a:ext cx="5715000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fr-BE" sz="3375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Visualiser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500" y="2701925"/>
              <a:ext cx="5715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Une carte du ciel réellement manipulable.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24625" y="2571750"/>
            <a:ext cx="4953000" cy="3714750"/>
            <a:chOff x="0" y="0"/>
            <a:chExt cx="6604000" cy="4953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6604000" cy="114300"/>
              <a:chOff x="0" y="0"/>
              <a:chExt cx="6604000" cy="1143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604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143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2979D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604000" cy="152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44500" y="415925"/>
              <a:ext cx="152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500" y="1457325"/>
              <a:ext cx="5715000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fr-BE" sz="3375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Expliquer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500" y="2701925"/>
              <a:ext cx="5715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Des informations fiables et contextualisées.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01500" y="2571750"/>
            <a:ext cx="4953000" cy="3714750"/>
            <a:chOff x="0" y="0"/>
            <a:chExt cx="6604000" cy="4953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6604000" cy="114300"/>
              <a:chOff x="0" y="0"/>
              <a:chExt cx="6604000" cy="114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604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143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25C7B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6604000" cy="152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44500" y="415925"/>
              <a:ext cx="1524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500" y="1457325"/>
              <a:ext cx="5715000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fr-BE" sz="3375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Apprendre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4500" y="2701925"/>
              <a:ext cx="5715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Des quiz pour mettre en pratique ses repères.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286250" y="7467600"/>
            <a:ext cx="97155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lang="fr-BE" sz="2625" b="1" noProof="0" dirty="0">
                <a:solidFill>
                  <a:srgbClr val="2979D8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Découvrir  →  comprendre  →  se tester.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La carte est le point de départ de toute l’expérience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811000" y="2447925"/>
            <a:ext cx="4953000" cy="28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fr-BE" sz="1725" b="1" spc="138" noProof="0" dirty="0">
                <a:solidFill>
                  <a:srgbClr val="2979D8"/>
                </a:solidFill>
                <a:latin typeface="DM Sans Bold"/>
                <a:ea typeface="DM Sans Bold"/>
                <a:cs typeface="DM Sans Bold"/>
                <a:sym typeface="DM Sans Bold"/>
              </a:rPr>
              <a:t>EXPLORATION LIBRE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11000" y="3305175"/>
            <a:ext cx="4953000" cy="273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0B2447"/>
                </a:solidFill>
                <a:latin typeface="DM Sans"/>
                <a:ea typeface="DM Sans"/>
                <a:cs typeface="DM Sans"/>
                <a:sym typeface="DM Sans"/>
              </a:rPr>
              <a:t>Déplacement et zoom sur le ciel.</a:t>
            </a:r>
          </a:p>
          <a:p>
            <a:pPr algn="l">
              <a:lnSpc>
                <a:spcPts val="2733"/>
              </a:lnSpc>
            </a:pPr>
            <a:endParaRPr lang="fr-BE" sz="2025" noProof="0" dirty="0">
              <a:solidFill>
                <a:srgbClr val="0B24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0B2447"/>
                </a:solidFill>
                <a:latin typeface="DM Sans"/>
                <a:ea typeface="DM Sans"/>
                <a:cs typeface="DM Sans"/>
                <a:sym typeface="DM Sans"/>
              </a:rPr>
              <a:t>Recherche et centrage automatique.</a:t>
            </a:r>
          </a:p>
          <a:p>
            <a:pPr algn="l">
              <a:lnSpc>
                <a:spcPts val="2733"/>
              </a:lnSpc>
            </a:pPr>
            <a:endParaRPr lang="fr-BE" sz="2025" noProof="0" dirty="0">
              <a:solidFill>
                <a:srgbClr val="0B24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0B2447"/>
                </a:solidFill>
                <a:latin typeface="DM Sans"/>
                <a:ea typeface="DM Sans"/>
                <a:cs typeface="DM Sans"/>
                <a:sym typeface="DM Sans"/>
              </a:rPr>
              <a:t>Constellations mises en évidence.</a:t>
            </a:r>
          </a:p>
          <a:p>
            <a:pPr algn="l">
              <a:lnSpc>
                <a:spcPts val="2733"/>
              </a:lnSpc>
            </a:pPr>
            <a:endParaRPr lang="fr-BE" sz="2025" noProof="0" dirty="0">
              <a:solidFill>
                <a:srgbClr val="0B24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0B2447"/>
                </a:solidFill>
                <a:latin typeface="DM Sans"/>
                <a:ea typeface="DM Sans"/>
                <a:cs typeface="DM Sans"/>
                <a:sym typeface="DM Sans"/>
              </a:rPr>
              <a:t>Navigation pensée aussi pour les écrans mobiles.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4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BC4C147B-9372-6C32-8439-877237EB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7925"/>
            <a:ext cx="10833537" cy="5524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Données locales + APIs : un contenu riche et maîtrisé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143125"/>
            <a:ext cx="4953000" cy="1905000"/>
            <a:chOff x="0" y="0"/>
            <a:chExt cx="6604000" cy="2540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604000" cy="2540000"/>
              <a:chOff x="0" y="0"/>
              <a:chExt cx="6604000" cy="254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60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54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60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212725"/>
              <a:ext cx="6604000" cy="1247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75"/>
                </a:lnSpc>
              </a:pPr>
              <a:r>
                <a:rPr lang="fr-BE" sz="5625" b="1" noProof="0" dirty="0">
                  <a:solidFill>
                    <a:srgbClr val="2979D8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110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485900"/>
              <a:ext cx="6604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fr-BE" sz="187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objets Messier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5238750"/>
            <a:ext cx="4953000" cy="2857500"/>
            <a:chOff x="0" y="0"/>
            <a:chExt cx="6604000" cy="3810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604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81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4500" y="479425"/>
              <a:ext cx="5715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JSON LOCAL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4500" y="1368425"/>
              <a:ext cx="5715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C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oordonnées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, types, alias et constellations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24625" y="2143125"/>
            <a:ext cx="4953000" cy="1905000"/>
            <a:chOff x="0" y="0"/>
            <a:chExt cx="6604000" cy="2540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604000" cy="2540000"/>
              <a:chOff x="0" y="0"/>
              <a:chExt cx="6604000" cy="254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60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54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60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212725"/>
              <a:ext cx="6604000" cy="1247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75"/>
                </a:lnSpc>
              </a:pPr>
              <a:r>
                <a:rPr lang="fr-BE" sz="5625" b="1" noProof="0" dirty="0">
                  <a:solidFill>
                    <a:srgbClr val="25C7B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1 000+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485900"/>
              <a:ext cx="6604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fr-BE" sz="187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objets du catalogue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24625" y="5238750"/>
            <a:ext cx="4953000" cy="2857500"/>
            <a:chOff x="0" y="0"/>
            <a:chExt cx="6604000" cy="3810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604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81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44500" y="479425"/>
              <a:ext cx="5715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WIKIPÉDIA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500" y="1368425"/>
              <a:ext cx="5715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echerche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par alias et sélection de la page pertinente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01500" y="2143125"/>
            <a:ext cx="4953000" cy="1905000"/>
            <a:chOff x="0" y="0"/>
            <a:chExt cx="6604000" cy="254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604000" cy="2540000"/>
              <a:chOff x="0" y="0"/>
              <a:chExt cx="6604000" cy="2540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604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54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604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212725"/>
              <a:ext cx="6604000" cy="1247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75"/>
                </a:lnSpc>
              </a:pPr>
              <a:r>
                <a:rPr lang="fr-BE" sz="5625" b="1" noProof="0" dirty="0">
                  <a:solidFill>
                    <a:srgbClr val="2979D8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69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485900"/>
              <a:ext cx="6604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fr-BE" sz="187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constellations tracées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01500" y="5238750"/>
            <a:ext cx="4953000" cy="2857500"/>
            <a:chOff x="0" y="0"/>
            <a:chExt cx="6604000" cy="3810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604000" cy="3810000"/>
              <a:chOff x="0" y="0"/>
              <a:chExt cx="6604000" cy="3810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604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810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604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44500" y="479425"/>
              <a:ext cx="5715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NASA IMAGE LIBRARY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4500" y="1368425"/>
              <a:ext cx="5715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llustrations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réelles lorsque disponibles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Une architecture Angular modulaire pour isoler les responsabilités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3238500"/>
            <a:ext cx="4762500" cy="1809750"/>
            <a:chOff x="0" y="0"/>
            <a:chExt cx="6350000" cy="241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2413000"/>
            </a:xfrm>
            <a:custGeom>
              <a:avLst/>
              <a:gdLst/>
              <a:ahLst/>
              <a:cxnLst/>
              <a:rect l="l" t="t" r="r" b="b"/>
              <a:pathLst>
                <a:path w="6350000" h="2413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6350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Composants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000750" y="4143375"/>
            <a:ext cx="619125" cy="0"/>
          </a:xfrm>
          <a:prstGeom prst="line">
            <a:avLst/>
          </a:prstGeom>
          <a:ln w="38100" cap="rnd">
            <a:solidFill>
              <a:srgbClr val="8ED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6762750" y="3238500"/>
            <a:ext cx="4762500" cy="1809750"/>
            <a:chOff x="0" y="0"/>
            <a:chExt cx="6350000" cy="241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2413000"/>
            </a:xfrm>
            <a:custGeom>
              <a:avLst/>
              <a:gdLst/>
              <a:ahLst/>
              <a:cxnLst/>
              <a:rect l="l" t="t" r="r" b="b"/>
              <a:pathLst>
                <a:path w="6350000" h="2413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5C7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6350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Services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620500" y="4143375"/>
            <a:ext cx="619125" cy="0"/>
          </a:xfrm>
          <a:prstGeom prst="line">
            <a:avLst/>
          </a:prstGeom>
          <a:ln w="38100" cap="rnd">
            <a:solidFill>
              <a:srgbClr val="8ED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14" name="Group 14"/>
          <p:cNvGrpSpPr/>
          <p:nvPr/>
        </p:nvGrpSpPr>
        <p:grpSpPr>
          <a:xfrm>
            <a:off x="12382500" y="3238500"/>
            <a:ext cx="4762500" cy="1809750"/>
            <a:chOff x="0" y="0"/>
            <a:chExt cx="6350000" cy="241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2413000"/>
            </a:xfrm>
            <a:custGeom>
              <a:avLst/>
              <a:gdLst/>
              <a:ahLst/>
              <a:cxnLst/>
              <a:rect l="l" t="t" r="r" b="b"/>
              <a:pathLst>
                <a:path w="6350000" h="2413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367280"/>
                  </a:lnTo>
                  <a:cubicBezTo>
                    <a:pt x="6350000" y="2392531"/>
                    <a:pt x="6329530" y="2413000"/>
                    <a:pt x="6304280" y="2413000"/>
                  </a:cubicBezTo>
                  <a:lnTo>
                    <a:pt x="45720" y="2413000"/>
                  </a:lnTo>
                  <a:cubicBezTo>
                    <a:pt x="20470" y="2413000"/>
                    <a:pt x="0" y="2392531"/>
                    <a:pt x="0" y="2367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6350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Modèles et JSON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3000" y="5410200"/>
            <a:ext cx="476250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fr-BE" sz="18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Interface, </a:t>
            </a:r>
            <a:r>
              <a:rPr lang="fr-BE" sz="1875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SkyMap</a:t>
            </a:r>
            <a:r>
              <a:rPr lang="fr-BE" sz="18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, panneau, quiz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2750" y="5410200"/>
            <a:ext cx="476250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fr-BE" sz="18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Logique métier, catalogue, score, APIs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82500" y="5410200"/>
            <a:ext cx="4762500" cy="60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fr-BE" sz="18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Types &amp; interfaces </a:t>
            </a:r>
            <a:r>
              <a:rPr lang="fr-BE" sz="1875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TypeScript</a:t>
            </a:r>
            <a:r>
              <a:rPr lang="fr-BE" sz="18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et données astronomiques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67000" y="7524750"/>
            <a:ext cx="12954000" cy="37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fr-BE" sz="2175" b="1" noProof="0" dirty="0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Angular + </a:t>
            </a:r>
            <a:r>
              <a:rPr lang="fr-BE" sz="2175" b="1" noProof="0" dirty="0" err="1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TypeScript</a:t>
            </a:r>
            <a:r>
              <a:rPr lang="fr-BE" sz="2175" b="1" noProof="0" dirty="0">
                <a:solidFill>
                  <a:srgbClr val="0B2447"/>
                </a:solidFill>
                <a:latin typeface="DM Sans Bold"/>
                <a:ea typeface="DM Sans Bold"/>
                <a:cs typeface="DM Sans Bold"/>
                <a:sym typeface="DM Sans Bold"/>
              </a:rPr>
              <a:t> structurent la SPA ; Aladin Lite apporte la visualisation astronomique.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Le quiz transforme l’exploration en apprentissage actif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190750"/>
            <a:ext cx="7715250" cy="6191250"/>
            <a:chOff x="0" y="0"/>
            <a:chExt cx="10287000" cy="8255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287000" cy="8255000"/>
              <a:chOff x="0" y="0"/>
              <a:chExt cx="10287000" cy="8255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287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8255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287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4500" y="444500"/>
              <a:ext cx="9398000" cy="4826000"/>
              <a:chOff x="0" y="0"/>
              <a:chExt cx="9398000" cy="4826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398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4826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07162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398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349500" y="2222500"/>
              <a:ext cx="5588000" cy="1143000"/>
              <a:chOff x="0" y="0"/>
              <a:chExt cx="558800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588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588000" h="1143000">
                    <a:moveTo>
                      <a:pt x="51955" y="0"/>
                    </a:moveTo>
                    <a:lnTo>
                      <a:pt x="5536045" y="0"/>
                    </a:lnTo>
                    <a:cubicBezTo>
                      <a:pt x="5549825" y="0"/>
                      <a:pt x="5563040" y="5474"/>
                      <a:pt x="5572783" y="15217"/>
                    </a:cubicBezTo>
                    <a:cubicBezTo>
                      <a:pt x="5582526" y="24961"/>
                      <a:pt x="5588000" y="38175"/>
                      <a:pt x="5588000" y="51955"/>
                    </a:cubicBezTo>
                    <a:lnTo>
                      <a:pt x="5588000" y="1091045"/>
                    </a:lnTo>
                    <a:cubicBezTo>
                      <a:pt x="5588000" y="1104825"/>
                      <a:pt x="5582526" y="1118040"/>
                      <a:pt x="5572783" y="1127783"/>
                    </a:cubicBezTo>
                    <a:cubicBezTo>
                      <a:pt x="5563040" y="1137526"/>
                      <a:pt x="5549825" y="1143000"/>
                      <a:pt x="5536045" y="1143000"/>
                    </a:cubicBezTo>
                    <a:lnTo>
                      <a:pt x="51955" y="1143000"/>
                    </a:lnTo>
                    <a:cubicBezTo>
                      <a:pt x="38175" y="1143000"/>
                      <a:pt x="24961" y="1137526"/>
                      <a:pt x="15217" y="1127783"/>
                    </a:cubicBezTo>
                    <a:cubicBezTo>
                      <a:pt x="5474" y="1118040"/>
                      <a:pt x="0" y="1104825"/>
                      <a:pt x="0" y="1091045"/>
                    </a:cubicBezTo>
                    <a:lnTo>
                      <a:pt x="0" y="51955"/>
                    </a:lnTo>
                    <a:cubicBezTo>
                      <a:pt x="0" y="38175"/>
                      <a:pt x="5474" y="24961"/>
                      <a:pt x="15217" y="15217"/>
                    </a:cubicBezTo>
                    <a:cubicBezTo>
                      <a:pt x="24961" y="5474"/>
                      <a:pt x="38175" y="0"/>
                      <a:pt x="51955" y="0"/>
                    </a:cubicBezTo>
                    <a:close/>
                  </a:path>
                </a:pathLst>
              </a:custGeom>
              <a:solidFill>
                <a:srgbClr val="2979D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9525"/>
                <a:ext cx="5588000" cy="1133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6"/>
                  </a:lnSpc>
                </a:pPr>
                <a:r>
                  <a:rPr lang="fr-BE" sz="1875" b="1" noProof="0" dirty="0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CAPTURE DU QUIZ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4500" y="5813425"/>
              <a:ext cx="93345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DEVINER L’OBJET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4500" y="6638925"/>
              <a:ext cx="9334500" cy="445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QCM, indice qui retire une proposition, bonus de rapidité.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86875" y="2190750"/>
            <a:ext cx="7715250" cy="6191250"/>
            <a:chOff x="0" y="0"/>
            <a:chExt cx="10287000" cy="8255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287000" cy="8255000"/>
              <a:chOff x="0" y="0"/>
              <a:chExt cx="10287000" cy="8255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287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8255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287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44500" y="444500"/>
              <a:ext cx="9398000" cy="4826000"/>
              <a:chOff x="0" y="0"/>
              <a:chExt cx="9398000" cy="4826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398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4826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07162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9398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349500" y="2222500"/>
              <a:ext cx="5588000" cy="1143000"/>
              <a:chOff x="0" y="0"/>
              <a:chExt cx="5588000" cy="1143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588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588000" h="1143000">
                    <a:moveTo>
                      <a:pt x="51955" y="0"/>
                    </a:moveTo>
                    <a:lnTo>
                      <a:pt x="5536045" y="0"/>
                    </a:lnTo>
                    <a:cubicBezTo>
                      <a:pt x="5549825" y="0"/>
                      <a:pt x="5563040" y="5474"/>
                      <a:pt x="5572783" y="15217"/>
                    </a:cubicBezTo>
                    <a:cubicBezTo>
                      <a:pt x="5582526" y="24961"/>
                      <a:pt x="5588000" y="38175"/>
                      <a:pt x="5588000" y="51955"/>
                    </a:cubicBezTo>
                    <a:lnTo>
                      <a:pt x="5588000" y="1091045"/>
                    </a:lnTo>
                    <a:cubicBezTo>
                      <a:pt x="5588000" y="1104825"/>
                      <a:pt x="5582526" y="1118040"/>
                      <a:pt x="5572783" y="1127783"/>
                    </a:cubicBezTo>
                    <a:cubicBezTo>
                      <a:pt x="5563040" y="1137526"/>
                      <a:pt x="5549825" y="1143000"/>
                      <a:pt x="5536045" y="1143000"/>
                    </a:cubicBezTo>
                    <a:lnTo>
                      <a:pt x="51955" y="1143000"/>
                    </a:lnTo>
                    <a:cubicBezTo>
                      <a:pt x="38175" y="1143000"/>
                      <a:pt x="24961" y="1137526"/>
                      <a:pt x="15217" y="1127783"/>
                    </a:cubicBezTo>
                    <a:cubicBezTo>
                      <a:pt x="5474" y="1118040"/>
                      <a:pt x="0" y="1104825"/>
                      <a:pt x="0" y="1091045"/>
                    </a:cubicBezTo>
                    <a:lnTo>
                      <a:pt x="0" y="51955"/>
                    </a:lnTo>
                    <a:cubicBezTo>
                      <a:pt x="0" y="38175"/>
                      <a:pt x="5474" y="24961"/>
                      <a:pt x="15217" y="15217"/>
                    </a:cubicBezTo>
                    <a:cubicBezTo>
                      <a:pt x="24961" y="5474"/>
                      <a:pt x="38175" y="0"/>
                      <a:pt x="51955" y="0"/>
                    </a:cubicBezTo>
                    <a:close/>
                  </a:path>
                </a:pathLst>
              </a:custGeom>
              <a:solidFill>
                <a:srgbClr val="25C7B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9525"/>
                <a:ext cx="5588000" cy="1133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6"/>
                  </a:lnSpc>
                </a:pPr>
                <a:r>
                  <a:rPr lang="fr-BE" sz="1875" b="1" noProof="0" dirty="0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CAPTURE DU QUIZ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44500" y="5813425"/>
              <a:ext cx="93345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LOCALISER L’OBJET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500" y="6638925"/>
              <a:ext cx="9334500" cy="43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Sélection sur la carte, distance affichée et zone d’indice.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7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CF3CFA2-BBC5-F7CC-FC3B-DFC04D801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2452534"/>
            <a:ext cx="7315200" cy="3727636"/>
          </a:xfrm>
          <a:prstGeom prst="roundRect">
            <a:avLst>
              <a:gd name="adj" fmla="val 433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0000" endPos="28000" dist="5000" dir="5400000" sy="-100000" algn="bl" rotWithShape="0"/>
          </a:effectLst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E16CA08-D5CD-329D-22DF-94C1CE2C7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465" y="2473653"/>
            <a:ext cx="7332070" cy="3727637"/>
          </a:xfrm>
          <a:prstGeom prst="roundRect">
            <a:avLst>
              <a:gd name="adj" fmla="val 433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0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La stabilité a été priorisée avant l’enrichissement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333625"/>
            <a:ext cx="15716250" cy="1719739"/>
            <a:chOff x="0" y="0"/>
            <a:chExt cx="20955000" cy="229298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0955000" cy="2292985"/>
              <a:chOff x="0" y="0"/>
              <a:chExt cx="20955000" cy="229298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0955000" cy="2292985"/>
              </a:xfrm>
              <a:custGeom>
                <a:avLst/>
                <a:gdLst/>
                <a:ahLst/>
                <a:cxnLst/>
                <a:rect l="l" t="t" r="r" b="b"/>
                <a:pathLst>
                  <a:path w="20955000" h="2292985">
                    <a:moveTo>
                      <a:pt x="0" y="0"/>
                    </a:moveTo>
                    <a:lnTo>
                      <a:pt x="20955000" y="0"/>
                    </a:lnTo>
                    <a:lnTo>
                      <a:pt x="20955000" y="2292985"/>
                    </a:lnTo>
                    <a:lnTo>
                      <a:pt x="0" y="2292985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0955000" cy="23310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44500" y="187325"/>
              <a:ext cx="1524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fr-BE" sz="3600" b="1" noProof="0" dirty="0">
                  <a:solidFill>
                    <a:srgbClr val="2979D8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21000" y="142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POC Aladin Lite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8000" y="225425"/>
              <a:ext cx="10541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Valider affichage, zoom, navigation (drag &amp; drop), coordonnées et centrage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750" y="4476750"/>
            <a:ext cx="15716250" cy="1619250"/>
            <a:chOff x="0" y="0"/>
            <a:chExt cx="20955000" cy="2159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0955000" cy="2159000"/>
              <a:chOff x="0" y="0"/>
              <a:chExt cx="20955000" cy="2159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95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0" h="2159000">
                    <a:moveTo>
                      <a:pt x="0" y="0"/>
                    </a:moveTo>
                    <a:lnTo>
                      <a:pt x="20955000" y="0"/>
                    </a:lnTo>
                    <a:lnTo>
                      <a:pt x="2095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095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444500" y="187325"/>
              <a:ext cx="1524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fr-BE" sz="3600" b="1" noProof="0" dirty="0">
                  <a:solidFill>
                    <a:srgbClr val="25C7B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1000" y="142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Données externes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8000" y="225425"/>
              <a:ext cx="10541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Gérer les ambiguïtés Wikipédia/NASA par alias, catégories et score de pertinence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7750" y="6619875"/>
            <a:ext cx="15716250" cy="1619250"/>
            <a:chOff x="0" y="0"/>
            <a:chExt cx="20955000" cy="2159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0955000" cy="2159000"/>
              <a:chOff x="0" y="0"/>
              <a:chExt cx="20955000" cy="2159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095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0" h="2159000">
                    <a:moveTo>
                      <a:pt x="0" y="0"/>
                    </a:moveTo>
                    <a:lnTo>
                      <a:pt x="20955000" y="0"/>
                    </a:lnTo>
                    <a:lnTo>
                      <a:pt x="2095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095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44500" y="187325"/>
              <a:ext cx="1524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fr-BE" sz="3600" b="1" noProof="0" dirty="0">
                  <a:solidFill>
                    <a:srgbClr val="2979D8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21000" y="142875"/>
              <a:ext cx="5969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Vocabulaire &amp; UX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98000" y="225425"/>
              <a:ext cx="10541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es désignations de catalogue comme M41 ou HR restent techniques ; c’est un axe d’amélioration assumé.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Démonstration : un parcours en moins de deux minutes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94552" y="4357688"/>
            <a:ext cx="3026243" cy="1571625"/>
            <a:chOff x="0" y="0"/>
            <a:chExt cx="4034991" cy="2095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34991" cy="2095500"/>
            </a:xfrm>
            <a:custGeom>
              <a:avLst/>
              <a:gdLst/>
              <a:ahLst/>
              <a:cxnLst/>
              <a:rect l="l" t="t" r="r" b="b"/>
              <a:pathLst>
                <a:path w="4034991" h="2095500">
                  <a:moveTo>
                    <a:pt x="71951" y="0"/>
                  </a:moveTo>
                  <a:lnTo>
                    <a:pt x="3963040" y="0"/>
                  </a:lnTo>
                  <a:cubicBezTo>
                    <a:pt x="4002777" y="0"/>
                    <a:pt x="4034991" y="32214"/>
                    <a:pt x="4034991" y="71951"/>
                  </a:cubicBezTo>
                  <a:lnTo>
                    <a:pt x="4034991" y="2023549"/>
                  </a:lnTo>
                  <a:cubicBezTo>
                    <a:pt x="4034991" y="2042632"/>
                    <a:pt x="4027410" y="2060933"/>
                    <a:pt x="4013917" y="2074426"/>
                  </a:cubicBezTo>
                  <a:cubicBezTo>
                    <a:pt x="4000424" y="2087919"/>
                    <a:pt x="3982122" y="2095500"/>
                    <a:pt x="3963040" y="2095500"/>
                  </a:cubicBezTo>
                  <a:lnTo>
                    <a:pt x="71951" y="2095500"/>
                  </a:lnTo>
                  <a:cubicBezTo>
                    <a:pt x="52868" y="2095500"/>
                    <a:pt x="34567" y="2087919"/>
                    <a:pt x="21074" y="2074426"/>
                  </a:cubicBezTo>
                  <a:cubicBezTo>
                    <a:pt x="7581" y="2060933"/>
                    <a:pt x="0" y="2042632"/>
                    <a:pt x="0" y="2023549"/>
                  </a:cubicBezTo>
                  <a:lnTo>
                    <a:pt x="0" y="71951"/>
                  </a:lnTo>
                  <a:cubicBezTo>
                    <a:pt x="0" y="52868"/>
                    <a:pt x="7581" y="34567"/>
                    <a:pt x="21074" y="21074"/>
                  </a:cubicBezTo>
                  <a:cubicBezTo>
                    <a:pt x="34567" y="7581"/>
                    <a:pt x="52868" y="0"/>
                    <a:pt x="71951" y="0"/>
                  </a:cubicBez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034991" cy="208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ct val="150000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Recherche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07260" y="5138738"/>
            <a:ext cx="691713" cy="0"/>
          </a:xfrm>
          <a:prstGeom prst="line">
            <a:avLst/>
          </a:prstGeom>
          <a:ln w="38100" cap="rnd">
            <a:solidFill>
              <a:srgbClr val="8ED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10" name="Group 10"/>
          <p:cNvGrpSpPr/>
          <p:nvPr/>
        </p:nvGrpSpPr>
        <p:grpSpPr>
          <a:xfrm>
            <a:off x="5685436" y="4357688"/>
            <a:ext cx="3026243" cy="1571625"/>
            <a:chOff x="0" y="0"/>
            <a:chExt cx="4034991" cy="2095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34991" cy="2095500"/>
            </a:xfrm>
            <a:custGeom>
              <a:avLst/>
              <a:gdLst/>
              <a:ahLst/>
              <a:cxnLst/>
              <a:rect l="l" t="t" r="r" b="b"/>
              <a:pathLst>
                <a:path w="4034991" h="2095500">
                  <a:moveTo>
                    <a:pt x="71951" y="0"/>
                  </a:moveTo>
                  <a:lnTo>
                    <a:pt x="3963040" y="0"/>
                  </a:lnTo>
                  <a:cubicBezTo>
                    <a:pt x="4002777" y="0"/>
                    <a:pt x="4034991" y="32214"/>
                    <a:pt x="4034991" y="71951"/>
                  </a:cubicBezTo>
                  <a:lnTo>
                    <a:pt x="4034991" y="2023549"/>
                  </a:lnTo>
                  <a:cubicBezTo>
                    <a:pt x="4034991" y="2042632"/>
                    <a:pt x="4027410" y="2060933"/>
                    <a:pt x="4013917" y="2074426"/>
                  </a:cubicBezTo>
                  <a:cubicBezTo>
                    <a:pt x="4000424" y="2087919"/>
                    <a:pt x="3982122" y="2095500"/>
                    <a:pt x="3963040" y="2095500"/>
                  </a:cubicBezTo>
                  <a:lnTo>
                    <a:pt x="71951" y="2095500"/>
                  </a:lnTo>
                  <a:cubicBezTo>
                    <a:pt x="52868" y="2095500"/>
                    <a:pt x="34567" y="2087919"/>
                    <a:pt x="21074" y="2074426"/>
                  </a:cubicBezTo>
                  <a:cubicBezTo>
                    <a:pt x="7581" y="2060933"/>
                    <a:pt x="0" y="2042632"/>
                    <a:pt x="0" y="2023549"/>
                  </a:cubicBezTo>
                  <a:lnTo>
                    <a:pt x="0" y="71951"/>
                  </a:lnTo>
                  <a:cubicBezTo>
                    <a:pt x="0" y="52868"/>
                    <a:pt x="7581" y="34567"/>
                    <a:pt x="21074" y="21074"/>
                  </a:cubicBezTo>
                  <a:cubicBezTo>
                    <a:pt x="34567" y="7581"/>
                    <a:pt x="52868" y="0"/>
                    <a:pt x="71951" y="0"/>
                  </a:cubicBez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034991" cy="208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50000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</a:t>
              </a:r>
            </a:p>
            <a:p>
              <a:pPr algn="ctr">
                <a:lnSpc>
                  <a:spcPct val="150000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Compréhension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8798144" y="5138738"/>
            <a:ext cx="691713" cy="0"/>
          </a:xfrm>
          <a:prstGeom prst="line">
            <a:avLst/>
          </a:prstGeom>
          <a:ln w="38100" cap="rnd">
            <a:solidFill>
              <a:srgbClr val="8ED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14" name="Group 14"/>
          <p:cNvGrpSpPr/>
          <p:nvPr/>
        </p:nvGrpSpPr>
        <p:grpSpPr>
          <a:xfrm>
            <a:off x="9576320" y="4357688"/>
            <a:ext cx="3026243" cy="1571625"/>
            <a:chOff x="0" y="0"/>
            <a:chExt cx="4034991" cy="2095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34991" cy="2095500"/>
            </a:xfrm>
            <a:custGeom>
              <a:avLst/>
              <a:gdLst/>
              <a:ahLst/>
              <a:cxnLst/>
              <a:rect l="l" t="t" r="r" b="b"/>
              <a:pathLst>
                <a:path w="4034991" h="2095500">
                  <a:moveTo>
                    <a:pt x="71951" y="0"/>
                  </a:moveTo>
                  <a:lnTo>
                    <a:pt x="3963040" y="0"/>
                  </a:lnTo>
                  <a:cubicBezTo>
                    <a:pt x="4002777" y="0"/>
                    <a:pt x="4034991" y="32214"/>
                    <a:pt x="4034991" y="71951"/>
                  </a:cubicBezTo>
                  <a:lnTo>
                    <a:pt x="4034991" y="2023549"/>
                  </a:lnTo>
                  <a:cubicBezTo>
                    <a:pt x="4034991" y="2042632"/>
                    <a:pt x="4027410" y="2060933"/>
                    <a:pt x="4013917" y="2074426"/>
                  </a:cubicBezTo>
                  <a:cubicBezTo>
                    <a:pt x="4000424" y="2087919"/>
                    <a:pt x="3982122" y="2095500"/>
                    <a:pt x="3963040" y="2095500"/>
                  </a:cubicBezTo>
                  <a:lnTo>
                    <a:pt x="71951" y="2095500"/>
                  </a:lnTo>
                  <a:cubicBezTo>
                    <a:pt x="52868" y="2095500"/>
                    <a:pt x="34567" y="2087919"/>
                    <a:pt x="21074" y="2074426"/>
                  </a:cubicBezTo>
                  <a:cubicBezTo>
                    <a:pt x="7581" y="2060933"/>
                    <a:pt x="0" y="2042632"/>
                    <a:pt x="0" y="2023549"/>
                  </a:cubicBezTo>
                  <a:lnTo>
                    <a:pt x="0" y="71951"/>
                  </a:lnTo>
                  <a:cubicBezTo>
                    <a:pt x="0" y="52868"/>
                    <a:pt x="7581" y="34567"/>
                    <a:pt x="21074" y="21074"/>
                  </a:cubicBezTo>
                  <a:cubicBezTo>
                    <a:pt x="34567" y="7581"/>
                    <a:pt x="52868" y="0"/>
                    <a:pt x="71951" y="0"/>
                  </a:cubicBez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034991" cy="208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</a:t>
              </a:r>
            </a:p>
            <a:p>
              <a:pPr algn="ctr">
                <a:lnSpc>
                  <a:spcPct val="150000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Repérage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2689028" y="5138738"/>
            <a:ext cx="691713" cy="0"/>
          </a:xfrm>
          <a:prstGeom prst="line">
            <a:avLst/>
          </a:prstGeom>
          <a:ln w="38100" cap="rnd">
            <a:solidFill>
              <a:srgbClr val="8ED8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18" name="Group 18"/>
          <p:cNvGrpSpPr/>
          <p:nvPr/>
        </p:nvGrpSpPr>
        <p:grpSpPr>
          <a:xfrm>
            <a:off x="13467205" y="4357688"/>
            <a:ext cx="3026243" cy="1571625"/>
            <a:chOff x="0" y="0"/>
            <a:chExt cx="4034991" cy="2095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34991" cy="2095500"/>
            </a:xfrm>
            <a:custGeom>
              <a:avLst/>
              <a:gdLst/>
              <a:ahLst/>
              <a:cxnLst/>
              <a:rect l="l" t="t" r="r" b="b"/>
              <a:pathLst>
                <a:path w="4034991" h="2095500">
                  <a:moveTo>
                    <a:pt x="71951" y="0"/>
                  </a:moveTo>
                  <a:lnTo>
                    <a:pt x="3963040" y="0"/>
                  </a:lnTo>
                  <a:cubicBezTo>
                    <a:pt x="4002777" y="0"/>
                    <a:pt x="4034991" y="32214"/>
                    <a:pt x="4034991" y="71951"/>
                  </a:cubicBezTo>
                  <a:lnTo>
                    <a:pt x="4034991" y="2023549"/>
                  </a:lnTo>
                  <a:cubicBezTo>
                    <a:pt x="4034991" y="2042632"/>
                    <a:pt x="4027410" y="2060933"/>
                    <a:pt x="4013917" y="2074426"/>
                  </a:cubicBezTo>
                  <a:cubicBezTo>
                    <a:pt x="4000424" y="2087919"/>
                    <a:pt x="3982122" y="2095500"/>
                    <a:pt x="3963040" y="2095500"/>
                  </a:cubicBezTo>
                  <a:lnTo>
                    <a:pt x="71951" y="2095500"/>
                  </a:lnTo>
                  <a:cubicBezTo>
                    <a:pt x="52868" y="2095500"/>
                    <a:pt x="34567" y="2087919"/>
                    <a:pt x="21074" y="2074426"/>
                  </a:cubicBezTo>
                  <a:cubicBezTo>
                    <a:pt x="7581" y="2060933"/>
                    <a:pt x="0" y="2042632"/>
                    <a:pt x="0" y="2023549"/>
                  </a:cubicBezTo>
                  <a:lnTo>
                    <a:pt x="0" y="71951"/>
                  </a:lnTo>
                  <a:cubicBezTo>
                    <a:pt x="0" y="52868"/>
                    <a:pt x="7581" y="34567"/>
                    <a:pt x="21074" y="21074"/>
                  </a:cubicBezTo>
                  <a:cubicBezTo>
                    <a:pt x="34567" y="7581"/>
                    <a:pt x="52868" y="0"/>
                    <a:pt x="71951" y="0"/>
                  </a:cubicBezTo>
                  <a:close/>
                </a:path>
              </a:pathLst>
            </a:custGeom>
            <a:solidFill>
              <a:srgbClr val="25C7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034991" cy="2085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</a:t>
              </a:r>
            </a:p>
            <a:p>
              <a:pPr algn="ctr">
                <a:lnSpc>
                  <a:spcPct val="150000"/>
                </a:lnSpc>
              </a:pPr>
              <a:r>
                <a:rPr lang="fr-BE" sz="1875" b="1" noProof="0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Mise en pratique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0B2447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Des perspectives claires, sans changer le cœur du produit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979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750" y="2190750"/>
            <a:ext cx="7524750" cy="2476500"/>
            <a:chOff x="0" y="0"/>
            <a:chExt cx="10033000" cy="3302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033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302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44500" y="415925"/>
              <a:ext cx="101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4500" y="1095375"/>
              <a:ext cx="8890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Compte et classement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500" y="1939925"/>
              <a:ext cx="8890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P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rogression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cross-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devices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et comparaisons des scores entre utilisateurs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2190750"/>
            <a:ext cx="7524750" cy="2476500"/>
            <a:chOff x="0" y="0"/>
            <a:chExt cx="10033000" cy="3302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033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302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444500" y="415925"/>
              <a:ext cx="101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500" y="1095375"/>
              <a:ext cx="8890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Catalogue et filtres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500" y="1939925"/>
              <a:ext cx="8890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NGC, Caldwell, filtres par type et davantage de noms usuels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7750" y="5143500"/>
            <a:ext cx="7524750" cy="2476500"/>
            <a:chOff x="0" y="0"/>
            <a:chExt cx="10033000" cy="3302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033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302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7FBF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44500" y="415925"/>
              <a:ext cx="101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500" y="1095375"/>
              <a:ext cx="8890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Ciel en temps réel &amp; repères terrestre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500" y="1939925"/>
              <a:ext cx="8890000" cy="445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V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isibilité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du moment et intégration des planètes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0" y="5143500"/>
            <a:ext cx="7524750" cy="2476500"/>
            <a:chOff x="0" y="0"/>
            <a:chExt cx="10033000" cy="3302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033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302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EEF7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BE" noProof="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fr-BE" noProof="0" dirty="0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44500" y="415925"/>
              <a:ext cx="1016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fr-BE" sz="1725" b="1" spc="138" noProof="0" dirty="0">
                  <a:solidFill>
                    <a:srgbClr val="2979D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4500" y="1095375"/>
              <a:ext cx="8890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fr-BE" sz="2550" b="1" noProof="0" dirty="0">
                  <a:solidFill>
                    <a:srgbClr val="0B2447"/>
                  </a:solidFill>
                  <a:latin typeface="Sinar Grotesk Bold"/>
                  <a:ea typeface="Sinar Grotesk Bold"/>
                  <a:cs typeface="Sinar Grotesk Bold"/>
                  <a:sym typeface="Sinar Grotesk Bold"/>
                </a:rPr>
                <a:t>Données futures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4500" y="1939925"/>
              <a:ext cx="8890000" cy="90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fr-BE" sz="2025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N</a:t>
              </a:r>
              <a:r>
                <a:rPr lang="fr-BE" sz="2025" noProof="0" dirty="0" err="1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ouvelles</a:t>
              </a:r>
              <a:r>
                <a:rPr lang="fr-BE" sz="2025" noProof="0" dirty="0">
                  <a:solidFill>
                    <a:srgbClr val="0B2447"/>
                  </a:solidFill>
                  <a:latin typeface="DM Sans"/>
                  <a:ea typeface="DM Sans"/>
                  <a:cs typeface="DM Sans"/>
                  <a:sym typeface="DM Sans"/>
                </a:rPr>
                <a:t> sources publiques, missions et catalogues, lexique de l’astronomie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286000" y="8248650"/>
            <a:ext cx="137160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fr-BE" sz="1575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Roman : lancé le 30 août 2026, un futur potentiel apport de données à grand champ à surveiller.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5F7187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3250" y="0"/>
            <a:ext cx="7524750" cy="10287000"/>
          </a:xfrm>
          <a:custGeom>
            <a:avLst/>
            <a:gdLst/>
            <a:ahLst/>
            <a:cxnLst/>
            <a:rect l="l" t="t" r="r" b="b"/>
            <a:pathLst>
              <a:path w="7524750" h="10287000">
                <a:moveTo>
                  <a:pt x="0" y="0"/>
                </a:moveTo>
                <a:lnTo>
                  <a:pt x="7524750" y="0"/>
                </a:lnTo>
                <a:lnTo>
                  <a:pt x="7524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518" r="-7151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BE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0" y="0"/>
            <a:ext cx="8001000" cy="10287000"/>
            <a:chOff x="0" y="0"/>
            <a:chExt cx="1066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68000" cy="13716000"/>
            </a:xfrm>
            <a:custGeom>
              <a:avLst/>
              <a:gdLst/>
              <a:ahLst/>
              <a:cxnLst/>
              <a:rect l="l" t="t" r="r" b="b"/>
              <a:pathLst>
                <a:path w="10668000" h="13716000">
                  <a:moveTo>
                    <a:pt x="0" y="0"/>
                  </a:moveTo>
                  <a:lnTo>
                    <a:pt x="10668000" y="0"/>
                  </a:lnTo>
                  <a:lnTo>
                    <a:pt x="1066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62F">
                <a:alpha val="3490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668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685800"/>
            <a:ext cx="15621000" cy="55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fr-BE" sz="3900" b="1" noProof="0" dirty="0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Bilan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750" y="1428750"/>
            <a:ext cx="1123950" cy="47625"/>
            <a:chOff x="0" y="0"/>
            <a:chExt cx="1498600" cy="63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98600" cy="63500"/>
            </a:xfrm>
            <a:custGeom>
              <a:avLst/>
              <a:gdLst/>
              <a:ahLst/>
              <a:cxnLst/>
              <a:rect l="l" t="t" r="r" b="b"/>
              <a:pathLst>
                <a:path w="1498600" h="63500">
                  <a:moveTo>
                    <a:pt x="0" y="0"/>
                  </a:moveTo>
                  <a:lnTo>
                    <a:pt x="1498600" y="0"/>
                  </a:lnTo>
                  <a:lnTo>
                    <a:pt x="1498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25C7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BE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986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fr-BE" noProof="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47750" y="2247900"/>
            <a:ext cx="8858250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5"/>
              </a:lnSpc>
            </a:pPr>
            <a:r>
              <a:rPr lang="fr-BE" sz="4950" b="1" noProof="0" dirty="0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Un MVP fonctionnel</a:t>
            </a:r>
          </a:p>
          <a:p>
            <a:pPr algn="l">
              <a:lnSpc>
                <a:spcPts val="5445"/>
              </a:lnSpc>
            </a:pPr>
            <a:r>
              <a:rPr lang="fr-BE" sz="4950" b="1" noProof="0" dirty="0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et une base évolutive.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5375" y="4314825"/>
            <a:ext cx="8572500" cy="204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Carte interactive, contenu enrichi et quiz opérationnels.</a:t>
            </a:r>
          </a:p>
          <a:p>
            <a:pPr algn="l">
              <a:lnSpc>
                <a:spcPts val="2733"/>
              </a:lnSpc>
            </a:pPr>
            <a:endParaRPr lang="fr-BE" sz="2025" noProof="0" dirty="0">
              <a:solidFill>
                <a:srgbClr val="8ED8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Architecture modulaire Angular et données locales maîtrisées.</a:t>
            </a:r>
          </a:p>
          <a:p>
            <a:pPr algn="l">
              <a:lnSpc>
                <a:spcPts val="2733"/>
              </a:lnSpc>
            </a:pPr>
            <a:endParaRPr lang="fr-BE" sz="2025" noProof="0" dirty="0">
              <a:solidFill>
                <a:srgbClr val="8ED8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733"/>
              </a:lnSpc>
            </a:pPr>
            <a:r>
              <a:rPr lang="fr-BE" sz="2025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Une expérience de découverte visuelle, avec des limites identifiées et des évolutions concrètes.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63817" y="6189025"/>
            <a:ext cx="5915771" cy="75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5"/>
              </a:lnSpc>
            </a:pPr>
            <a:r>
              <a:rPr lang="fr-BE" sz="6150" b="1" noProof="0" dirty="0">
                <a:solidFill>
                  <a:srgbClr val="FFFFFF"/>
                </a:solidFill>
                <a:latin typeface="Sinar Grotesk Bold"/>
                <a:ea typeface="Sinar Grotesk Bold"/>
                <a:cs typeface="Sinar Grotesk Bold"/>
                <a:sym typeface="Sinar Grotesk Bold"/>
              </a:rPr>
              <a:t>ANDROMESKY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750" y="9696450"/>
            <a:ext cx="1619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fr-BE" sz="1350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AndromeSky — TFE Développement Web </a:t>
            </a:r>
            <a:r>
              <a:rPr lang="fr-BE" sz="1350" noProof="0" dirty="0" err="1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Front-End</a:t>
            </a:r>
            <a:r>
              <a:rPr lang="fr-BE" sz="1350" noProof="0" dirty="0">
                <a:solidFill>
                  <a:srgbClr val="8ED8F8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11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4161687-C2AE-381A-3007-181A3DFEBA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725" y="6667500"/>
            <a:ext cx="2400300" cy="2400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C49F4C2F-A9D5-EAA9-89CA-C2F2356BC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6400" y="2749236"/>
            <a:ext cx="3030603" cy="3030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578</Words>
  <Application>Microsoft Office PowerPoint</Application>
  <PresentationFormat>Personnalisé</PresentationFormat>
  <Paragraphs>118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DM Sans</vt:lpstr>
      <vt:lpstr>Arial</vt:lpstr>
      <vt:lpstr>Sinar Grotesk Bold</vt:lpstr>
      <vt:lpstr>DM Sans 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TFE-presentation</dc:title>
  <dc:creator>Florian Marchal</dc:creator>
  <cp:lastModifiedBy>Florian Marchal</cp:lastModifiedBy>
  <cp:revision>3</cp:revision>
  <dcterms:created xsi:type="dcterms:W3CDTF">2006-08-16T00:00:00Z</dcterms:created>
  <dcterms:modified xsi:type="dcterms:W3CDTF">2026-09-02T20:21:03Z</dcterms:modified>
  <dc:identifier>DAHUEjN-9Tc</dc:identifier>
</cp:coreProperties>
</file>